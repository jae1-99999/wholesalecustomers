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349" r:id="rId2"/>
    <p:sldId id="490" r:id="rId3"/>
    <p:sldId id="412" r:id="rId4"/>
    <p:sldId id="418" r:id="rId5"/>
    <p:sldId id="483" r:id="rId6"/>
    <p:sldId id="420" r:id="rId7"/>
    <p:sldId id="408" r:id="rId8"/>
    <p:sldId id="390" r:id="rId9"/>
    <p:sldId id="362" r:id="rId10"/>
    <p:sldId id="464" r:id="rId11"/>
    <p:sldId id="463" r:id="rId12"/>
    <p:sldId id="354" r:id="rId13"/>
    <p:sldId id="479" r:id="rId14"/>
    <p:sldId id="470" r:id="rId15"/>
    <p:sldId id="371" r:id="rId16"/>
    <p:sldId id="355" r:id="rId17"/>
    <p:sldId id="482" r:id="rId18"/>
    <p:sldId id="403" r:id="rId19"/>
    <p:sldId id="356" r:id="rId20"/>
    <p:sldId id="377" r:id="rId21"/>
    <p:sldId id="487" r:id="rId22"/>
    <p:sldId id="429" r:id="rId23"/>
    <p:sldId id="491" r:id="rId24"/>
    <p:sldId id="492" r:id="rId25"/>
    <p:sldId id="493" r:id="rId26"/>
    <p:sldId id="460" r:id="rId27"/>
    <p:sldId id="461" r:id="rId28"/>
    <p:sldId id="489" r:id="rId29"/>
    <p:sldId id="400" r:id="rId30"/>
    <p:sldId id="494" r:id="rId31"/>
    <p:sldId id="472" r:id="rId32"/>
  </p:sldIdLst>
  <p:sldSz cx="18288000" cy="10287000"/>
  <p:notesSz cx="9144000" cy="6858000"/>
  <p:embeddedFontLst>
    <p:embeddedFont>
      <p:font typeface="맑은 고딕" panose="020B0503020000020004" pitchFamily="50" charset="-127"/>
      <p:regular r:id="rId35"/>
      <p:bold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78" y="10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14" d="100"/>
          <a:sy n="114" d="100"/>
        </p:scale>
        <p:origin x="244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02"/>
          <c:w val="0.96"/>
          <c:h val="0.96"/>
        </c:manualLayout>
      </c:layout>
      <c:doughnutChart>
        <c:varyColors val="1"/>
        <c:ser>
          <c:idx val="0"/>
          <c:order val="0"/>
          <c:tx>
            <c:v>채널</c:v>
          </c:tx>
          <c:dPt>
            <c:idx val="0"/>
            <c:bubble3D val="0"/>
            <c:spPr>
              <a:solidFill>
                <a:srgbClr val="4A5BA3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A6FE-45F4-B917-C8DBB0922B41}"/>
              </c:ext>
            </c:extLst>
          </c:dPt>
          <c:dPt>
            <c:idx val="1"/>
            <c:bubble3D val="0"/>
            <c:spPr>
              <a:solidFill>
                <a:srgbClr val="BFBFBF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A6FE-45F4-B917-C8DBB0922B41}"/>
              </c:ext>
            </c:extLst>
          </c:dPt>
          <c:cat>
            <c:strLit>
              <c:ptCount val="2"/>
              <c:pt idx="0">
                <c:v>Horeca</c:v>
              </c:pt>
              <c:pt idx="1">
                <c:v>Retail</c:v>
              </c:pt>
            </c:strLit>
          </c:cat>
          <c:val>
            <c:numLit>
              <c:formatCode>0.0"%"</c:formatCode>
              <c:ptCount val="2"/>
              <c:pt idx="0">
                <c:v>67.7</c:v>
              </c:pt>
              <c:pt idx="1">
                <c:v>32.299999999999997</c:v>
              </c:pt>
            </c:numLit>
          </c:val>
          <c:extLst>
            <c:ext xmlns:c16="http://schemas.microsoft.com/office/drawing/2014/chart" uri="{C3380CC4-5D6E-409C-BE32-E72D297353CC}">
              <c16:uniqueId val="{00000004-A6FE-45F4-B917-C8DBB0922B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3"/>
            <c:invertIfNegative val="1"/>
            <c:bubble3D val="0"/>
            <c:spPr>
              <a:solidFill>
                <a:srgbClr val="4A5BA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3390-404A-ACB9-74A85742318D}"/>
              </c:ext>
            </c:extLst>
          </c:dPt>
          <c:dPt>
            <c:idx val="4"/>
            <c:invertIfNegative val="1"/>
            <c:bubble3D val="0"/>
            <c:spPr>
              <a:solidFill>
                <a:srgbClr val="4A5BA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390-404A-ACB9-74A85742318D}"/>
              </c:ext>
            </c:extLst>
          </c:dPt>
          <c:dPt>
            <c:idx val="5"/>
            <c:invertIfNegative val="1"/>
            <c:bubble3D val="0"/>
            <c:spPr>
              <a:solidFill>
                <a:srgbClr val="4A5BA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614-46AB-B056-C067E15CBC78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2C2C2C"/>
                    </a:solidFill>
                    <a:latin typeface="Malgun Gothic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6"/>
              <c:pt idx="0">
                <c:v>Delicassen (즉석/가공식품)</c:v>
              </c:pt>
              <c:pt idx="1">
                <c:v>Fresh (신선식품)</c:v>
              </c:pt>
              <c:pt idx="2">
                <c:v>Frozen (냉동식품)</c:v>
              </c:pt>
              <c:pt idx="3">
                <c:v>Milk (유제품)</c:v>
              </c:pt>
              <c:pt idx="4">
                <c:v>Grocery (식료품)</c:v>
              </c:pt>
              <c:pt idx="5">
                <c:v>Detergents_Paper (세제/종이류)</c:v>
              </c:pt>
            </c:strLit>
          </c:cat>
          <c:val>
            <c:numLit>
              <c:formatCode>General</c:formatCode>
              <c:ptCount val="6"/>
              <c:pt idx="0">
                <c:v>0.2</c:v>
              </c:pt>
              <c:pt idx="1">
                <c:v>0.22</c:v>
              </c:pt>
              <c:pt idx="2">
                <c:v>0.28999999999999998</c:v>
              </c:pt>
              <c:pt idx="3">
                <c:v>0.76</c:v>
              </c:pt>
              <c:pt idx="4">
                <c:v>0.88</c:v>
              </c:pt>
              <c:pt idx="5">
                <c:v>0.92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3614-46AB-B056-C067E15CBC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CACACA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2C2C2C"/>
                </a:solidFill>
                <a:latin typeface="Malgun Gothic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4A5BA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7A4-4C06-9653-73F9B371CC64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2C2C2C"/>
                    </a:solidFill>
                    <a:latin typeface="Malgun Gothic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PC1</c:v>
              </c:pt>
              <c:pt idx="1">
                <c:v>PC2</c:v>
              </c:pt>
              <c:pt idx="2">
                <c:v>PC3</c:v>
              </c:pt>
            </c:strLit>
          </c:cat>
          <c:val>
            <c:numLit>
              <c:formatCode>General</c:formatCode>
              <c:ptCount val="3"/>
              <c:pt idx="0">
                <c:v>44.9</c:v>
              </c:pt>
              <c:pt idx="1">
                <c:v>28</c:v>
              </c:pt>
              <c:pt idx="2">
                <c:v>10.199999999999999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D7A4-4C06-9653-73F9B371CC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ACACA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2C2C2C"/>
                </a:solidFill>
                <a:latin typeface="Malgun Gothic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v>Horeca</c:v>
          </c:tx>
          <c:spPr>
            <a:solidFill>
              <a:srgbClr val="BFC8E6"/>
            </a:solidFill>
            <a:ln>
              <a:noFill/>
            </a:ln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0">
                    <a:solidFill>
                      <a:srgbClr val="00074E"/>
                    </a:solidFill>
                    <a:latin typeface="Malgun Gothic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4"/>
              <c:pt idx="0">
                <c:v>C3 대량 식료품형</c:v>
              </c:pt>
              <c:pt idx="1">
                <c:v>C1 중간 규모 식료품형</c:v>
              </c:pt>
              <c:pt idx="2">
                <c:v>C2 대량 신선·냉동</c:v>
              </c:pt>
              <c:pt idx="3">
                <c:v>C0 소량 신선식품</c:v>
              </c:pt>
            </c:strLit>
          </c:cat>
          <c:val>
            <c:numLit>
              <c:formatCode>General</c:formatCode>
              <c:ptCount val="4"/>
              <c:pt idx="0">
                <c:v>13</c:v>
              </c:pt>
              <c:pt idx="1">
                <c:v>42.3</c:v>
              </c:pt>
              <c:pt idx="2">
                <c:v>91.4</c:v>
              </c:pt>
              <c:pt idx="3">
                <c:v>98.3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AB1-4896-8478-3974F06026B3}"/>
            </c:ext>
          </c:extLst>
        </c:ser>
        <c:ser>
          <c:idx val="1"/>
          <c:order val="1"/>
          <c:tx>
            <c:v>Retail</c:v>
          </c:tx>
          <c:spPr>
            <a:solidFill>
              <a:srgbClr val="4A5BA3"/>
            </a:solidFill>
            <a:ln>
              <a:noFill/>
            </a:ln>
          </c:spPr>
          <c:invertIfNegative val="1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AB1-4896-8478-3974F06026B3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0">
                    <a:solidFill>
                      <a:srgbClr val="FFFFFF"/>
                    </a:solidFill>
                    <a:latin typeface="Malgun Gothic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4"/>
              <c:pt idx="0">
                <c:v>C3 대량 식료품형</c:v>
              </c:pt>
              <c:pt idx="1">
                <c:v>C1 중간 규모 식료품형</c:v>
              </c:pt>
              <c:pt idx="2">
                <c:v>C2 대량 신선·냉동</c:v>
              </c:pt>
              <c:pt idx="3">
                <c:v>C0 소량 신선식품</c:v>
              </c:pt>
            </c:strLit>
          </c:cat>
          <c:val>
            <c:numLit>
              <c:formatCode>General</c:formatCode>
              <c:ptCount val="4"/>
              <c:pt idx="0">
                <c:v>87</c:v>
              </c:pt>
              <c:pt idx="1">
                <c:v>57.7</c:v>
              </c:pt>
              <c:pt idx="2">
                <c:v>8.6</c:v>
              </c:pt>
              <c:pt idx="3">
                <c:v>1.7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1AB1-4896-8478-3974F06026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CACACA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2C2C2C"/>
                </a:solidFill>
                <a:latin typeface="Malgun Gothic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00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t"/>
      <c:overlay val="0"/>
      <c:txPr>
        <a:bodyPr rot="0" vert="horz"/>
        <a:lstStyle/>
        <a:p>
          <a:pPr>
            <a:defRPr sz="1200" b="0">
              <a:solidFill>
                <a:srgbClr val="595959"/>
              </a:solidFill>
              <a:latin typeface="Malgun Gothic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4"/>
            <c:invertIfNegative val="0"/>
            <c:bubble3D val="0"/>
            <c:spPr>
              <a:solidFill>
                <a:srgbClr val="4A5BA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0488-4662-BA6F-0F4BFA27895D}"/>
              </c:ext>
            </c:extLst>
          </c:dPt>
          <c:dPt>
            <c:idx val="5"/>
            <c:invertIfNegative val="0"/>
            <c:bubble3D val="0"/>
            <c:spPr>
              <a:solidFill>
                <a:srgbClr val="4A5BA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488-4662-BA6F-0F4BFA27895D}"/>
              </c:ext>
            </c:extLst>
          </c:dPt>
          <c:dPt>
            <c:idx val="6"/>
            <c:invertIfNegative val="1"/>
            <c:bubble3D val="0"/>
            <c:spPr>
              <a:solidFill>
                <a:srgbClr val="4A5BA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1FD-4780-8685-C30DB4DB459E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2C2C2C"/>
                    </a:solidFill>
                    <a:latin typeface="Malgun Gothic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7"/>
              <c:pt idx="0">
                <c:v>Fresh</c:v>
              </c:pt>
              <c:pt idx="1">
                <c:v>Delicassen</c:v>
              </c:pt>
              <c:pt idx="2">
                <c:v>Frozen</c:v>
              </c:pt>
              <c:pt idx="3">
                <c:v>군집 더미(합계)</c:v>
              </c:pt>
              <c:pt idx="4">
                <c:v>Milk</c:v>
              </c:pt>
              <c:pt idx="5">
                <c:v>Grocery</c:v>
              </c:pt>
              <c:pt idx="6">
                <c:v>Detergents_Paper</c:v>
              </c:pt>
            </c:strLit>
          </c:cat>
          <c:val>
            <c:numLit>
              <c:formatCode>General</c:formatCode>
              <c:ptCount val="7"/>
              <c:pt idx="0">
                <c:v>4.1000000000000002E-2</c:v>
              </c:pt>
              <c:pt idx="1">
                <c:v>4.2000000000000003E-2</c:v>
              </c:pt>
              <c:pt idx="2">
                <c:v>6.0999999999999999E-2</c:v>
              </c:pt>
              <c:pt idx="3">
                <c:v>0.13200000000000001</c:v>
              </c:pt>
              <c:pt idx="4">
                <c:v>0.155</c:v>
              </c:pt>
              <c:pt idx="5">
                <c:v>0.22700000000000001</c:v>
              </c:pt>
              <c:pt idx="6">
                <c:v>0.34200000000000003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E1FD-4780-8685-C30DB4DB45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CACACA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2C2C2C"/>
                </a:solidFill>
                <a:latin typeface="Malgun Gothic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3114FF6-AFF1-F8B3-6A03-18D6651D9D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2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5812F22-CCA5-BCCB-1A3D-ABE502CEF9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2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CA5EF-6FB6-441B-80C8-DA49604E7C9F}" type="datetimeFigureOut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2026-10-22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AE91DC-3958-145A-701D-2ABCB9F885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705DC3-6595-6B15-1E6D-999473934E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7B6E86-232A-4774-9F57-4C93016DC58A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97333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이미지 개체 틀 7">
            <a:extLst>
              <a:ext uri="{FF2B5EF4-FFF2-40B4-BE49-F238E27FC236}">
                <a16:creationId xmlns:a16="http://schemas.microsoft.com/office/drawing/2014/main" id="{CFC91A24-18C4-4A30-34A4-B44BCE8721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ECE9B80A-7014-DE07-342D-397AC663078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10" name="머리글 개체 틀 9">
            <a:extLst>
              <a:ext uri="{FF2B5EF4-FFF2-40B4-BE49-F238E27FC236}">
                <a16:creationId xmlns:a16="http://schemas.microsoft.com/office/drawing/2014/main" id="{EF46C570-E129-3583-4BE6-78212DFF0B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11" name="슬라이드 노트 개체 틀 10">
            <a:extLst>
              <a:ext uri="{FF2B5EF4-FFF2-40B4-BE49-F238E27FC236}">
                <a16:creationId xmlns:a16="http://schemas.microsoft.com/office/drawing/2014/main" id="{89A8DCDF-5722-B663-0318-13CA1B445E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186BFBEA-DA9A-6E5E-878F-2E59E6F4EFE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1CC446F-5A23-4725-BC70-CEE0B801E235}" type="datetimeFigureOut">
              <a:rPr lang="ko-KR" altLang="en-US" smtClean="0"/>
              <a:pPr/>
              <a:t>2026-10-22</a:t>
            </a:fld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03AB8540-127E-AA4A-DA3F-B693975D7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67DE3F5-8D6A-470C-8B9A-08A2A9A8A44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415027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ㅇ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DE3F5-8D6A-470C-8B9A-08A2A9A8A44D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647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BA09-92CB-4B06-B2E1-FA219D76CB96}" type="datetime1">
              <a:rPr lang="en-US" altLang="ko-KR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E5ADB-36B2-4098-A804-C75C2053F561}" type="datetime1">
              <a:rPr lang="en-US" altLang="ko-KR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0F1C9-35E7-4B7D-A8F3-C972F7F99BA8}" type="datetime1">
              <a:rPr lang="en-US" altLang="ko-KR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FB04B-3F4F-41A4-A637-DAD11360002C}" type="datetime1">
              <a:rPr lang="en-US" altLang="ko-KR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7BC3-45BB-49EF-A77E-B9E27E95B665}" type="datetime1">
              <a:rPr lang="en-US" altLang="ko-KR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66A02-4E6F-4DAF-A7FE-7B27B1DC7305}" type="datetime1">
              <a:rPr lang="en-US" altLang="ko-KR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9563099"/>
            <a:ext cx="2133600" cy="365125"/>
          </a:xfrm>
        </p:spPr>
        <p:txBody>
          <a:bodyPr/>
          <a:lstStyle/>
          <a:p>
            <a:fld id="{EDC488A1-8B3B-4C61-814E-1D24090BC5C5}" type="datetime1">
              <a:rPr lang="en-US" altLang="ko-KR" smtClean="0"/>
              <a:t>10/22/2026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696200" y="956310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849600" y="9563100"/>
            <a:ext cx="2133600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AF009-C9D0-48BA-BB4C-74F63C8261EE}" type="datetime1">
              <a:rPr lang="en-US" altLang="ko-KR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1E867-F314-4488-B8CA-F21AED14DBBD}" type="datetime1">
              <a:rPr lang="en-US" altLang="ko-KR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C408B-9B99-4135-A81B-E9AA1F08BD52}" type="datetime1">
              <a:rPr lang="en-US" altLang="ko-KR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76A2F-555D-468A-A347-2DBDFED1823D}" type="datetime1">
              <a:rPr lang="en-US" altLang="ko-KR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28A860-DDDE-4A3B-B12D-9BC6655AB0D3}" type="datetime1">
              <a:rPr lang="en-US" altLang="ko-KR" smtClean="0"/>
              <a:pPr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3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4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5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5130800"/>
            <a:ext cx="18326100" cy="520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688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30400" y="482600"/>
            <a:ext cx="2603500" cy="1397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757400" y="749300"/>
            <a:ext cx="2336800" cy="749300"/>
          </a:xfrm>
          <a:prstGeom prst="rect">
            <a:avLst/>
          </a:prstGeom>
        </p:spPr>
        <p:txBody>
          <a:bodyPr lIns="0" tIns="13550" rIns="0" bIns="13550" rtlCol="0" anchor="ctr"/>
          <a:lstStyle/>
          <a:p>
            <a:pPr lvl="0" algn="ctr">
              <a:lnSpc>
                <a:spcPct val="107899"/>
              </a:lnSpc>
            </a:pPr>
            <a:endParaRPr lang="en-US" sz="2133" spc="100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85900" y="8483600"/>
            <a:ext cx="4318000" cy="736600"/>
          </a:xfrm>
          <a:prstGeom prst="rect">
            <a:avLst/>
          </a:prstGeom>
        </p:spPr>
        <p:txBody>
          <a:bodyPr lIns="0" tIns="2540" rIns="0" bIns="0" rtlCol="0" anchor="ctr"/>
          <a:lstStyle/>
          <a:p>
            <a:pPr lvl="0" algn="l">
              <a:lnSpc>
                <a:spcPct val="100000"/>
              </a:lnSpc>
            </a:pPr>
            <a:r>
              <a:rPr lang="ko-KR" altLang="en-US" sz="20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김정우, 안재원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85900" y="3086100"/>
            <a:ext cx="13144500" cy="3162300"/>
          </a:xfrm>
          <a:prstGeom prst="rect">
            <a:avLst/>
          </a:prstGeom>
        </p:spPr>
        <p:txBody>
          <a:bodyPr lIns="0" tIns="120650" rIns="0" bIns="120650" rtlCol="0" anchor="ctr"/>
          <a:lstStyle/>
          <a:p>
            <a:pPr lvl="0" algn="l">
              <a:lnSpc>
                <a:spcPct val="100000"/>
              </a:lnSpc>
            </a:pPr>
            <a:r>
              <a:rPr lang="ko-KR" altLang="en-US" sz="60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패턴 기반 고객 페르소나 도출과</a:t>
            </a:r>
          </a:p>
          <a:p>
            <a:pPr lvl="0" algn="l">
              <a:lnSpc>
                <a:spcPct val="100000"/>
              </a:lnSpc>
            </a:pPr>
            <a:r>
              <a:rPr lang="ko-KR" altLang="en-US" sz="60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오분류 고객 마케팅 전략</a:t>
            </a: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1C0260B6-CEBC-7E58-A87D-448F52860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877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목차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3302000" y="2362200"/>
            <a:ext cx="711200" cy="7112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sz="2000" dirty="0"/>
          </a:p>
        </p:txBody>
      </p:sp>
      <p:sp>
        <p:nvSpPr>
          <p:cNvPr id="202" name="Box 202"/>
          <p:cNvSpPr/>
          <p:nvPr/>
        </p:nvSpPr>
        <p:spPr>
          <a:xfrm>
            <a:off x="4381500" y="2311400"/>
            <a:ext cx="4191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소개 · 품질 점검</a:t>
            </a:r>
            <a:endParaRPr lang="ko-KR" sz="2600" dirty="0"/>
          </a:p>
        </p:txBody>
      </p:sp>
      <p:sp>
        <p:nvSpPr>
          <p:cNvPr id="203" name="Box 203"/>
          <p:cNvSpPr/>
          <p:nvPr/>
        </p:nvSpPr>
        <p:spPr>
          <a:xfrm>
            <a:off x="8763000" y="2311400"/>
            <a:ext cx="7112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구조·출처, 결측·중복·이상치·하한 절단값 점검</a:t>
            </a:r>
            <a:endParaRPr lang="ko-KR" sz="1800" dirty="0"/>
          </a:p>
        </p:txBody>
      </p:sp>
      <p:cxnSp>
        <p:nvCxnSpPr>
          <p:cNvPr id="204" name="Line 204"/>
          <p:cNvCxnSpPr/>
          <p:nvPr/>
        </p:nvCxnSpPr>
        <p:spPr>
          <a:xfrm>
            <a:off x="3302000" y="3276600"/>
            <a:ext cx="125730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205" name="Box 205"/>
          <p:cNvSpPr/>
          <p:nvPr/>
        </p:nvSpPr>
        <p:spPr>
          <a:xfrm>
            <a:off x="3302000" y="3352800"/>
            <a:ext cx="711200" cy="7112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sz="2000" dirty="0"/>
          </a:p>
        </p:txBody>
      </p:sp>
      <p:sp>
        <p:nvSpPr>
          <p:cNvPr id="206" name="Box 206"/>
          <p:cNvSpPr/>
          <p:nvPr/>
        </p:nvSpPr>
        <p:spPr>
          <a:xfrm>
            <a:off x="4381500" y="3302000"/>
            <a:ext cx="4191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EDA · 전처리</a:t>
            </a:r>
            <a:endParaRPr lang="ko-KR" sz="2600" dirty="0"/>
          </a:p>
        </p:txBody>
      </p:sp>
      <p:sp>
        <p:nvSpPr>
          <p:cNvPr id="207" name="Box 207"/>
          <p:cNvSpPr/>
          <p:nvPr/>
        </p:nvSpPr>
        <p:spPr>
          <a:xfrm>
            <a:off x="8763000" y="3302000"/>
            <a:ext cx="7112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구매액 분포, 채널별 차이, Yeo-Johnson 변환, PCA</a:t>
            </a:r>
            <a:endParaRPr lang="ko-KR" sz="1800" dirty="0"/>
          </a:p>
        </p:txBody>
      </p:sp>
      <p:cxnSp>
        <p:nvCxnSpPr>
          <p:cNvPr id="208" name="Line 208"/>
          <p:cNvCxnSpPr/>
          <p:nvPr/>
        </p:nvCxnSpPr>
        <p:spPr>
          <a:xfrm>
            <a:off x="3302000" y="4267200"/>
            <a:ext cx="125730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209" name="Box 209"/>
          <p:cNvSpPr/>
          <p:nvPr/>
        </p:nvSpPr>
        <p:spPr>
          <a:xfrm>
            <a:off x="3302000" y="4343400"/>
            <a:ext cx="711200" cy="7112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sz="2000" dirty="0"/>
          </a:p>
        </p:txBody>
      </p:sp>
      <p:sp>
        <p:nvSpPr>
          <p:cNvPr id="210" name="Box 210"/>
          <p:cNvSpPr/>
          <p:nvPr/>
        </p:nvSpPr>
        <p:spPr>
          <a:xfrm>
            <a:off x="4381500" y="4292600"/>
            <a:ext cx="4191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군집분석</a:t>
            </a:r>
            <a:endParaRPr lang="ko-KR" sz="2600" dirty="0"/>
          </a:p>
        </p:txBody>
      </p:sp>
      <p:sp>
        <p:nvSpPr>
          <p:cNvPr id="211" name="Box 211"/>
          <p:cNvSpPr/>
          <p:nvPr/>
        </p:nvSpPr>
        <p:spPr>
          <a:xfrm>
            <a:off x="8763000" y="4292600"/>
            <a:ext cx="7112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시드 안정성 기준 k=4, 고객 페르소나 4종</a:t>
            </a:r>
            <a:endParaRPr lang="ko-KR" sz="1800" dirty="0"/>
          </a:p>
        </p:txBody>
      </p:sp>
      <p:cxnSp>
        <p:nvCxnSpPr>
          <p:cNvPr id="212" name="Line 212"/>
          <p:cNvCxnSpPr/>
          <p:nvPr/>
        </p:nvCxnSpPr>
        <p:spPr>
          <a:xfrm>
            <a:off x="3302000" y="5257800"/>
            <a:ext cx="125730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213" name="Box 213"/>
          <p:cNvSpPr/>
          <p:nvPr/>
        </p:nvSpPr>
        <p:spPr>
          <a:xfrm>
            <a:off x="3302000" y="5334000"/>
            <a:ext cx="711200" cy="7112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sz="2000" dirty="0"/>
          </a:p>
        </p:txBody>
      </p:sp>
      <p:sp>
        <p:nvSpPr>
          <p:cNvPr id="214" name="Box 214"/>
          <p:cNvSpPr/>
          <p:nvPr/>
        </p:nvSpPr>
        <p:spPr>
          <a:xfrm>
            <a:off x="4381500" y="5283200"/>
            <a:ext cx="4191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예측 모델</a:t>
            </a:r>
            <a:endParaRPr lang="ko-KR" sz="2600" dirty="0"/>
          </a:p>
        </p:txBody>
      </p:sp>
      <p:sp>
        <p:nvSpPr>
          <p:cNvPr id="215" name="Box 215"/>
          <p:cNvSpPr/>
          <p:nvPr/>
        </p:nvSpPr>
        <p:spPr>
          <a:xfrm>
            <a:off x="8763000" y="5283200"/>
            <a:ext cx="7112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5개 모델 비교, RandomForest 채택, 변수 중요도</a:t>
            </a:r>
            <a:endParaRPr lang="ko-KR" sz="1800" dirty="0"/>
          </a:p>
        </p:txBody>
      </p:sp>
      <p:cxnSp>
        <p:nvCxnSpPr>
          <p:cNvPr id="216" name="Line 216"/>
          <p:cNvCxnSpPr/>
          <p:nvPr/>
        </p:nvCxnSpPr>
        <p:spPr>
          <a:xfrm>
            <a:off x="3302000" y="6248400"/>
            <a:ext cx="125730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217" name="Box 217"/>
          <p:cNvSpPr/>
          <p:nvPr/>
        </p:nvSpPr>
        <p:spPr>
          <a:xfrm>
            <a:off x="3302000" y="6324600"/>
            <a:ext cx="711200" cy="7112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sz="2000" dirty="0"/>
          </a:p>
        </p:txBody>
      </p:sp>
      <p:sp>
        <p:nvSpPr>
          <p:cNvPr id="218" name="Box 218"/>
          <p:cNvSpPr/>
          <p:nvPr/>
        </p:nvSpPr>
        <p:spPr>
          <a:xfrm>
            <a:off x="4381500" y="6273800"/>
            <a:ext cx="4191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600" b="1" dirty="0" err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오분류</a:t>
            </a:r>
            <a:r>
              <a:rPr lang="ko-KR" altLang="en-US" sz="2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고객 분석</a:t>
            </a:r>
            <a:endParaRPr lang="ko-KR" sz="2600" dirty="0"/>
          </a:p>
        </p:txBody>
      </p:sp>
      <p:sp>
        <p:nvSpPr>
          <p:cNvPr id="219" name="Box 219"/>
          <p:cNvSpPr/>
          <p:nvPr/>
        </p:nvSpPr>
        <p:spPr>
          <a:xfrm>
            <a:off x="8763000" y="6273800"/>
            <a:ext cx="7112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 err="1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채널 오분류 4명과 신뢰도 기준 2가지 유형</a:t>
            </a:r>
            <a:endParaRPr lang="ko-KR" sz="1800" dirty="0"/>
          </a:p>
        </p:txBody>
      </p:sp>
      <p:cxnSp>
        <p:nvCxnSpPr>
          <p:cNvPr id="220" name="Line 220"/>
          <p:cNvCxnSpPr/>
          <p:nvPr/>
        </p:nvCxnSpPr>
        <p:spPr>
          <a:xfrm>
            <a:off x="3302000" y="7239000"/>
            <a:ext cx="125730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221" name="Box 221"/>
          <p:cNvSpPr/>
          <p:nvPr/>
        </p:nvSpPr>
        <p:spPr>
          <a:xfrm>
            <a:off x="3302000" y="7315200"/>
            <a:ext cx="711200" cy="7112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sz="2000" dirty="0"/>
          </a:p>
        </p:txBody>
      </p:sp>
      <p:sp>
        <p:nvSpPr>
          <p:cNvPr id="222" name="Box 222"/>
          <p:cNvSpPr/>
          <p:nvPr/>
        </p:nvSpPr>
        <p:spPr>
          <a:xfrm>
            <a:off x="4381500" y="7264400"/>
            <a:ext cx="4191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마케팅 전략</a:t>
            </a:r>
            <a:endParaRPr lang="ko-KR" sz="2600" dirty="0"/>
          </a:p>
        </p:txBody>
      </p:sp>
      <p:sp>
        <p:nvSpPr>
          <p:cNvPr id="223" name="Box 223"/>
          <p:cNvSpPr/>
          <p:nvPr/>
        </p:nvSpPr>
        <p:spPr>
          <a:xfrm>
            <a:off x="8763000" y="7264400"/>
            <a:ext cx="7112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전략 원칙과 유형별(A-1·A-2·B·C) 핵심 액션</a:t>
            </a:r>
            <a:endParaRPr lang="ko-KR" sz="1800" dirty="0"/>
          </a:p>
        </p:txBody>
      </p:sp>
      <p:sp>
        <p:nvSpPr>
          <p:cNvPr id="230" name="Box 230"/>
          <p:cNvSpPr/>
          <p:nvPr/>
        </p:nvSpPr>
        <p:spPr>
          <a:xfrm>
            <a:off x="3302000" y="8305800"/>
            <a:ext cx="711200" cy="7112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ko-KR" sz="2000" dirty="0"/>
          </a:p>
        </p:txBody>
      </p:sp>
      <p:sp>
        <p:nvSpPr>
          <p:cNvPr id="231" name="Box 231"/>
          <p:cNvSpPr/>
          <p:nvPr/>
        </p:nvSpPr>
        <p:spPr>
          <a:xfrm>
            <a:off x="4381500" y="8255000"/>
            <a:ext cx="4191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한계 및 결론</a:t>
            </a:r>
            <a:endParaRPr lang="ko-KR" sz="2600" dirty="0"/>
          </a:p>
        </p:txBody>
      </p:sp>
      <p:sp>
        <p:nvSpPr>
          <p:cNvPr id="232" name="Box 232"/>
          <p:cNvSpPr/>
          <p:nvPr/>
        </p:nvSpPr>
        <p:spPr>
          <a:xfrm>
            <a:off x="8763000" y="8255000"/>
            <a:ext cx="7112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표본·군집·데이터 한계, 향후 과제와 결론</a:t>
            </a:r>
            <a:endParaRPr lang="ko-KR" sz="1800" dirty="0"/>
          </a:p>
        </p:txBody>
      </p:sp>
      <p:cxnSp>
        <p:nvCxnSpPr>
          <p:cNvPr id="233" name="Box 233"/>
          <p:cNvCxnSpPr/>
          <p:nvPr/>
        </p:nvCxnSpPr>
        <p:spPr>
          <a:xfrm>
            <a:off x="3302000" y="8229600"/>
            <a:ext cx="125730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</p:spTree>
    <p:extLst>
      <p:ext uri="{BB962C8B-B14F-4D97-AF65-F5344CB8AC3E}">
        <p14:creationId xmlns:p14="http://schemas.microsoft.com/office/powerpoint/2010/main" val="409219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06B63-7661-C25F-F424-C1B97C243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0FE1ABA-834A-490A-A41A-E8AD13921B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54031A8-1628-5631-30EC-9B56926288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1E6D7F73-FE18-9B56-211C-9B65735436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DD67A2F6-D838-FDCA-05FE-B172C0788A76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cap="all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01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263DB89-CBB0-D512-D9F2-C0F28E85CEC3}"/>
              </a:ext>
            </a:extLst>
          </p:cNvPr>
          <p:cNvSpPr txBox="1"/>
          <p:nvPr/>
        </p:nvSpPr>
        <p:spPr>
          <a:xfrm>
            <a:off x="1905000" y="3683000"/>
            <a:ext cx="7112000" cy="25400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5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소개 ·</a:t>
            </a:r>
            <a:endParaRPr lang="ko-KR" sz="5400" dirty="0"/>
          </a:p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5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품질 점검</a:t>
            </a:r>
            <a:endParaRPr lang="ko-KR" sz="54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885FBD-9ACB-60EB-5951-CDB068871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cxnSp>
        <p:nvCxnSpPr>
          <p:cNvPr id="201" name="Line 201"/>
          <p:cNvCxnSpPr/>
          <p:nvPr/>
        </p:nvCxnSpPr>
        <p:spPr>
          <a:xfrm>
            <a:off x="9398000" y="4191000"/>
            <a:ext cx="0" cy="2921000"/>
          </a:xfrm>
          <a:prstGeom prst="line">
            <a:avLst/>
          </a:prstGeom>
          <a:ln w="19050">
            <a:solidFill>
              <a:srgbClr val="BFC8E6"/>
            </a:solidFill>
          </a:ln>
        </p:spPr>
      </p:cxnSp>
      <p:sp>
        <p:nvSpPr>
          <p:cNvPr id="202" name="Box 202"/>
          <p:cNvSpPr/>
          <p:nvPr/>
        </p:nvSpPr>
        <p:spPr>
          <a:xfrm>
            <a:off x="10033000" y="4318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800" dirty="0"/>
          </a:p>
        </p:txBody>
      </p:sp>
      <p:sp>
        <p:nvSpPr>
          <p:cNvPr id="203" name="Box 203"/>
          <p:cNvSpPr/>
          <p:nvPr/>
        </p:nvSpPr>
        <p:spPr>
          <a:xfrm>
            <a:off x="10922000" y="4191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소개</a:t>
            </a:r>
            <a:endParaRPr lang="ko-KR" sz="2400" b="1" dirty="0"/>
          </a:p>
        </p:txBody>
      </p:sp>
      <p:sp>
        <p:nvSpPr>
          <p:cNvPr id="204" name="Box 204"/>
          <p:cNvSpPr/>
          <p:nvPr/>
        </p:nvSpPr>
        <p:spPr>
          <a:xfrm>
            <a:off x="10033000" y="5334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800" dirty="0"/>
          </a:p>
        </p:txBody>
      </p:sp>
      <p:sp>
        <p:nvSpPr>
          <p:cNvPr id="205" name="Box 205"/>
          <p:cNvSpPr/>
          <p:nvPr/>
        </p:nvSpPr>
        <p:spPr>
          <a:xfrm>
            <a:off x="10922000" y="52197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품질 점검</a:t>
            </a:r>
            <a:endParaRPr lang="ko-KR" sz="2400" b="1" dirty="0"/>
          </a:p>
        </p:txBody>
      </p:sp>
      <p:sp>
        <p:nvSpPr>
          <p:cNvPr id="230" name="Box 204"/>
          <p:cNvSpPr/>
          <p:nvPr/>
        </p:nvSpPr>
        <p:spPr>
          <a:xfrm>
            <a:off x="10033000" y="6350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sz="1800" dirty="0"/>
          </a:p>
        </p:txBody>
      </p:sp>
      <p:sp>
        <p:nvSpPr>
          <p:cNvPr id="231" name="Box 205"/>
          <p:cNvSpPr/>
          <p:nvPr/>
        </p:nvSpPr>
        <p:spPr>
          <a:xfrm>
            <a:off x="10922000" y="6223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하한 </a:t>
            </a:r>
            <a:r>
              <a:rPr lang="ko-KR" altLang="en-US" sz="2400" b="1" dirty="0" err="1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절단값</a:t>
            </a: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점검</a:t>
            </a:r>
            <a:endParaRPr 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2303581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01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데이터 소개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1295400" y="1752600"/>
            <a:ext cx="15697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도매업체 고객 440명, 결측·중복 0건, 고객의 3분의 2가 Horeca 채널</a:t>
            </a:r>
            <a:endParaRPr lang="ko-KR" sz="2200" dirty="0"/>
          </a:p>
        </p:txBody>
      </p:sp>
      <p:graphicFrame>
        <p:nvGraphicFramePr>
          <p:cNvPr id="202" name="Table 202"/>
          <p:cNvGraphicFramePr>
            <a:graphicFrameLocks noGrp="1"/>
          </p:cNvGraphicFramePr>
          <p:nvPr/>
        </p:nvGraphicFramePr>
        <p:xfrm>
          <a:off x="1295400" y="2603500"/>
          <a:ext cx="8890000" cy="5257800"/>
        </p:xfrm>
        <a:graphic>
          <a:graphicData uri="http://schemas.openxmlformats.org/drawingml/2006/table">
            <a:tbl>
              <a:tblPr firstRow="1"/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Channel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1=Horeca, 2=Retail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종속변수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Fresh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신선식품 연간 구매액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독립변수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Milk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유제품 연간 구매액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독립변수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Grocery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식료품 연간 구매액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독립변수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Frozen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냉동식품 연간 구매액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독립변수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Detergents_Paper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세제/종이류 연간 구매액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독립변수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Delicassen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즉석/가공식품 연간 구매액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독립변수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Region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지역 (1=Lisbon, 2=Oporto, 3=Other)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독립변수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3" name="Box 203"/>
          <p:cNvSpPr/>
          <p:nvPr/>
        </p:nvSpPr>
        <p:spPr>
          <a:xfrm>
            <a:off x="11049000" y="2603500"/>
            <a:ext cx="5943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구성</a:t>
            </a:r>
            <a:endParaRPr lang="ko-KR" sz="1800" dirty="0"/>
          </a:p>
        </p:txBody>
      </p:sp>
      <p:sp>
        <p:nvSpPr>
          <p:cNvPr id="204" name="Box 204"/>
          <p:cNvSpPr/>
          <p:nvPr/>
        </p:nvSpPr>
        <p:spPr>
          <a:xfrm>
            <a:off x="13716000" y="3048000"/>
            <a:ext cx="3276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3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67.7%</a:t>
            </a:r>
            <a:endParaRPr lang="ko-KR" sz="4800" dirty="0"/>
          </a:p>
        </p:txBody>
      </p:sp>
      <p:sp>
        <p:nvSpPr>
          <p:cNvPr id="205" name="Box 205"/>
          <p:cNvSpPr/>
          <p:nvPr/>
        </p:nvSpPr>
        <p:spPr>
          <a:xfrm>
            <a:off x="13716000" y="3708400"/>
            <a:ext cx="32766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호텔/레스토랑/카페 · 298명</a:t>
            </a:r>
            <a:endParaRPr lang="ko-KR" sz="1400" dirty="0"/>
          </a:p>
        </p:txBody>
      </p:sp>
      <p:sp>
        <p:nvSpPr>
          <p:cNvPr id="206" name="Box 206"/>
          <p:cNvSpPr/>
          <p:nvPr/>
        </p:nvSpPr>
        <p:spPr>
          <a:xfrm>
            <a:off x="13716000" y="4445000"/>
            <a:ext cx="3276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3600" b="1" dirty="0">
                <a:solidFill>
                  <a:srgbClr val="8C8C8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32.3%</a:t>
            </a:r>
            <a:endParaRPr lang="ko-KR" sz="4800" dirty="0"/>
          </a:p>
        </p:txBody>
      </p:sp>
      <p:sp>
        <p:nvSpPr>
          <p:cNvPr id="207" name="Box 207"/>
          <p:cNvSpPr/>
          <p:nvPr/>
        </p:nvSpPr>
        <p:spPr>
          <a:xfrm>
            <a:off x="13716000" y="5105400"/>
            <a:ext cx="32766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Retail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소매유통 · 142명</a:t>
            </a:r>
            <a:endParaRPr lang="ko-KR" sz="1400" dirty="0"/>
          </a:p>
        </p:txBody>
      </p:sp>
      <p:sp>
        <p:nvSpPr>
          <p:cNvPr id="208" name="Box 208"/>
          <p:cNvSpPr/>
          <p:nvPr/>
        </p:nvSpPr>
        <p:spPr>
          <a:xfrm>
            <a:off x="11049000" y="5969000"/>
            <a:ext cx="5943600" cy="19050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228600" tIns="228600" rIns="228600" bIns="22860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한계</a:t>
            </a:r>
            <a:endParaRPr lang="ko-KR" sz="20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수집 기간과 화폐 단위가 불명확</a:t>
            </a:r>
            <a:endParaRPr lang="ko-KR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따라서 실제 마케팅 의사결정이 아니라 </a:t>
            </a:r>
            <a:r>
              <a:rPr lang="ko-KR" altLang="en-US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오분류 고객 식별·대응 방법론 검증</a:t>
            </a:r>
            <a:r>
              <a:rPr lang="ko-KR" altLang="en-US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목적으로 설계한다</a:t>
            </a:r>
            <a:r>
              <a:rPr lang="en-US" altLang="ko-KR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dirty="0"/>
          </a:p>
        </p:txBody>
      </p:sp>
      <p:sp>
        <p:nvSpPr>
          <p:cNvPr id="209" name="Box 209"/>
          <p:cNvSpPr/>
          <p:nvPr/>
        </p:nvSpPr>
        <p:spPr>
          <a:xfrm>
            <a:off x="1295400" y="7962900"/>
            <a:ext cx="15697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출처: Cardoso, M. (2013), Wholesale customers (Kaggle)</a:t>
            </a:r>
            <a:endParaRPr lang="ko-KR" sz="1200" dirty="0"/>
          </a:p>
        </p:txBody>
      </p:sp>
      <p:graphicFrame>
        <p:nvGraphicFramePr>
          <p:cNvPr id="240" name="Donut Chart"/>
          <p:cNvGraphicFramePr/>
          <p:nvPr/>
        </p:nvGraphicFramePr>
        <p:xfrm>
          <a:off x="11049000" y="3048000"/>
          <a:ext cx="2286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41" name="Donut Center"/>
          <p:cNvSpPr txBox="1"/>
          <p:nvPr/>
        </p:nvSpPr>
        <p:spPr>
          <a:xfrm>
            <a:off x="11430000" y="3810000"/>
            <a:ext cx="1524000" cy="762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sz="22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440명</a:t>
            </a:r>
          </a:p>
          <a:p>
            <a:pPr algn="ctr"/>
            <a:r>
              <a:rPr lang="ko-KR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고객</a:t>
            </a:r>
          </a:p>
        </p:txBody>
      </p:sp>
    </p:spTree>
    <p:extLst>
      <p:ext uri="{BB962C8B-B14F-4D97-AF65-F5344CB8AC3E}">
        <p14:creationId xmlns:p14="http://schemas.microsoft.com/office/powerpoint/2010/main" val="4086840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01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데이터 품질 점검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02" name="Box 202"/>
          <p:cNvSpPr/>
          <p:nvPr/>
        </p:nvSpPr>
        <p:spPr>
          <a:xfrm>
            <a:off x="1295400" y="2603500"/>
            <a:ext cx="3708400" cy="53340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3" name="Box 203"/>
          <p:cNvSpPr/>
          <p:nvPr/>
        </p:nvSpPr>
        <p:spPr>
          <a:xfrm>
            <a:off x="1574800" y="2857500"/>
            <a:ext cx="314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결측치</a:t>
            </a:r>
            <a:endParaRPr lang="ko-KR" sz="2000" dirty="0"/>
          </a:p>
        </p:txBody>
      </p:sp>
      <p:sp>
        <p:nvSpPr>
          <p:cNvPr id="204" name="Box 204"/>
          <p:cNvSpPr/>
          <p:nvPr/>
        </p:nvSpPr>
        <p:spPr>
          <a:xfrm>
            <a:off x="1574800" y="3403600"/>
            <a:ext cx="3149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3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0건</a:t>
            </a:r>
            <a:endParaRPr lang="ko-KR" sz="3600" dirty="0"/>
          </a:p>
        </p:txBody>
      </p:sp>
      <p:sp>
        <p:nvSpPr>
          <p:cNvPr id="205" name="Box 205"/>
          <p:cNvSpPr/>
          <p:nvPr/>
        </p:nvSpPr>
        <p:spPr>
          <a:xfrm>
            <a:off x="1574800" y="4343400"/>
            <a:ext cx="1524000" cy="431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통과</a:t>
            </a:r>
            <a:endParaRPr lang="ko-KR" sz="1500" dirty="0"/>
          </a:p>
        </p:txBody>
      </p:sp>
      <p:sp>
        <p:nvSpPr>
          <p:cNvPr id="206" name="Box 206"/>
          <p:cNvSpPr/>
          <p:nvPr/>
        </p:nvSpPr>
        <p:spPr>
          <a:xfrm>
            <a:off x="1574800" y="4978400"/>
            <a:ext cx="3149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440행 × 8열 전체에서 결측 없음</a:t>
            </a:r>
            <a:endParaRPr lang="ko-KR" sz="1600" dirty="0"/>
          </a:p>
        </p:txBody>
      </p:sp>
      <p:cxnSp>
        <p:nvCxnSpPr>
          <p:cNvPr id="207" name="Line 207"/>
          <p:cNvCxnSpPr/>
          <p:nvPr/>
        </p:nvCxnSpPr>
        <p:spPr>
          <a:xfrm>
            <a:off x="1574800" y="6375400"/>
            <a:ext cx="3149600" cy="0"/>
          </a:xfrm>
          <a:prstGeom prst="line">
            <a:avLst/>
          </a:prstGeom>
          <a:ln w="12700">
            <a:solidFill>
              <a:srgbClr val="BFC8E6"/>
            </a:solidFill>
          </a:ln>
        </p:spPr>
      </p:cxnSp>
      <p:sp>
        <p:nvSpPr>
          <p:cNvPr id="208" name="Box 208"/>
          <p:cNvSpPr/>
          <p:nvPr/>
        </p:nvSpPr>
        <p:spPr>
          <a:xfrm>
            <a:off x="1574800" y="6502400"/>
            <a:ext cx="31496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조치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7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그대로 사용</a:t>
            </a:r>
            <a:endParaRPr lang="ko-KR" sz="1700" dirty="0"/>
          </a:p>
        </p:txBody>
      </p:sp>
      <p:sp>
        <p:nvSpPr>
          <p:cNvPr id="209" name="Box 209"/>
          <p:cNvSpPr/>
          <p:nvPr/>
        </p:nvSpPr>
        <p:spPr>
          <a:xfrm>
            <a:off x="5283200" y="2603500"/>
            <a:ext cx="3708400" cy="53340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0" name="Box 210"/>
          <p:cNvSpPr/>
          <p:nvPr/>
        </p:nvSpPr>
        <p:spPr>
          <a:xfrm>
            <a:off x="5562600" y="2857500"/>
            <a:ext cx="314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중복 행</a:t>
            </a:r>
            <a:endParaRPr lang="ko-KR" sz="2000" dirty="0"/>
          </a:p>
        </p:txBody>
      </p:sp>
      <p:sp>
        <p:nvSpPr>
          <p:cNvPr id="211" name="Box 211"/>
          <p:cNvSpPr/>
          <p:nvPr/>
        </p:nvSpPr>
        <p:spPr>
          <a:xfrm>
            <a:off x="5562600" y="3403600"/>
            <a:ext cx="3149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3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0건</a:t>
            </a:r>
            <a:endParaRPr lang="ko-KR" sz="3600" dirty="0"/>
          </a:p>
        </p:txBody>
      </p:sp>
      <p:sp>
        <p:nvSpPr>
          <p:cNvPr id="212" name="Box 212"/>
          <p:cNvSpPr/>
          <p:nvPr/>
        </p:nvSpPr>
        <p:spPr>
          <a:xfrm>
            <a:off x="5562600" y="4343400"/>
            <a:ext cx="1524000" cy="431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통과</a:t>
            </a:r>
            <a:endParaRPr lang="ko-KR" sz="1500" dirty="0"/>
          </a:p>
        </p:txBody>
      </p:sp>
      <p:sp>
        <p:nvSpPr>
          <p:cNvPr id="213" name="Box 213"/>
          <p:cNvSpPr/>
          <p:nvPr/>
        </p:nvSpPr>
        <p:spPr>
          <a:xfrm>
            <a:off x="5562600" y="4978400"/>
            <a:ext cx="3149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고객 중복 기록 없음</a:t>
            </a:r>
            <a:endParaRPr lang="ko-KR" sz="1600" dirty="0"/>
          </a:p>
        </p:txBody>
      </p:sp>
      <p:cxnSp>
        <p:nvCxnSpPr>
          <p:cNvPr id="214" name="Line 214"/>
          <p:cNvCxnSpPr/>
          <p:nvPr/>
        </p:nvCxnSpPr>
        <p:spPr>
          <a:xfrm>
            <a:off x="5562600" y="6375400"/>
            <a:ext cx="3149600" cy="0"/>
          </a:xfrm>
          <a:prstGeom prst="line">
            <a:avLst/>
          </a:prstGeom>
          <a:ln w="12700">
            <a:solidFill>
              <a:srgbClr val="BFC8E6"/>
            </a:solidFill>
          </a:ln>
        </p:spPr>
      </p:cxnSp>
      <p:sp>
        <p:nvSpPr>
          <p:cNvPr id="215" name="Box 215"/>
          <p:cNvSpPr/>
          <p:nvPr/>
        </p:nvSpPr>
        <p:spPr>
          <a:xfrm>
            <a:off x="5562600" y="6502400"/>
            <a:ext cx="31496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조치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7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440행 전부 분석에 사용</a:t>
            </a:r>
            <a:endParaRPr lang="ko-KR" sz="1700" dirty="0"/>
          </a:p>
        </p:txBody>
      </p:sp>
      <p:sp>
        <p:nvSpPr>
          <p:cNvPr id="216" name="Box 216"/>
          <p:cNvSpPr/>
          <p:nvPr/>
        </p:nvSpPr>
        <p:spPr>
          <a:xfrm>
            <a:off x="9271000" y="2603500"/>
            <a:ext cx="3708400" cy="53340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 w="19050">
            <a:solidFill>
              <a:srgbClr val="4A5BA3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7" name="Box 217"/>
          <p:cNvSpPr/>
          <p:nvPr/>
        </p:nvSpPr>
        <p:spPr>
          <a:xfrm>
            <a:off x="9550400" y="2857500"/>
            <a:ext cx="314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상한 이상치</a:t>
            </a:r>
            <a:endParaRPr lang="ko-KR" sz="2000" dirty="0"/>
          </a:p>
        </p:txBody>
      </p:sp>
      <p:sp>
        <p:nvSpPr>
          <p:cNvPr id="218" name="Box 218"/>
          <p:cNvSpPr/>
          <p:nvPr/>
        </p:nvSpPr>
        <p:spPr>
          <a:xfrm>
            <a:off x="9550400" y="3403600"/>
            <a:ext cx="3149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3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4.5~9.8%</a:t>
            </a:r>
            <a:endParaRPr lang="ko-KR" sz="3600" dirty="0"/>
          </a:p>
        </p:txBody>
      </p:sp>
      <p:sp>
        <p:nvSpPr>
          <p:cNvPr id="219" name="Box 219"/>
          <p:cNvSpPr/>
          <p:nvPr/>
        </p:nvSpPr>
        <p:spPr>
          <a:xfrm>
            <a:off x="9550400" y="4343400"/>
            <a:ext cx="1524000" cy="4318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 필요</a:t>
            </a:r>
            <a:endParaRPr lang="ko-KR" sz="1500" dirty="0">
              <a:solidFill>
                <a:srgbClr val="4A5BA3"/>
              </a:solidFill>
            </a:endParaRPr>
          </a:p>
        </p:txBody>
      </p:sp>
      <p:sp>
        <p:nvSpPr>
          <p:cNvPr id="220" name="Box 220"/>
          <p:cNvSpPr/>
          <p:nvPr/>
        </p:nvSpPr>
        <p:spPr>
          <a:xfrm>
            <a:off x="9550400" y="4978400"/>
            <a:ext cx="3149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IQR 기준 전체 108행(24.6%), 행 삭제 없이 유지</a:t>
            </a:r>
            <a:endParaRPr lang="ko-KR" sz="1600" dirty="0"/>
          </a:p>
        </p:txBody>
      </p:sp>
      <p:cxnSp>
        <p:nvCxnSpPr>
          <p:cNvPr id="221" name="Line 221"/>
          <p:cNvCxnSpPr/>
          <p:nvPr/>
        </p:nvCxnSpPr>
        <p:spPr>
          <a:xfrm>
            <a:off x="9550400" y="6375400"/>
            <a:ext cx="3149600" cy="0"/>
          </a:xfrm>
          <a:prstGeom prst="line">
            <a:avLst/>
          </a:prstGeom>
          <a:ln w="12700">
            <a:solidFill>
              <a:srgbClr val="BFC8E6"/>
            </a:solidFill>
          </a:ln>
        </p:spPr>
      </p:cxnSp>
      <p:sp>
        <p:nvSpPr>
          <p:cNvPr id="222" name="Box 222"/>
          <p:cNvSpPr/>
          <p:nvPr/>
        </p:nvSpPr>
        <p:spPr>
          <a:xfrm>
            <a:off x="9550400" y="6502400"/>
            <a:ext cx="31496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조치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7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모델링 전 로그변환 </a:t>
            </a:r>
            <a:r>
              <a:rPr lang="en-US" altLang="ko-KR" sz="17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or </a:t>
            </a:r>
            <a:r>
              <a:rPr lang="ko-KR" altLang="en-US" sz="1700" b="1" dirty="0" err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Yeo</a:t>
            </a:r>
            <a:r>
              <a:rPr lang="ko-KR" altLang="en-US" sz="17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-Johnson 변환으로 분포 완화</a:t>
            </a:r>
            <a:endParaRPr lang="ko-KR" sz="1700" dirty="0"/>
          </a:p>
        </p:txBody>
      </p:sp>
      <p:sp>
        <p:nvSpPr>
          <p:cNvPr id="223" name="Box 223"/>
          <p:cNvSpPr/>
          <p:nvPr/>
        </p:nvSpPr>
        <p:spPr>
          <a:xfrm>
            <a:off x="13258800" y="2603500"/>
            <a:ext cx="3708400" cy="53340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 w="19050">
            <a:solidFill>
              <a:srgbClr val="4A5BA3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24" name="Box 224"/>
          <p:cNvSpPr/>
          <p:nvPr/>
        </p:nvSpPr>
        <p:spPr>
          <a:xfrm>
            <a:off x="13538200" y="2857500"/>
            <a:ext cx="314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 err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Region</a:t>
            </a: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변수 </a:t>
            </a:r>
            <a:r>
              <a:rPr lang="en-US" altLang="ko-KR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제거</a:t>
            </a:r>
            <a:r>
              <a:rPr lang="en-US" altLang="ko-KR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sz="2000" dirty="0"/>
          </a:p>
        </p:txBody>
      </p:sp>
      <p:sp>
        <p:nvSpPr>
          <p:cNvPr id="225" name="Box 225"/>
          <p:cNvSpPr/>
          <p:nvPr/>
        </p:nvSpPr>
        <p:spPr>
          <a:xfrm>
            <a:off x="13538200" y="3403600"/>
            <a:ext cx="3149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3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 = 0.114</a:t>
            </a:r>
            <a:endParaRPr lang="ko-KR" sz="3600" dirty="0"/>
          </a:p>
        </p:txBody>
      </p:sp>
      <p:sp>
        <p:nvSpPr>
          <p:cNvPr id="226" name="Box 226"/>
          <p:cNvSpPr/>
          <p:nvPr/>
        </p:nvSpPr>
        <p:spPr>
          <a:xfrm>
            <a:off x="13538200" y="4343400"/>
            <a:ext cx="1524000" cy="4318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변수 제외</a:t>
            </a:r>
            <a:endParaRPr lang="ko-KR" sz="1500" dirty="0">
              <a:solidFill>
                <a:srgbClr val="4A5BA3"/>
              </a:solidFill>
            </a:endParaRPr>
          </a:p>
        </p:txBody>
      </p:sp>
      <p:sp>
        <p:nvSpPr>
          <p:cNvPr id="227" name="Box 227"/>
          <p:cNvSpPr/>
          <p:nvPr/>
        </p:nvSpPr>
        <p:spPr>
          <a:xfrm>
            <a:off x="13538200" y="4978400"/>
            <a:ext cx="3149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독립성 검정</a:t>
            </a: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600" dirty="0" err="1">
                <a:solidFill>
                  <a:srgbClr val="404040"/>
                </a:solidFill>
                <a:latin typeface="맑은 고딕" panose="020B0503020000020004" pitchFamily="50" charset="-127"/>
              </a:rPr>
              <a:t>카이제곱</a:t>
            </a: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</a:rPr>
              <a:t> 검정)</a:t>
            </a:r>
            <a:endParaRPr lang="ko-KR" altLang="ko-KR" sz="16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 err="1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Channel과 연관이 있다고 볼 근거 없음</a:t>
            </a:r>
            <a:endParaRPr lang="ko-KR" sz="1600" dirty="0"/>
          </a:p>
        </p:txBody>
      </p:sp>
      <p:cxnSp>
        <p:nvCxnSpPr>
          <p:cNvPr id="228" name="Line 228"/>
          <p:cNvCxnSpPr/>
          <p:nvPr/>
        </p:nvCxnSpPr>
        <p:spPr>
          <a:xfrm>
            <a:off x="13538200" y="6375400"/>
            <a:ext cx="3149600" cy="0"/>
          </a:xfrm>
          <a:prstGeom prst="line">
            <a:avLst/>
          </a:prstGeom>
          <a:ln w="12700">
            <a:solidFill>
              <a:srgbClr val="BFC8E6"/>
            </a:solidFill>
          </a:ln>
        </p:spPr>
      </p:cxnSp>
      <p:sp>
        <p:nvSpPr>
          <p:cNvPr id="229" name="Box 229"/>
          <p:cNvSpPr/>
          <p:nvPr/>
        </p:nvSpPr>
        <p:spPr>
          <a:xfrm>
            <a:off x="13538200" y="6502400"/>
            <a:ext cx="31496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조치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7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변수에서 제외한다</a:t>
            </a:r>
            <a:endParaRPr lang="ko-KR" sz="1700" dirty="0"/>
          </a:p>
        </p:txBody>
      </p:sp>
      <p:sp>
        <p:nvSpPr>
          <p:cNvPr id="230" name="Box 230"/>
          <p:cNvSpPr/>
          <p:nvPr/>
        </p:nvSpPr>
        <p:spPr>
          <a:xfrm>
            <a:off x="1295400" y="8255000"/>
            <a:ext cx="15697200" cy="1041400"/>
          </a:xfrm>
          <a:prstGeom prst="roundRect">
            <a:avLst>
              <a:gd name="adj" fmla="val 12000"/>
            </a:avLst>
          </a:prstGeom>
          <a:solidFill>
            <a:srgbClr val="4A5BA3"/>
          </a:solidFill>
          <a:ln>
            <a:noFill/>
          </a:ln>
        </p:spPr>
        <p:txBody>
          <a:bodyPr wrap="square" lIns="279400" tIns="279400" rIns="279400" bIns="2794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 </a:t>
            </a:r>
            <a:endParaRPr lang="en-US" altLang="ko-KR" sz="19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 algn="l">
              <a:lnSpc>
                <a:spcPct val="105000"/>
              </a:lnSpc>
              <a:spcBef>
                <a:spcPts val="0"/>
              </a:spcBef>
              <a:buAutoNum type="arabicPeriod"/>
            </a:pPr>
            <a:r>
              <a:rPr lang="ko-KR" altLang="en-US" sz="19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440행을 삭제·보정 없이 모두 쓰고, 6개 구매액 변수는 변환하고 </a:t>
            </a:r>
            <a:r>
              <a:rPr lang="ko-KR" altLang="en-US" sz="1900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Region은</a:t>
            </a:r>
            <a:r>
              <a:rPr lang="ko-KR" altLang="en-US" sz="19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제외한다</a:t>
            </a:r>
            <a:r>
              <a:rPr lang="en-US" altLang="ko-KR" sz="19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457200" indent="-457200" algn="l">
              <a:lnSpc>
                <a:spcPct val="105000"/>
              </a:lnSpc>
              <a:spcBef>
                <a:spcPts val="0"/>
              </a:spcBef>
              <a:buAutoNum type="arabicPeriod"/>
            </a:pPr>
            <a:r>
              <a:rPr lang="ko-KR" altLang="en-US" sz="1900" dirty="0">
                <a:solidFill>
                  <a:schemeClr val="bg1"/>
                </a:solidFill>
              </a:rPr>
              <a:t>이상치는 하한 </a:t>
            </a:r>
            <a:r>
              <a:rPr lang="ko-KR" altLang="en-US" sz="1900" dirty="0" err="1">
                <a:solidFill>
                  <a:schemeClr val="bg1"/>
                </a:solidFill>
              </a:rPr>
              <a:t>절단값</a:t>
            </a:r>
            <a:r>
              <a:rPr lang="en-US" altLang="ko-KR" sz="1900" dirty="0">
                <a:solidFill>
                  <a:schemeClr val="bg1"/>
                </a:solidFill>
              </a:rPr>
              <a:t>(3)</a:t>
            </a:r>
            <a:r>
              <a:rPr lang="ko-KR" altLang="en-US" sz="1900" dirty="0">
                <a:solidFill>
                  <a:schemeClr val="bg1"/>
                </a:solidFill>
              </a:rPr>
              <a:t>을 주의하여 로그변환과 </a:t>
            </a:r>
            <a:r>
              <a:rPr lang="en-US" altLang="ko-KR" sz="1900" dirty="0">
                <a:solidFill>
                  <a:schemeClr val="bg1"/>
                </a:solidFill>
              </a:rPr>
              <a:t>Yeo-Johnson</a:t>
            </a:r>
            <a:r>
              <a:rPr lang="ko-KR" altLang="en-US" sz="1900" dirty="0">
                <a:solidFill>
                  <a:schemeClr val="bg1"/>
                </a:solidFill>
              </a:rPr>
              <a:t>변환을 비교해 택한다</a:t>
            </a:r>
            <a:r>
              <a:rPr lang="en-US" altLang="ko-KR" sz="1900" dirty="0">
                <a:solidFill>
                  <a:schemeClr val="bg1"/>
                </a:solidFill>
              </a:rPr>
              <a:t>.</a:t>
            </a:r>
            <a:endParaRPr lang="ko-KR" sz="1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6757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01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하한 절단값 점검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1295400" y="1752600"/>
            <a:ext cx="15697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4개 변수의 최솟값이 모두 3으로 같아, 하한 절단값일 가능성을 둔다</a:t>
            </a:r>
            <a:endParaRPr lang="ko-KR" sz="2200" dirty="0"/>
          </a:p>
        </p:txBody>
      </p:sp>
      <p:sp>
        <p:nvSpPr>
          <p:cNvPr id="202" name="Box 202"/>
          <p:cNvSpPr/>
          <p:nvPr/>
        </p:nvSpPr>
        <p:spPr>
          <a:xfrm>
            <a:off x="1295400" y="2540000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변수별 최솟값과 그다음 작은 값</a:t>
            </a:r>
            <a:endParaRPr lang="ko-KR" sz="1800" dirty="0"/>
          </a:p>
        </p:txBody>
      </p:sp>
      <p:graphicFrame>
        <p:nvGraphicFramePr>
          <p:cNvPr id="203" name="Table 2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947702"/>
              </p:ext>
            </p:extLst>
          </p:nvPr>
        </p:nvGraphicFramePr>
        <p:xfrm>
          <a:off x="1295400" y="2997200"/>
          <a:ext cx="8890000" cy="4978400"/>
        </p:xfrm>
        <a:graphic>
          <a:graphicData uri="http://schemas.openxmlformats.org/drawingml/2006/table">
            <a:tbl>
              <a:tblPr firstRow="1"/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최솟값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altLang="ko-KR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 </a:t>
                      </a: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다음 최솟값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값이 3인 개수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Fresh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2개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Grocery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137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1개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Detergents_Paper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2개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Delicassen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4개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Milk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0개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Frozen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0개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5" name="Box 205"/>
          <p:cNvSpPr/>
          <p:nvPr/>
        </p:nvSpPr>
        <p:spPr>
          <a:xfrm>
            <a:off x="10668000" y="2540000"/>
            <a:ext cx="6324600" cy="54356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6" name="Box 206"/>
          <p:cNvSpPr/>
          <p:nvPr/>
        </p:nvSpPr>
        <p:spPr>
          <a:xfrm>
            <a:off x="10972800" y="2794000"/>
            <a:ext cx="5715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하한 </a:t>
            </a:r>
            <a:r>
              <a:rPr lang="ko-KR" altLang="en-US" sz="2000" b="1" dirty="0" err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절단값으로</a:t>
            </a: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의심한 이유</a:t>
            </a:r>
            <a:endParaRPr lang="ko-KR" sz="2000" dirty="0"/>
          </a:p>
        </p:txBody>
      </p:sp>
      <p:sp>
        <p:nvSpPr>
          <p:cNvPr id="207" name="Box 207"/>
          <p:cNvSpPr/>
          <p:nvPr/>
        </p:nvSpPr>
        <p:spPr>
          <a:xfrm>
            <a:off x="10972800" y="3492500"/>
            <a:ext cx="5715000" cy="444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10000"/>
              </a:lnSpc>
              <a:spcBef>
                <a:spcPts val="1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8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6개 중 4개 변수</a:t>
            </a:r>
            <a:r>
              <a:rPr lang="ko-KR" altLang="en-US" sz="18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최솟값이 똑같이 3이다</a:t>
            </a:r>
            <a:r>
              <a:rPr lang="en-US" altLang="ko-KR" sz="18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sz="1600" dirty="0"/>
          </a:p>
          <a:p>
            <a:pPr marL="285750" indent="-285750" algn="l">
              <a:lnSpc>
                <a:spcPct val="110000"/>
              </a:lnSpc>
              <a:spcBef>
                <a:spcPts val="1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8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Grocery는 3 다음 값이 </a:t>
            </a:r>
            <a:r>
              <a:rPr lang="ko-KR" altLang="en-US" sz="18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137</a:t>
            </a:r>
            <a:r>
              <a:rPr lang="ko-KR" altLang="en-US" sz="18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로, 3만 동떨어져 있다</a:t>
            </a:r>
            <a:r>
              <a:rPr lang="en-US" altLang="ko-KR" sz="18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sz="1600" dirty="0"/>
          </a:p>
          <a:p>
            <a:pPr marL="285750" indent="-285750" algn="l">
              <a:lnSpc>
                <a:spcPct val="110000"/>
              </a:lnSpc>
              <a:spcBef>
                <a:spcPts val="1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8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Detergents_Paper는 다음 값이 5라 3이 실제 값일 수도 있지만, 공통 최솟값을 보면 </a:t>
            </a:r>
            <a:r>
              <a:rPr lang="ko-KR" altLang="en-US" sz="18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단정할 수 없다</a:t>
            </a:r>
            <a:r>
              <a:rPr lang="en-US" altLang="ko-KR" sz="18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sz="1600" dirty="0"/>
          </a:p>
          <a:p>
            <a:pPr marL="285750" indent="-285750" algn="l">
              <a:lnSpc>
                <a:spcPct val="110000"/>
              </a:lnSpc>
              <a:spcBef>
                <a:spcPts val="1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800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판단 : 오류로 지우지 않고 유지하되, </a:t>
            </a: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하한 왜곡</a:t>
            </a:r>
            <a:r>
              <a:rPr lang="ko-KR" altLang="en-US" sz="1800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주의해 변환 방법을 고른다</a:t>
            </a:r>
            <a:r>
              <a:rPr lang="en-US" altLang="ko-KR" sz="1800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85750" indent="-285750" algn="l">
              <a:lnSpc>
                <a:spcPct val="110000"/>
              </a:lnSpc>
              <a:spcBef>
                <a:spcPts val="1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800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추후 전처리에서 </a:t>
            </a: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 변환과 Yeo-Johnson 변환</a:t>
            </a:r>
            <a:r>
              <a:rPr lang="ko-KR" altLang="en-US" sz="1800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비교해 하한 왜곡이 적은 방법을 택한다.</a:t>
            </a:r>
            <a:endParaRPr lang="en-US" altLang="ko-KR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9891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06B63-7661-C25F-F424-C1B97C243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0FE1ABA-834A-490A-A41A-E8AD13921B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54031A8-1628-5631-30EC-9B56926288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1E6D7F73-FE18-9B56-211C-9B65735436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DD67A2F6-D838-FDCA-05FE-B172C0788A76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02</a:t>
            </a:r>
            <a:endParaRPr lang="en-US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263DB89-CBB0-D512-D9F2-C0F28E85CEC3}"/>
              </a:ext>
            </a:extLst>
          </p:cNvPr>
          <p:cNvSpPr txBox="1"/>
          <p:nvPr/>
        </p:nvSpPr>
        <p:spPr>
          <a:xfrm>
            <a:off x="1905000" y="3683000"/>
            <a:ext cx="7112000" cy="25400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5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EDA · 모델링 </a:t>
            </a:r>
            <a:r>
              <a:rPr lang="ko-KR" altLang="en-US" sz="5400" b="1" dirty="0" err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전처리</a:t>
            </a:r>
            <a:endParaRPr lang="ko-KR" sz="54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885FBD-9ACB-60EB-5951-CDB068871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cxnSp>
        <p:nvCxnSpPr>
          <p:cNvPr id="201" name="Line 201"/>
          <p:cNvCxnSpPr/>
          <p:nvPr/>
        </p:nvCxnSpPr>
        <p:spPr>
          <a:xfrm>
            <a:off x="9398000" y="3175000"/>
            <a:ext cx="0" cy="3937000"/>
          </a:xfrm>
          <a:prstGeom prst="line">
            <a:avLst/>
          </a:prstGeom>
          <a:ln w="19050">
            <a:solidFill>
              <a:srgbClr val="BFC8E6"/>
            </a:solidFill>
          </a:ln>
        </p:spPr>
      </p:cxnSp>
      <p:sp>
        <p:nvSpPr>
          <p:cNvPr id="202" name="Box 202"/>
          <p:cNvSpPr/>
          <p:nvPr/>
        </p:nvSpPr>
        <p:spPr>
          <a:xfrm>
            <a:off x="10033000" y="3302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800" dirty="0"/>
          </a:p>
        </p:txBody>
      </p:sp>
      <p:sp>
        <p:nvSpPr>
          <p:cNvPr id="203" name="Box 203"/>
          <p:cNvSpPr/>
          <p:nvPr/>
        </p:nvSpPr>
        <p:spPr>
          <a:xfrm>
            <a:off x="10922000" y="3175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구매액 분포와 이상치</a:t>
            </a:r>
            <a:endParaRPr lang="ko-KR" sz="2400" b="1" dirty="0"/>
          </a:p>
        </p:txBody>
      </p:sp>
      <p:sp>
        <p:nvSpPr>
          <p:cNvPr id="204" name="Box 204"/>
          <p:cNvSpPr/>
          <p:nvPr/>
        </p:nvSpPr>
        <p:spPr>
          <a:xfrm>
            <a:off x="10033000" y="4318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800" dirty="0"/>
          </a:p>
        </p:txBody>
      </p:sp>
      <p:sp>
        <p:nvSpPr>
          <p:cNvPr id="205" name="Box 205"/>
          <p:cNvSpPr/>
          <p:nvPr/>
        </p:nvSpPr>
        <p:spPr>
          <a:xfrm>
            <a:off x="10922000" y="4191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채널별 품목 차이</a:t>
            </a:r>
            <a:endParaRPr lang="ko-KR" sz="2400" b="1" dirty="0"/>
          </a:p>
        </p:txBody>
      </p:sp>
      <p:sp>
        <p:nvSpPr>
          <p:cNvPr id="206" name="Box 206"/>
          <p:cNvSpPr/>
          <p:nvPr/>
        </p:nvSpPr>
        <p:spPr>
          <a:xfrm>
            <a:off x="10033000" y="5334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sz="1800" dirty="0"/>
          </a:p>
        </p:txBody>
      </p:sp>
      <p:sp>
        <p:nvSpPr>
          <p:cNvPr id="207" name="Box 207"/>
          <p:cNvSpPr/>
          <p:nvPr/>
        </p:nvSpPr>
        <p:spPr>
          <a:xfrm>
            <a:off x="10922000" y="5207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Yeo-Johnson 변환</a:t>
            </a:r>
            <a:endParaRPr lang="ko-KR" sz="2400" b="1" dirty="0"/>
          </a:p>
        </p:txBody>
      </p:sp>
      <p:sp>
        <p:nvSpPr>
          <p:cNvPr id="208" name="Box 208"/>
          <p:cNvSpPr/>
          <p:nvPr/>
        </p:nvSpPr>
        <p:spPr>
          <a:xfrm>
            <a:off x="10033000" y="6350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sz="1800" dirty="0"/>
          </a:p>
        </p:txBody>
      </p:sp>
      <p:sp>
        <p:nvSpPr>
          <p:cNvPr id="209" name="Box 209"/>
          <p:cNvSpPr/>
          <p:nvPr/>
        </p:nvSpPr>
        <p:spPr>
          <a:xfrm>
            <a:off x="10922000" y="6223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PCA 차원 축소</a:t>
            </a:r>
            <a:endParaRPr 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393531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02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구매액 분포</a:t>
            </a:r>
            <a:r>
              <a:rPr lang="en-US" altLang="ko-KR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(</a:t>
            </a:r>
            <a:r>
              <a:rPr lang="ko-KR" altLang="en-US" sz="4400" b="1" dirty="0" err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단변량</a:t>
            </a:r>
            <a:r>
              <a:rPr lang="en-US" altLang="ko-KR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)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1295400" y="1752600"/>
            <a:ext cx="15697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6개 구매액 변수 모두 오른쪽 꼬리가 길어, 모델링 전 변환이 필요하다</a:t>
            </a:r>
            <a:endParaRPr lang="ko-KR" sz="2200" dirty="0"/>
          </a:p>
        </p:txBody>
      </p:sp>
      <p:sp>
        <p:nvSpPr>
          <p:cNvPr id="202" name="Box 202"/>
          <p:cNvSpPr/>
          <p:nvPr/>
        </p:nvSpPr>
        <p:spPr>
          <a:xfrm>
            <a:off x="1295400" y="2603500"/>
            <a:ext cx="5029200" cy="31750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</p:spPr>
        <p:txBody>
          <a:bodyPr wrap="square" lIns="304800" tIns="304800" rIns="304800" bIns="30480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40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평균 &gt; 중앙값</a:t>
            </a:r>
            <a:endParaRPr lang="ko-KR" sz="4000" dirty="0"/>
          </a:p>
          <a:p>
            <a:pPr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6개 변수 전부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ko-KR" altLang="en-US" sz="16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소수의 대량 구매 고객이 평균을 끌어올림</a:t>
            </a:r>
            <a:endParaRPr lang="ko-KR" sz="1600" dirty="0"/>
          </a:p>
        </p:txBody>
      </p:sp>
      <p:sp>
        <p:nvSpPr>
          <p:cNvPr id="203" name="Box 203"/>
          <p:cNvSpPr/>
          <p:nvPr/>
        </p:nvSpPr>
        <p:spPr>
          <a:xfrm>
            <a:off x="6629400" y="2603500"/>
            <a:ext cx="5029200" cy="31750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</p:spPr>
        <p:txBody>
          <a:bodyPr wrap="square" lIns="304800" tIns="304800" rIns="304800" bIns="30480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40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2.5~11</a:t>
            </a:r>
            <a:endParaRPr lang="ko-KR" sz="4000" dirty="0"/>
          </a:p>
          <a:p>
            <a:pPr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왜도 (Skewness)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ko-KR" altLang="en-US" sz="16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정규분포 기준 0에서 크게 벗어남</a:t>
            </a:r>
            <a:endParaRPr lang="ko-KR" sz="1600" dirty="0"/>
          </a:p>
        </p:txBody>
      </p:sp>
      <p:sp>
        <p:nvSpPr>
          <p:cNvPr id="204" name="Box 204"/>
          <p:cNvSpPr/>
          <p:nvPr/>
        </p:nvSpPr>
        <p:spPr>
          <a:xfrm>
            <a:off x="11963400" y="2603500"/>
            <a:ext cx="5029200" cy="31750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</p:spPr>
        <p:txBody>
          <a:bodyPr wrap="square" lIns="304800" tIns="304800" rIns="304800" bIns="30480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40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4.5~9.8%</a:t>
            </a:r>
            <a:endParaRPr lang="ko-KR" sz="4000" dirty="0"/>
          </a:p>
          <a:p>
            <a:pPr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변수당 상한 이상치 비율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ko-KR" altLang="en-US" sz="16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IQR 기준 상한 이상치</a:t>
            </a:r>
            <a:endParaRPr lang="ko-KR" sz="1600" dirty="0"/>
          </a:p>
        </p:txBody>
      </p:sp>
      <p:sp>
        <p:nvSpPr>
          <p:cNvPr id="205" name="Box 205"/>
          <p:cNvSpPr/>
          <p:nvPr/>
        </p:nvSpPr>
        <p:spPr>
          <a:xfrm>
            <a:off x="1295400" y="6159500"/>
            <a:ext cx="15697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시사점</a:t>
            </a:r>
            <a:endParaRPr lang="ko-KR" sz="1800" dirty="0"/>
          </a:p>
        </p:txBody>
      </p:sp>
      <p:sp>
        <p:nvSpPr>
          <p:cNvPr id="206" name="Box 206"/>
          <p:cNvSpPr/>
          <p:nvPr/>
        </p:nvSpPr>
        <p:spPr>
          <a:xfrm>
            <a:off x="1295400" y="6667500"/>
            <a:ext cx="7696200" cy="241300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BFC8E6"/>
            </a:solidFill>
          </a:ln>
        </p:spPr>
        <p:txBody>
          <a:bodyPr wrap="square" lIns="254000" tIns="254000" rIns="254000" bIns="25400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분포 왜곡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ko-KR" altLang="en-US" sz="18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 / Yeo-Johnson 변환</a:t>
            </a:r>
            <a:r>
              <a:rPr lang="ko-KR" altLang="en-US" sz="18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왜도를 줄인 뒤 거리 기반 군집과 분류 모형에 투입</a:t>
            </a:r>
            <a:endParaRPr lang="ko-KR" sz="1800" dirty="0"/>
          </a:p>
        </p:txBody>
      </p:sp>
      <p:sp>
        <p:nvSpPr>
          <p:cNvPr id="207" name="Box 207"/>
          <p:cNvSpPr/>
          <p:nvPr/>
        </p:nvSpPr>
        <p:spPr>
          <a:xfrm>
            <a:off x="9296400" y="6667500"/>
            <a:ext cx="7696200" cy="241300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BFC8E6"/>
            </a:solidFill>
          </a:ln>
        </p:spPr>
        <p:txBody>
          <a:bodyPr wrap="square" lIns="254000" tIns="254000" rIns="254000" bIns="25400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 간 다중공선성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ko-KR" altLang="en-US" sz="18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Milk · Grocery · Detergents_Paper(Retail 품목군) 간 Spearman 상관 </a:t>
            </a:r>
            <a:r>
              <a:rPr lang="ko-KR" altLang="en-US" sz="18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0.68~0.80</a:t>
            </a:r>
            <a:r>
              <a:rPr lang="ko-KR" altLang="en-US" sz="18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→ </a:t>
            </a:r>
            <a:r>
              <a:rPr lang="ko-KR" altLang="en-US" sz="18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PCA로 차원 축소</a:t>
            </a:r>
            <a:endParaRPr lang="ko-KR" sz="1800" dirty="0"/>
          </a:p>
        </p:txBody>
      </p:sp>
    </p:spTree>
    <p:extLst>
      <p:ext uri="{BB962C8B-B14F-4D97-AF65-F5344CB8AC3E}">
        <p14:creationId xmlns:p14="http://schemas.microsoft.com/office/powerpoint/2010/main" val="903931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02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채널별 품목 차이</a:t>
            </a:r>
            <a:r>
              <a:rPr lang="en-US" altLang="ko-KR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(</a:t>
            </a:r>
            <a:r>
              <a:rPr lang="ko-KR" altLang="en-US" sz="4400" b="1" dirty="0" err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이변량</a:t>
            </a:r>
            <a:r>
              <a:rPr lang="en-US" altLang="ko-KR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)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1295400" y="1752600"/>
            <a:ext cx="15697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채널을 가르는 품목은 Retail 품목 3개(세제/종이류·식료품·유제품)다</a:t>
            </a:r>
            <a:endParaRPr lang="ko-KR" sz="2200" dirty="0"/>
          </a:p>
        </p:txBody>
      </p:sp>
      <p:sp>
        <p:nvSpPr>
          <p:cNvPr id="202" name="Box 202"/>
          <p:cNvSpPr/>
          <p:nvPr/>
        </p:nvSpPr>
        <p:spPr>
          <a:xfrm>
            <a:off x="1295400" y="25400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간 구매액 차이의 판별력, |Rank-Biserial|</a:t>
            </a:r>
            <a:endParaRPr lang="ko-KR" sz="1600" dirty="0"/>
          </a:p>
        </p:txBody>
      </p:sp>
      <p:sp>
        <p:nvSpPr>
          <p:cNvPr id="203" name="Box 203"/>
          <p:cNvSpPr/>
          <p:nvPr/>
        </p:nvSpPr>
        <p:spPr>
          <a:xfrm>
            <a:off x="11430000" y="2603500"/>
            <a:ext cx="5562600" cy="63500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</p:spPr>
        <p:txBody>
          <a:bodyPr wrap="square" lIns="279400" tIns="279400" rIns="279400" bIns="27940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방향</a:t>
            </a:r>
            <a:endParaRPr lang="ko-KR" sz="18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Retail이 더 많이 구매: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Detergents_Paper, Grocery, Milk, Delicassen</a:t>
            </a:r>
            <a:endParaRPr lang="ko-KR" sz="16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Horeca가 더 많이 구매: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Frozen, Fresh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180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해석</a:t>
            </a:r>
            <a:endParaRPr lang="ko-KR" sz="18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판별력 0.76~0.92인 </a:t>
            </a: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Retail 품목 3개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채널 차이의 대부분을 설명</a:t>
            </a:r>
            <a:endParaRPr lang="ko-KR" sz="16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 품목(Fresh, Frozen)은 판별력 0.22~0.29로 약함</a:t>
            </a:r>
            <a:endParaRPr lang="ko-KR" sz="1600" dirty="0"/>
          </a:p>
        </p:txBody>
      </p:sp>
      <p:sp>
        <p:nvSpPr>
          <p:cNvPr id="204" name="Box 204"/>
          <p:cNvSpPr/>
          <p:nvPr/>
        </p:nvSpPr>
        <p:spPr>
          <a:xfrm>
            <a:off x="1295400" y="9207500"/>
            <a:ext cx="15697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Mann-Whitney U 검정, 6개 변수 모두 p&lt;0.05</a:t>
            </a:r>
            <a:endParaRPr lang="ko-KR" sz="1200" dirty="0"/>
          </a:p>
        </p:txBody>
      </p:sp>
      <p:graphicFrame>
        <p:nvGraphicFramePr>
          <p:cNvPr id="205" name="Chart"/>
          <p:cNvGraphicFramePr/>
          <p:nvPr/>
        </p:nvGraphicFramePr>
        <p:xfrm>
          <a:off x="1295400" y="2984500"/>
          <a:ext cx="9652000" cy="599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517752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02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변환 방법 선택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1295400" y="1752600"/>
            <a:ext cx="15697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 변환은 Fresh·Delicassen을 과보정해, Yeo-Johnson 변환으로 대체했다</a:t>
            </a:r>
            <a:endParaRPr lang="ko-KR" sz="2200" dirty="0"/>
          </a:p>
        </p:txBody>
      </p:sp>
      <p:sp>
        <p:nvSpPr>
          <p:cNvPr id="207" name="Box 207"/>
          <p:cNvSpPr/>
          <p:nvPr/>
        </p:nvSpPr>
        <p:spPr>
          <a:xfrm>
            <a:off x="1295400" y="7366000"/>
            <a:ext cx="15697200" cy="165100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BFC8E6"/>
            </a:solidFill>
          </a:ln>
        </p:spPr>
        <p:txBody>
          <a:bodyPr wrap="square" lIns="254000" tIns="254000" rIns="254000" bIns="25400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적용 원칙</a:t>
            </a:r>
            <a:endParaRPr lang="ko-KR" sz="18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Yeo-Johnson은 0과 음수에도 적용되고 변수별 최적 λ를 추정해, 하한값에 민감한 로그 변환보다 안정적</a:t>
            </a:r>
            <a:endParaRPr lang="ko-KR" sz="16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누수 방지: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채널예측 단계에서는 변환·PCA·군집화를 Train에만 fit한 뒤 Test에 적용</a:t>
            </a:r>
            <a:endParaRPr lang="ko-KR" sz="1600" dirty="0"/>
          </a:p>
        </p:txBody>
      </p:sp>
      <p:sp>
        <p:nvSpPr>
          <p:cNvPr id="6" name="Box 201"/>
          <p:cNvSpPr/>
          <p:nvPr/>
        </p:nvSpPr>
        <p:spPr>
          <a:xfrm>
            <a:off x="1295400" y="2540000"/>
            <a:ext cx="10414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변수별 왜도 · 0에 가까울수록 대칭</a:t>
            </a:r>
            <a:endParaRPr lang="ko-KR" sz="1600" dirty="0"/>
          </a:p>
        </p:txBody>
      </p:sp>
      <p:graphicFrame>
        <p:nvGraphicFramePr>
          <p:cNvPr id="202" name="Table 202"/>
          <p:cNvGraphicFramePr>
            <a:graphicFrameLocks noGrp="1"/>
          </p:cNvGraphicFramePr>
          <p:nvPr/>
        </p:nvGraphicFramePr>
        <p:xfrm>
          <a:off x="1295400" y="2997200"/>
          <a:ext cx="10414000" cy="3911600"/>
        </p:xfrm>
        <a:graphic>
          <a:graphicData uri="http://schemas.openxmlformats.org/drawingml/2006/table">
            <a:tbl>
              <a:tblPr firstRow="1"/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원본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로그 변환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Yeo-Johnson (채택)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Fresh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2.55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-1.62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-0.04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Milk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4.04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-0.23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Grocery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3.58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-0.74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0.03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Frozen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5.89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-0.36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Detergents_Paper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3.62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-0.27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-0.02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Delicassen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11.11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-1.17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0.10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3" name="Box 203"/>
          <p:cNvSpPr/>
          <p:nvPr/>
        </p:nvSpPr>
        <p:spPr>
          <a:xfrm>
            <a:off x="1295400" y="6959600"/>
            <a:ext cx="1041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음영: 로그 변환 후 왜도가 음수로 크게 넘어간(과보정) 변수</a:t>
            </a:r>
            <a:endParaRPr lang="ko-KR" sz="1300" dirty="0"/>
          </a:p>
        </p:txBody>
      </p:sp>
      <p:sp>
        <p:nvSpPr>
          <p:cNvPr id="204" name="Box 204"/>
          <p:cNvSpPr/>
          <p:nvPr/>
        </p:nvSpPr>
        <p:spPr>
          <a:xfrm>
            <a:off x="12065000" y="2540000"/>
            <a:ext cx="4927600" cy="43815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5" name="Box 205"/>
          <p:cNvSpPr/>
          <p:nvPr/>
        </p:nvSpPr>
        <p:spPr>
          <a:xfrm>
            <a:off x="12344400" y="2768600"/>
            <a:ext cx="43688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원본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6개 변수 모두 오른쪽 꼬리 (왜도 2.55~11.11)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140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 변환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대부분 개선되지만 Fresh·Delicassen은 음수로 과보정: 하한 </a:t>
            </a:r>
            <a:r>
              <a:rPr lang="ko-KR" altLang="en-US" sz="1600" dirty="0" err="1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절단값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3(</a:t>
            </a:r>
            <a:r>
              <a:rPr lang="en-US" altLang="ko-KR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쪽) 영향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1400"/>
              </a:spcBef>
              <a:buNone/>
            </a:pPr>
            <a:r>
              <a:rPr lang="ko-KR" altLang="en-US" sz="1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Yeo-Johnson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6개 모두 </a:t>
            </a: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±0.1 이내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대칭에 가까워져 채택</a:t>
            </a:r>
            <a:endParaRPr lang="ko-KR" sz="1600" dirty="0"/>
          </a:p>
        </p:txBody>
      </p:sp>
    </p:spTree>
    <p:extLst>
      <p:ext uri="{BB962C8B-B14F-4D97-AF65-F5344CB8AC3E}">
        <p14:creationId xmlns:p14="http://schemas.microsoft.com/office/powerpoint/2010/main" val="3435974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02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PCA 차원 축소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1295400" y="1752600"/>
            <a:ext cx="15697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주성분 3개로 전체 분산의 83.1%를 설명한다</a:t>
            </a:r>
            <a:endParaRPr lang="ko-KR" sz="2200" dirty="0"/>
          </a:p>
        </p:txBody>
      </p:sp>
      <p:sp>
        <p:nvSpPr>
          <p:cNvPr id="202" name="Box 202"/>
          <p:cNvSpPr/>
          <p:nvPr/>
        </p:nvSpPr>
        <p:spPr>
          <a:xfrm>
            <a:off x="1295400" y="2540000"/>
            <a:ext cx="685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주성분별 설명력, %</a:t>
            </a:r>
            <a:endParaRPr lang="ko-KR" sz="1600" dirty="0"/>
          </a:p>
        </p:txBody>
      </p:sp>
      <p:graphicFrame>
        <p:nvGraphicFramePr>
          <p:cNvPr id="203" name="Table 203"/>
          <p:cNvGraphicFramePr>
            <a:graphicFrameLocks noGrp="1"/>
          </p:cNvGraphicFramePr>
          <p:nvPr/>
        </p:nvGraphicFramePr>
        <p:xfrm>
          <a:off x="8890000" y="2730500"/>
          <a:ext cx="8102600" cy="4165600"/>
        </p:xfrm>
        <a:graphic>
          <a:graphicData uri="http://schemas.openxmlformats.org/drawingml/2006/table">
            <a:tbl>
              <a:tblPr firstRow="1"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주성분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설명력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구성 변수 (해석)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PC1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44.9%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Milk · Grocery · Detergents_Paper</a:t>
                      </a:r>
                      <a:endParaRPr lang="ko-KR" sz="16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식료품·유제품·세제/종이류 축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PC2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28.0%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Fresh · Frozen · Delicassen</a:t>
                      </a:r>
                      <a:endParaRPr lang="ko-KR" sz="16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신선·냉동·즉석식품 축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PC3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10.2%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Fresh(+) vs Delicassen(−)</a:t>
                      </a:r>
                      <a:endParaRPr lang="ko-KR" sz="16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신선식품 대 즉석식품 대비 축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누적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83.1%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6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3개 주성분으로 군집분석 수행</a:t>
                      </a:r>
                      <a:endParaRPr lang="ko-KR" sz="16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4" name="Box 204"/>
          <p:cNvSpPr/>
          <p:nvPr/>
        </p:nvSpPr>
        <p:spPr>
          <a:xfrm>
            <a:off x="8890000" y="7112000"/>
            <a:ext cx="8102600" cy="19050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PC1이 EDA에서 채널 판별력이 가장 컸던 </a:t>
            </a: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Retail 품목 3개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묶은 축으로, 전체 분산의 44.9%를 설명</a:t>
            </a:r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PC1만 쓰면 신선·냉동 축(PC2)과 신선 대 즉석식품 축(PC3) 정보가 빠지므로, 군집분석에는 </a:t>
            </a: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PC1~PC3을 함께 사용</a:t>
            </a:r>
            <a:endParaRPr lang="ko-KR" sz="1600" dirty="0"/>
          </a:p>
        </p:txBody>
      </p:sp>
      <p:graphicFrame>
        <p:nvGraphicFramePr>
          <p:cNvPr id="205" name="Chart"/>
          <p:cNvGraphicFramePr/>
          <p:nvPr/>
        </p:nvGraphicFramePr>
        <p:xfrm>
          <a:off x="1295400" y="2984500"/>
          <a:ext cx="6858000" cy="586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084443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06B63-7661-C25F-F424-C1B97C243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0FE1ABA-834A-490A-A41A-E8AD13921B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54031A8-1628-5631-30EC-9B56926288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1E6D7F73-FE18-9B56-211C-9B65735436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DD67A2F6-D838-FDCA-05FE-B172C0788A76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03</a:t>
            </a:r>
            <a:endParaRPr lang="en-US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263DB89-CBB0-D512-D9F2-C0F28E85CEC3}"/>
              </a:ext>
            </a:extLst>
          </p:cNvPr>
          <p:cNvSpPr txBox="1"/>
          <p:nvPr/>
        </p:nvSpPr>
        <p:spPr>
          <a:xfrm>
            <a:off x="1905000" y="3683000"/>
            <a:ext cx="7112000" cy="25400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5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군집분석</a:t>
            </a:r>
            <a:endParaRPr lang="ko-KR" sz="54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885FBD-9ACB-60EB-5951-CDB068871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  <p:cxnSp>
        <p:nvCxnSpPr>
          <p:cNvPr id="201" name="Line 201"/>
          <p:cNvCxnSpPr/>
          <p:nvPr/>
        </p:nvCxnSpPr>
        <p:spPr>
          <a:xfrm>
            <a:off x="9398000" y="3175000"/>
            <a:ext cx="0" cy="3937000"/>
          </a:xfrm>
          <a:prstGeom prst="line">
            <a:avLst/>
          </a:prstGeom>
          <a:ln w="19050">
            <a:solidFill>
              <a:srgbClr val="BFC8E6"/>
            </a:solidFill>
          </a:ln>
        </p:spPr>
      </p:cxnSp>
      <p:sp>
        <p:nvSpPr>
          <p:cNvPr id="202" name="Box 202"/>
          <p:cNvSpPr/>
          <p:nvPr/>
        </p:nvSpPr>
        <p:spPr>
          <a:xfrm>
            <a:off x="10033000" y="3302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800" dirty="0"/>
          </a:p>
        </p:txBody>
      </p:sp>
      <p:sp>
        <p:nvSpPr>
          <p:cNvPr id="203" name="Box 203"/>
          <p:cNvSpPr/>
          <p:nvPr/>
        </p:nvSpPr>
        <p:spPr>
          <a:xfrm>
            <a:off x="10922000" y="3175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 선택: 시드 안정성</a:t>
            </a:r>
            <a:endParaRPr lang="ko-KR" sz="2400" b="1" dirty="0"/>
          </a:p>
        </p:txBody>
      </p:sp>
      <p:sp>
        <p:nvSpPr>
          <p:cNvPr id="204" name="Box 204"/>
          <p:cNvSpPr/>
          <p:nvPr/>
        </p:nvSpPr>
        <p:spPr>
          <a:xfrm>
            <a:off x="10033000" y="4318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800" dirty="0"/>
          </a:p>
        </p:txBody>
      </p:sp>
      <p:sp>
        <p:nvSpPr>
          <p:cNvPr id="205" name="Box 205"/>
          <p:cNvSpPr/>
          <p:nvPr/>
        </p:nvSpPr>
        <p:spPr>
          <a:xfrm>
            <a:off x="10922000" y="4191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페르소나 4종</a:t>
            </a:r>
            <a:endParaRPr lang="ko-KR" sz="2400" b="1" dirty="0"/>
          </a:p>
        </p:txBody>
      </p:sp>
      <p:sp>
        <p:nvSpPr>
          <p:cNvPr id="206" name="Box 206"/>
          <p:cNvSpPr/>
          <p:nvPr/>
        </p:nvSpPr>
        <p:spPr>
          <a:xfrm>
            <a:off x="10033000" y="5334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sz="1800" dirty="0"/>
          </a:p>
        </p:txBody>
      </p:sp>
      <p:sp>
        <p:nvSpPr>
          <p:cNvPr id="207" name="Box 207"/>
          <p:cNvSpPr/>
          <p:nvPr/>
        </p:nvSpPr>
        <p:spPr>
          <a:xfrm>
            <a:off x="10922000" y="5207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페르소나별 채널 구성</a:t>
            </a:r>
            <a:endParaRPr 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1735810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03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군집 수(k) 선택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02" name="Box 202"/>
          <p:cNvSpPr/>
          <p:nvPr/>
        </p:nvSpPr>
        <p:spPr>
          <a:xfrm>
            <a:off x="1295400" y="1892300"/>
            <a:ext cx="5588000" cy="59817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304800" tIns="304800" rIns="304800" bIns="30480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① 기존 지표</a:t>
            </a:r>
            <a:endParaRPr lang="ko-KR" sz="2000" dirty="0"/>
          </a:p>
        </p:txBody>
      </p:sp>
      <p:sp>
        <p:nvSpPr>
          <p:cNvPr id="207" name="Box 207"/>
          <p:cNvSpPr/>
          <p:nvPr/>
        </p:nvSpPr>
        <p:spPr>
          <a:xfrm>
            <a:off x="7112000" y="2603500"/>
            <a:ext cx="9880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② 시드별 군집 결과 일치도</a:t>
            </a:r>
            <a:r>
              <a:rPr lang="en-US" altLang="ko-KR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(ARI)</a:t>
            </a:r>
            <a:endParaRPr lang="ko-KR" sz="2000" dirty="0"/>
          </a:p>
        </p:txBody>
      </p:sp>
      <p:cxnSp>
        <p:nvCxnSpPr>
          <p:cNvPr id="208" name="Line 208"/>
          <p:cNvCxnSpPr/>
          <p:nvPr/>
        </p:nvCxnSpPr>
        <p:spPr>
          <a:xfrm>
            <a:off x="8890000" y="3429000"/>
            <a:ext cx="0" cy="3175000"/>
          </a:xfrm>
          <a:prstGeom prst="line">
            <a:avLst/>
          </a:prstGeom>
          <a:ln w="12700">
            <a:solidFill>
              <a:srgbClr val="E0E0E0"/>
            </a:solidFill>
          </a:ln>
        </p:spPr>
      </p:cxnSp>
      <p:sp>
        <p:nvSpPr>
          <p:cNvPr id="209" name="Box 209"/>
          <p:cNvSpPr/>
          <p:nvPr/>
        </p:nvSpPr>
        <p:spPr>
          <a:xfrm>
            <a:off x="8509000" y="6667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0.4</a:t>
            </a:r>
            <a:endParaRPr lang="ko-KR" sz="1400" dirty="0"/>
          </a:p>
        </p:txBody>
      </p:sp>
      <p:cxnSp>
        <p:nvCxnSpPr>
          <p:cNvPr id="210" name="Line 210"/>
          <p:cNvCxnSpPr/>
          <p:nvPr/>
        </p:nvCxnSpPr>
        <p:spPr>
          <a:xfrm>
            <a:off x="11430000" y="3429000"/>
            <a:ext cx="0" cy="3175000"/>
          </a:xfrm>
          <a:prstGeom prst="line">
            <a:avLst/>
          </a:prstGeom>
          <a:ln w="12700">
            <a:solidFill>
              <a:srgbClr val="E0E0E0"/>
            </a:solidFill>
          </a:ln>
        </p:spPr>
      </p:cxnSp>
      <p:sp>
        <p:nvSpPr>
          <p:cNvPr id="211" name="Box 211"/>
          <p:cNvSpPr/>
          <p:nvPr/>
        </p:nvSpPr>
        <p:spPr>
          <a:xfrm>
            <a:off x="11049000" y="6667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0.6</a:t>
            </a:r>
            <a:endParaRPr lang="ko-KR" sz="1400" dirty="0"/>
          </a:p>
        </p:txBody>
      </p:sp>
      <p:cxnSp>
        <p:nvCxnSpPr>
          <p:cNvPr id="212" name="Line 212"/>
          <p:cNvCxnSpPr/>
          <p:nvPr/>
        </p:nvCxnSpPr>
        <p:spPr>
          <a:xfrm>
            <a:off x="13970000" y="3429000"/>
            <a:ext cx="0" cy="3175000"/>
          </a:xfrm>
          <a:prstGeom prst="line">
            <a:avLst/>
          </a:prstGeom>
          <a:ln w="12700">
            <a:solidFill>
              <a:srgbClr val="E0E0E0"/>
            </a:solidFill>
          </a:ln>
        </p:spPr>
      </p:cxnSp>
      <p:sp>
        <p:nvSpPr>
          <p:cNvPr id="213" name="Box 213"/>
          <p:cNvSpPr/>
          <p:nvPr/>
        </p:nvSpPr>
        <p:spPr>
          <a:xfrm>
            <a:off x="13589000" y="6667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0.8</a:t>
            </a:r>
            <a:endParaRPr lang="ko-KR" sz="1400" dirty="0"/>
          </a:p>
        </p:txBody>
      </p:sp>
      <p:cxnSp>
        <p:nvCxnSpPr>
          <p:cNvPr id="214" name="Line 214"/>
          <p:cNvCxnSpPr/>
          <p:nvPr/>
        </p:nvCxnSpPr>
        <p:spPr>
          <a:xfrm>
            <a:off x="16510000" y="3429000"/>
            <a:ext cx="0" cy="3175000"/>
          </a:xfrm>
          <a:prstGeom prst="line">
            <a:avLst/>
          </a:prstGeom>
          <a:ln w="12700">
            <a:solidFill>
              <a:srgbClr val="E0E0E0"/>
            </a:solidFill>
          </a:ln>
        </p:spPr>
      </p:cxnSp>
      <p:sp>
        <p:nvSpPr>
          <p:cNvPr id="215" name="Box 215"/>
          <p:cNvSpPr/>
          <p:nvPr/>
        </p:nvSpPr>
        <p:spPr>
          <a:xfrm>
            <a:off x="16129000" y="6667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1.0</a:t>
            </a:r>
            <a:endParaRPr lang="ko-KR" sz="1400" dirty="0"/>
          </a:p>
        </p:txBody>
      </p:sp>
      <p:sp>
        <p:nvSpPr>
          <p:cNvPr id="216" name="Box 216"/>
          <p:cNvSpPr/>
          <p:nvPr/>
        </p:nvSpPr>
        <p:spPr>
          <a:xfrm>
            <a:off x="7366000" y="3911600"/>
            <a:ext cx="127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k=4</a:t>
            </a:r>
            <a:endParaRPr lang="ko-KR" sz="2200" dirty="0"/>
          </a:p>
        </p:txBody>
      </p:sp>
      <p:sp>
        <p:nvSpPr>
          <p:cNvPr id="217" name="Box 217"/>
          <p:cNvSpPr/>
          <p:nvPr/>
        </p:nvSpPr>
        <p:spPr>
          <a:xfrm>
            <a:off x="14478000" y="40767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8" name="Box 218"/>
          <p:cNvSpPr/>
          <p:nvPr/>
        </p:nvSpPr>
        <p:spPr>
          <a:xfrm>
            <a:off x="14363700" y="4038600"/>
            <a:ext cx="304800" cy="304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9" name="Box 219"/>
          <p:cNvSpPr/>
          <p:nvPr/>
        </p:nvSpPr>
        <p:spPr>
          <a:xfrm>
            <a:off x="15176500" y="4038600"/>
            <a:ext cx="304800" cy="304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20" name="Box 220"/>
          <p:cNvSpPr/>
          <p:nvPr/>
        </p:nvSpPr>
        <p:spPr>
          <a:xfrm>
            <a:off x="14478000" y="3556000"/>
            <a:ext cx="2413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0.84~0.91 · 안정</a:t>
            </a:r>
            <a:endParaRPr lang="ko-KR" sz="1600" dirty="0"/>
          </a:p>
        </p:txBody>
      </p:sp>
      <p:sp>
        <p:nvSpPr>
          <p:cNvPr id="221" name="Box 221"/>
          <p:cNvSpPr/>
          <p:nvPr/>
        </p:nvSpPr>
        <p:spPr>
          <a:xfrm>
            <a:off x="7366000" y="5435600"/>
            <a:ext cx="127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k=5</a:t>
            </a:r>
            <a:endParaRPr lang="ko-KR" sz="2200" dirty="0"/>
          </a:p>
        </p:txBody>
      </p:sp>
      <p:sp>
        <p:nvSpPr>
          <p:cNvPr id="222" name="Box 222"/>
          <p:cNvSpPr/>
          <p:nvPr/>
        </p:nvSpPr>
        <p:spPr>
          <a:xfrm>
            <a:off x="9906000" y="5600700"/>
            <a:ext cx="6223000" cy="228600"/>
          </a:xfrm>
          <a:prstGeom prst="roundRect">
            <a:avLst>
              <a:gd name="adj" fmla="val 50000"/>
            </a:avLst>
          </a:prstGeom>
          <a:solidFill>
            <a:srgbClr val="A6A6A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23" name="Box 223"/>
          <p:cNvSpPr/>
          <p:nvPr/>
        </p:nvSpPr>
        <p:spPr>
          <a:xfrm>
            <a:off x="9791700" y="5562600"/>
            <a:ext cx="304800" cy="3048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24" name="Box 224"/>
          <p:cNvSpPr/>
          <p:nvPr/>
        </p:nvSpPr>
        <p:spPr>
          <a:xfrm>
            <a:off x="15938500" y="5562600"/>
            <a:ext cx="304800" cy="3048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25" name="Box 225"/>
          <p:cNvSpPr/>
          <p:nvPr/>
        </p:nvSpPr>
        <p:spPr>
          <a:xfrm>
            <a:off x="9906000" y="5080000"/>
            <a:ext cx="6223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0.48~0.97 · 요동</a:t>
            </a:r>
            <a:endParaRPr lang="ko-KR" sz="1600" dirty="0"/>
          </a:p>
        </p:txBody>
      </p:sp>
      <p:sp>
        <p:nvSpPr>
          <p:cNvPr id="226" name="Box 226"/>
          <p:cNvSpPr/>
          <p:nvPr/>
        </p:nvSpPr>
        <p:spPr>
          <a:xfrm>
            <a:off x="7112000" y="7175500"/>
            <a:ext cx="9880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ARI 1.0 = 시드가 달라도 군집 결과가 완전히 동일</a:t>
            </a:r>
            <a:endParaRPr lang="ko-KR" sz="1400" dirty="0"/>
          </a:p>
        </p:txBody>
      </p:sp>
      <p:sp>
        <p:nvSpPr>
          <p:cNvPr id="227" name="Box 227"/>
          <p:cNvSpPr/>
          <p:nvPr/>
        </p:nvSpPr>
        <p:spPr>
          <a:xfrm>
            <a:off x="1295400" y="8258174"/>
            <a:ext cx="15697200" cy="1016000"/>
          </a:xfrm>
          <a:prstGeom prst="roundRect">
            <a:avLst>
              <a:gd name="adj" fmla="val 8000"/>
            </a:avLst>
          </a:prstGeom>
          <a:solidFill>
            <a:srgbClr val="4A5BA3"/>
          </a:solidFill>
          <a:ln>
            <a:noFill/>
          </a:ln>
        </p:spPr>
        <p:txBody>
          <a:bodyPr wrap="square" lIns="279400" tIns="279400" rIns="279400" bIns="2794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결론: 재현성 기준으로 </a:t>
            </a:r>
            <a:r>
              <a:rPr lang="ko-KR" altLang="en-US"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k=4</a:t>
            </a:r>
            <a:r>
              <a:rPr lang="ko-KR" altLang="en-US" sz="20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최종 채택 (단, 실루엣 0.281로 군집 경계는 뚜렷하지 않음)</a:t>
            </a:r>
            <a:endParaRPr lang="ko-KR" sz="2000" dirty="0"/>
          </a:p>
        </p:txBody>
      </p:sp>
      <p:graphicFrame>
        <p:nvGraphicFramePr>
          <p:cNvPr id="6" name="Table 201"/>
          <p:cNvGraphicFramePr>
            <a:graphicFrameLocks noGrp="1"/>
          </p:cNvGraphicFramePr>
          <p:nvPr/>
        </p:nvGraphicFramePr>
        <p:xfrm>
          <a:off x="1447800" y="2686050"/>
          <a:ext cx="5283200" cy="2590800"/>
        </p:xfrm>
        <a:graphic>
          <a:graphicData uri="http://schemas.openxmlformats.org/drawingml/2006/table">
            <a:tbl>
              <a:tblPr firstRow="1"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altLang="ko-KR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Elbow</a:t>
                      </a: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SSE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감소량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실루엣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균형지수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1,363.6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0.358</a:t>
                      </a:r>
                      <a:endParaRPr lang="ko-KR" sz="1400" b="1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0.725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1,067.5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296.1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0.319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0.459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906.8</a:t>
                      </a:r>
                      <a:endParaRPr lang="ko-KR" sz="1400" b="1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160.6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0.281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0.602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802.8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104.1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0.254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0.804</a:t>
                      </a:r>
                      <a:endParaRPr lang="ko-KR" sz="1400" b="1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724.9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77.9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0.244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0.365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Box 202"/>
          <p:cNvSpPr/>
          <p:nvPr/>
        </p:nvSpPr>
        <p:spPr>
          <a:xfrm>
            <a:off x="1447800" y="6731000"/>
            <a:ext cx="5283200" cy="104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엘보우는 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k=4</a:t>
            </a: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실루엣은 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k=2</a:t>
            </a: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균형지수는 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k=5</a:t>
            </a: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가리킨다</a:t>
            </a:r>
            <a:r>
              <a:rPr lang="en-US" altLang="ko-KR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sz="1500" dirty="0"/>
          </a:p>
          <a:p>
            <a:pPr marL="285750" indent="-285750" algn="l">
              <a:lnSpc>
                <a:spcPct val="110000"/>
              </a:lnSpc>
              <a:spcBef>
                <a:spcPts val="4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k=2는 PC1 구조를 그대로 반영해 Channel을 복제할 위험이 있다 → </a:t>
            </a:r>
            <a:r>
              <a:rPr lang="ko-KR" altLang="en-US" sz="1500" dirty="0" err="1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시드</a:t>
            </a: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안정성 </a:t>
            </a:r>
            <a:r>
              <a:rPr lang="ko-KR" altLang="en-US" sz="1500" b="1" dirty="0" err="1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ARI로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최종 판단</a:t>
            </a:r>
            <a:endParaRPr lang="ko-KR" sz="1500" dirty="0"/>
          </a:p>
        </p:txBody>
      </p:sp>
      <p:sp>
        <p:nvSpPr>
          <p:cNvPr id="201" name="Box 201"/>
          <p:cNvSpPr/>
          <p:nvPr/>
        </p:nvSpPr>
        <p:spPr>
          <a:xfrm>
            <a:off x="1281112" y="7900987"/>
            <a:ext cx="1435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균형지수: 실루엣 플롯에서 군집별 면적 중 가장 작은 군집의 상대 면적(최소상대면적). 1에 가까울수록 군집 크기가 고르게 나뉜다</a:t>
            </a:r>
            <a:r>
              <a:rPr lang="en-US" altLang="ko-KR" sz="12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sz="1200" dirty="0"/>
          </a:p>
        </p:txBody>
      </p:sp>
      <p:graphicFrame>
        <p:nvGraphicFramePr>
          <p:cNvPr id="8" name="Table 201"/>
          <p:cNvGraphicFramePr>
            <a:graphicFrameLocks noGrp="1"/>
          </p:cNvGraphicFramePr>
          <p:nvPr/>
        </p:nvGraphicFramePr>
        <p:xfrm>
          <a:off x="1447800" y="5740400"/>
          <a:ext cx="5283200" cy="853440"/>
        </p:xfrm>
        <a:graphic>
          <a:graphicData uri="http://schemas.openxmlformats.org/drawingml/2006/table">
            <a:tbl>
              <a:tblPr firstRow="1"/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k=2 군집</a:t>
                      </a:r>
                      <a:endParaRPr lang="ko-KR" sz="12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</a:t>
                      </a:r>
                      <a:endParaRPr lang="ko-KR" sz="12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</a:t>
                      </a:r>
                      <a:endParaRPr lang="ko-KR" sz="12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합계</a:t>
                      </a:r>
                      <a:endParaRPr lang="ko-KR" sz="12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군집 0</a:t>
                      </a:r>
                      <a:endParaRPr lang="ko-KR" sz="12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248 (96.5%)</a:t>
                      </a:r>
                      <a:endParaRPr lang="ko-KR" sz="12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sz="12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257</a:t>
                      </a:r>
                      <a:endParaRPr lang="ko-KR" sz="12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군집 1</a:t>
                      </a:r>
                      <a:endParaRPr lang="ko-KR" sz="12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  <a:endParaRPr lang="ko-KR" sz="12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133 (72.7%)</a:t>
                      </a:r>
                      <a:endParaRPr lang="ko-KR" sz="12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183</a:t>
                      </a:r>
                      <a:endParaRPr lang="ko-KR" sz="12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Box 202"/>
          <p:cNvSpPr/>
          <p:nvPr/>
        </p:nvSpPr>
        <p:spPr>
          <a:xfrm>
            <a:off x="1447800" y="5410200"/>
            <a:ext cx="5283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k=2 군집 × Channel 교차표</a:t>
            </a:r>
            <a:r>
              <a:rPr lang="ko-KR" altLang="en-US" sz="13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·  일치율 86.6%</a:t>
            </a:r>
            <a:endParaRPr lang="ko-KR" sz="1400" dirty="0"/>
          </a:p>
        </p:txBody>
      </p:sp>
    </p:spTree>
    <p:extLst>
      <p:ext uri="{BB962C8B-B14F-4D97-AF65-F5344CB8AC3E}">
        <p14:creationId xmlns:p14="http://schemas.microsoft.com/office/powerpoint/2010/main" val="4138473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03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고객 페르소나 4종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02" name="Box 202"/>
          <p:cNvSpPr/>
          <p:nvPr/>
        </p:nvSpPr>
        <p:spPr>
          <a:xfrm>
            <a:off x="1295400" y="2603500"/>
            <a:ext cx="3695700" cy="64135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3" name="Box 203"/>
          <p:cNvSpPr/>
          <p:nvPr/>
        </p:nvSpPr>
        <p:spPr>
          <a:xfrm>
            <a:off x="1549400" y="2819400"/>
            <a:ext cx="889000" cy="431800"/>
          </a:xfrm>
          <a:prstGeom prst="roundRect">
            <a:avLst>
              <a:gd name="adj" fmla="val 50000"/>
            </a:avLst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C0</a:t>
            </a:r>
            <a:endParaRPr lang="ko-KR" sz="1800" dirty="0"/>
          </a:p>
        </p:txBody>
      </p:sp>
      <p:sp>
        <p:nvSpPr>
          <p:cNvPr id="204" name="Box 204"/>
          <p:cNvSpPr/>
          <p:nvPr/>
        </p:nvSpPr>
        <p:spPr>
          <a:xfrm>
            <a:off x="1549400" y="3378200"/>
            <a:ext cx="31877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소량 신선식품 중심형</a:t>
            </a:r>
            <a:endParaRPr lang="ko-KR" sz="2000" dirty="0"/>
          </a:p>
        </p:txBody>
      </p:sp>
      <p:cxnSp>
        <p:nvCxnSpPr>
          <p:cNvPr id="205" name="Line 205"/>
          <p:cNvCxnSpPr/>
          <p:nvPr/>
        </p:nvCxnSpPr>
        <p:spPr>
          <a:xfrm>
            <a:off x="1549400" y="4572000"/>
            <a:ext cx="3187700" cy="0"/>
          </a:xfrm>
          <a:prstGeom prst="line">
            <a:avLst/>
          </a:prstGeom>
          <a:ln w="12700">
            <a:solidFill>
              <a:srgbClr val="BFC8E6"/>
            </a:solidFill>
          </a:ln>
        </p:spPr>
      </p:cxnSp>
      <p:sp>
        <p:nvSpPr>
          <p:cNvPr id="206" name="Box 206"/>
          <p:cNvSpPr/>
          <p:nvPr/>
        </p:nvSpPr>
        <p:spPr>
          <a:xfrm>
            <a:off x="1549400" y="4699000"/>
            <a:ext cx="31877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수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181명 (41%)</a:t>
            </a:r>
            <a:endParaRPr lang="ko-KR" sz="2000" dirty="0"/>
          </a:p>
        </p:txBody>
      </p:sp>
      <p:sp>
        <p:nvSpPr>
          <p:cNvPr id="207" name="Box 207"/>
          <p:cNvSpPr/>
          <p:nvPr/>
        </p:nvSpPr>
        <p:spPr>
          <a:xfrm>
            <a:off x="1549400" y="5524500"/>
            <a:ext cx="31877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총구매액 중앙값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17,415</a:t>
            </a:r>
            <a:endParaRPr lang="ko-KR" sz="2000" dirty="0"/>
          </a:p>
        </p:txBody>
      </p:sp>
      <p:sp>
        <p:nvSpPr>
          <p:cNvPr id="209" name="Box 209"/>
          <p:cNvSpPr/>
          <p:nvPr/>
        </p:nvSpPr>
        <p:spPr>
          <a:xfrm>
            <a:off x="1549400" y="7785100"/>
            <a:ext cx="31877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 : Retail</a:t>
            </a:r>
            <a:endParaRPr lang="ko-KR" sz="1400" dirty="0"/>
          </a:p>
        </p:txBody>
      </p:sp>
      <p:sp>
        <p:nvSpPr>
          <p:cNvPr id="210" name="Box 210"/>
          <p:cNvSpPr/>
          <p:nvPr/>
        </p:nvSpPr>
        <p:spPr>
          <a:xfrm>
            <a:off x="1549400" y="8128000"/>
            <a:ext cx="3133509" cy="279400"/>
          </a:xfrm>
          <a:prstGeom prst="rect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1" name="Box 211"/>
          <p:cNvSpPr/>
          <p:nvPr/>
        </p:nvSpPr>
        <p:spPr>
          <a:xfrm>
            <a:off x="4682909" y="8128000"/>
            <a:ext cx="54191" cy="2794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2" name="Box 212"/>
          <p:cNvSpPr/>
          <p:nvPr/>
        </p:nvSpPr>
        <p:spPr>
          <a:xfrm>
            <a:off x="1549400" y="8483600"/>
            <a:ext cx="31877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98.3% : 1.7%</a:t>
            </a:r>
            <a:endParaRPr lang="ko-KR" sz="1600" dirty="0"/>
          </a:p>
        </p:txBody>
      </p:sp>
      <p:sp>
        <p:nvSpPr>
          <p:cNvPr id="213" name="Box 213"/>
          <p:cNvSpPr/>
          <p:nvPr/>
        </p:nvSpPr>
        <p:spPr>
          <a:xfrm>
            <a:off x="5295900" y="2603500"/>
            <a:ext cx="3695700" cy="64135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4" name="Box 214"/>
          <p:cNvSpPr/>
          <p:nvPr/>
        </p:nvSpPr>
        <p:spPr>
          <a:xfrm>
            <a:off x="5549900" y="2819400"/>
            <a:ext cx="889000" cy="431800"/>
          </a:xfrm>
          <a:prstGeom prst="roundRect">
            <a:avLst>
              <a:gd name="adj" fmla="val 50000"/>
            </a:avLst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C1</a:t>
            </a:r>
            <a:endParaRPr lang="ko-KR" sz="1800" dirty="0"/>
          </a:p>
        </p:txBody>
      </p:sp>
      <p:sp>
        <p:nvSpPr>
          <p:cNvPr id="215" name="Box 215"/>
          <p:cNvSpPr/>
          <p:nvPr/>
        </p:nvSpPr>
        <p:spPr>
          <a:xfrm>
            <a:off x="5549900" y="3378200"/>
            <a:ext cx="31877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 규모 식료품·유제품·세제/종이류 중심형</a:t>
            </a:r>
            <a:endParaRPr lang="ko-KR" sz="2000" dirty="0"/>
          </a:p>
        </p:txBody>
      </p:sp>
      <p:cxnSp>
        <p:nvCxnSpPr>
          <p:cNvPr id="216" name="Line 216"/>
          <p:cNvCxnSpPr/>
          <p:nvPr/>
        </p:nvCxnSpPr>
        <p:spPr>
          <a:xfrm>
            <a:off x="5549900" y="4572000"/>
            <a:ext cx="3187700" cy="0"/>
          </a:xfrm>
          <a:prstGeom prst="line">
            <a:avLst/>
          </a:prstGeom>
          <a:ln w="12700">
            <a:solidFill>
              <a:srgbClr val="BFC8E6"/>
            </a:solidFill>
          </a:ln>
        </p:spPr>
      </p:cxnSp>
      <p:sp>
        <p:nvSpPr>
          <p:cNvPr id="217" name="Box 217"/>
          <p:cNvSpPr/>
          <p:nvPr/>
        </p:nvSpPr>
        <p:spPr>
          <a:xfrm>
            <a:off x="5549900" y="4699000"/>
            <a:ext cx="31877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수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78명 (18%)</a:t>
            </a:r>
            <a:endParaRPr lang="ko-KR" sz="2000" dirty="0"/>
          </a:p>
        </p:txBody>
      </p:sp>
      <p:sp>
        <p:nvSpPr>
          <p:cNvPr id="218" name="Box 218"/>
          <p:cNvSpPr/>
          <p:nvPr/>
        </p:nvSpPr>
        <p:spPr>
          <a:xfrm>
            <a:off x="5549900" y="5524500"/>
            <a:ext cx="31877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총구매액 중앙값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26,498</a:t>
            </a:r>
            <a:endParaRPr lang="ko-KR" sz="2000" dirty="0"/>
          </a:p>
        </p:txBody>
      </p:sp>
      <p:sp>
        <p:nvSpPr>
          <p:cNvPr id="220" name="Box 220"/>
          <p:cNvSpPr/>
          <p:nvPr/>
        </p:nvSpPr>
        <p:spPr>
          <a:xfrm>
            <a:off x="5549900" y="7785100"/>
            <a:ext cx="31877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 : Retail</a:t>
            </a:r>
            <a:endParaRPr lang="ko-KR" sz="1400" dirty="0"/>
          </a:p>
        </p:txBody>
      </p:sp>
      <p:sp>
        <p:nvSpPr>
          <p:cNvPr id="221" name="Box 221"/>
          <p:cNvSpPr/>
          <p:nvPr/>
        </p:nvSpPr>
        <p:spPr>
          <a:xfrm>
            <a:off x="5549900" y="8128000"/>
            <a:ext cx="1348397" cy="279400"/>
          </a:xfrm>
          <a:prstGeom prst="rect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22" name="Box 222"/>
          <p:cNvSpPr/>
          <p:nvPr/>
        </p:nvSpPr>
        <p:spPr>
          <a:xfrm>
            <a:off x="6898297" y="8128000"/>
            <a:ext cx="1839303" cy="2794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23" name="Box 223"/>
          <p:cNvSpPr/>
          <p:nvPr/>
        </p:nvSpPr>
        <p:spPr>
          <a:xfrm>
            <a:off x="5549900" y="8483600"/>
            <a:ext cx="31877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42.3% : 57.7%</a:t>
            </a:r>
            <a:endParaRPr lang="ko-KR" sz="1600" dirty="0"/>
          </a:p>
        </p:txBody>
      </p:sp>
      <p:sp>
        <p:nvSpPr>
          <p:cNvPr id="224" name="Box 224"/>
          <p:cNvSpPr/>
          <p:nvPr/>
        </p:nvSpPr>
        <p:spPr>
          <a:xfrm>
            <a:off x="9296400" y="2603500"/>
            <a:ext cx="3695700" cy="64135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25" name="Box 225"/>
          <p:cNvSpPr/>
          <p:nvPr/>
        </p:nvSpPr>
        <p:spPr>
          <a:xfrm>
            <a:off x="9550400" y="2819400"/>
            <a:ext cx="889000" cy="431800"/>
          </a:xfrm>
          <a:prstGeom prst="roundRect">
            <a:avLst>
              <a:gd name="adj" fmla="val 50000"/>
            </a:avLst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C2</a:t>
            </a:r>
            <a:endParaRPr lang="ko-KR" sz="1800" dirty="0"/>
          </a:p>
        </p:txBody>
      </p:sp>
      <p:sp>
        <p:nvSpPr>
          <p:cNvPr id="226" name="Box 226"/>
          <p:cNvSpPr/>
          <p:nvPr/>
        </p:nvSpPr>
        <p:spPr>
          <a:xfrm>
            <a:off x="9550400" y="3378200"/>
            <a:ext cx="31877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대량 신선·냉동·즉석/가공식품 구매형</a:t>
            </a:r>
            <a:endParaRPr lang="ko-KR" sz="2000" dirty="0"/>
          </a:p>
        </p:txBody>
      </p:sp>
      <p:cxnSp>
        <p:nvCxnSpPr>
          <p:cNvPr id="227" name="Line 227"/>
          <p:cNvCxnSpPr/>
          <p:nvPr/>
        </p:nvCxnSpPr>
        <p:spPr>
          <a:xfrm>
            <a:off x="9550400" y="4572000"/>
            <a:ext cx="3187700" cy="0"/>
          </a:xfrm>
          <a:prstGeom prst="line">
            <a:avLst/>
          </a:prstGeom>
          <a:ln w="12700">
            <a:solidFill>
              <a:srgbClr val="BFC8E6"/>
            </a:solidFill>
          </a:ln>
        </p:spPr>
      </p:cxnSp>
      <p:sp>
        <p:nvSpPr>
          <p:cNvPr id="228" name="Box 228"/>
          <p:cNvSpPr/>
          <p:nvPr/>
        </p:nvSpPr>
        <p:spPr>
          <a:xfrm>
            <a:off x="9550400" y="4699000"/>
            <a:ext cx="31877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수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81명 (18%)</a:t>
            </a:r>
            <a:endParaRPr lang="ko-KR" sz="2000" dirty="0"/>
          </a:p>
        </p:txBody>
      </p:sp>
      <p:sp>
        <p:nvSpPr>
          <p:cNvPr id="229" name="Box 229"/>
          <p:cNvSpPr/>
          <p:nvPr/>
        </p:nvSpPr>
        <p:spPr>
          <a:xfrm>
            <a:off x="9550400" y="5524500"/>
            <a:ext cx="31877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총구매액 중앙값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43,394</a:t>
            </a:r>
            <a:endParaRPr lang="ko-KR" sz="2000" dirty="0"/>
          </a:p>
        </p:txBody>
      </p:sp>
      <p:sp>
        <p:nvSpPr>
          <p:cNvPr id="231" name="Box 231"/>
          <p:cNvSpPr/>
          <p:nvPr/>
        </p:nvSpPr>
        <p:spPr>
          <a:xfrm>
            <a:off x="9550400" y="7785100"/>
            <a:ext cx="31877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 : Retail</a:t>
            </a:r>
            <a:endParaRPr lang="ko-KR" sz="1400" dirty="0"/>
          </a:p>
        </p:txBody>
      </p:sp>
      <p:sp>
        <p:nvSpPr>
          <p:cNvPr id="232" name="Box 232"/>
          <p:cNvSpPr/>
          <p:nvPr/>
        </p:nvSpPr>
        <p:spPr>
          <a:xfrm>
            <a:off x="9550400" y="8128000"/>
            <a:ext cx="2913558" cy="279400"/>
          </a:xfrm>
          <a:prstGeom prst="rect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33" name="Box 233"/>
          <p:cNvSpPr/>
          <p:nvPr/>
        </p:nvSpPr>
        <p:spPr>
          <a:xfrm>
            <a:off x="12463958" y="8128000"/>
            <a:ext cx="274142" cy="2794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34" name="Box 234"/>
          <p:cNvSpPr/>
          <p:nvPr/>
        </p:nvSpPr>
        <p:spPr>
          <a:xfrm>
            <a:off x="9550400" y="8483600"/>
            <a:ext cx="31877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91.4% : 8.6%</a:t>
            </a:r>
            <a:endParaRPr lang="ko-KR" sz="1600" dirty="0"/>
          </a:p>
        </p:txBody>
      </p:sp>
      <p:sp>
        <p:nvSpPr>
          <p:cNvPr id="235" name="Box 235"/>
          <p:cNvSpPr/>
          <p:nvPr/>
        </p:nvSpPr>
        <p:spPr>
          <a:xfrm>
            <a:off x="13296900" y="2603500"/>
            <a:ext cx="3695700" cy="64135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36" name="Box 236"/>
          <p:cNvSpPr/>
          <p:nvPr/>
        </p:nvSpPr>
        <p:spPr>
          <a:xfrm>
            <a:off x="13550900" y="2819400"/>
            <a:ext cx="889000" cy="431800"/>
          </a:xfrm>
          <a:prstGeom prst="roundRect">
            <a:avLst>
              <a:gd name="adj" fmla="val 50000"/>
            </a:avLst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C3</a:t>
            </a:r>
            <a:endParaRPr lang="ko-KR" sz="1800" dirty="0"/>
          </a:p>
        </p:txBody>
      </p:sp>
      <p:sp>
        <p:nvSpPr>
          <p:cNvPr id="237" name="Box 237"/>
          <p:cNvSpPr/>
          <p:nvPr/>
        </p:nvSpPr>
        <p:spPr>
          <a:xfrm>
            <a:off x="13550900" y="3378200"/>
            <a:ext cx="31877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대량 식료품·유제품·세제/종이류 구매형</a:t>
            </a:r>
            <a:endParaRPr lang="ko-KR" sz="2000" dirty="0"/>
          </a:p>
        </p:txBody>
      </p:sp>
      <p:cxnSp>
        <p:nvCxnSpPr>
          <p:cNvPr id="238" name="Line 238"/>
          <p:cNvCxnSpPr/>
          <p:nvPr/>
        </p:nvCxnSpPr>
        <p:spPr>
          <a:xfrm>
            <a:off x="13550900" y="4572000"/>
            <a:ext cx="3187700" cy="0"/>
          </a:xfrm>
          <a:prstGeom prst="line">
            <a:avLst/>
          </a:prstGeom>
          <a:ln w="12700">
            <a:solidFill>
              <a:srgbClr val="BFC8E6"/>
            </a:solidFill>
          </a:ln>
        </p:spPr>
      </p:cxnSp>
      <p:sp>
        <p:nvSpPr>
          <p:cNvPr id="239" name="Box 239"/>
          <p:cNvSpPr/>
          <p:nvPr/>
        </p:nvSpPr>
        <p:spPr>
          <a:xfrm>
            <a:off x="13550900" y="4699000"/>
            <a:ext cx="31877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수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100명 (23%)</a:t>
            </a:r>
            <a:endParaRPr lang="ko-KR" sz="2000" dirty="0"/>
          </a:p>
        </p:txBody>
      </p:sp>
      <p:sp>
        <p:nvSpPr>
          <p:cNvPr id="240" name="Box 240"/>
          <p:cNvSpPr/>
          <p:nvPr/>
        </p:nvSpPr>
        <p:spPr>
          <a:xfrm>
            <a:off x="13550900" y="5524500"/>
            <a:ext cx="31877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총구매액 중앙값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45,968</a:t>
            </a:r>
            <a:endParaRPr lang="ko-KR" sz="2000" dirty="0"/>
          </a:p>
        </p:txBody>
      </p:sp>
      <p:sp>
        <p:nvSpPr>
          <p:cNvPr id="242" name="Box 242"/>
          <p:cNvSpPr/>
          <p:nvPr/>
        </p:nvSpPr>
        <p:spPr>
          <a:xfrm>
            <a:off x="13550900" y="7785100"/>
            <a:ext cx="31877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 : Retail</a:t>
            </a:r>
            <a:endParaRPr lang="ko-KR" sz="1400" dirty="0"/>
          </a:p>
        </p:txBody>
      </p:sp>
      <p:sp>
        <p:nvSpPr>
          <p:cNvPr id="243" name="Box 243"/>
          <p:cNvSpPr/>
          <p:nvPr/>
        </p:nvSpPr>
        <p:spPr>
          <a:xfrm>
            <a:off x="13550900" y="8128000"/>
            <a:ext cx="414401" cy="279400"/>
          </a:xfrm>
          <a:prstGeom prst="rect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44" name="Box 244"/>
          <p:cNvSpPr/>
          <p:nvPr/>
        </p:nvSpPr>
        <p:spPr>
          <a:xfrm>
            <a:off x="13965301" y="8128000"/>
            <a:ext cx="2773299" cy="2794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45" name="Box 245"/>
          <p:cNvSpPr/>
          <p:nvPr/>
        </p:nvSpPr>
        <p:spPr>
          <a:xfrm>
            <a:off x="13550900" y="8483600"/>
            <a:ext cx="31877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13.0% : 87.0%</a:t>
            </a:r>
            <a:endParaRPr lang="ko-KR" sz="1600" dirty="0"/>
          </a:p>
        </p:txBody>
      </p:sp>
      <p:sp>
        <p:nvSpPr>
          <p:cNvPr id="246" name="Box 246"/>
          <p:cNvSpPr/>
          <p:nvPr/>
        </p:nvSpPr>
        <p:spPr>
          <a:xfrm>
            <a:off x="1295400" y="9207500"/>
            <a:ext cx="15697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총구매액 단위는 원데이터 기준(화폐 단위 불명) · 주요 구매 비중은 군집별 품목 구매액 비중</a:t>
            </a:r>
            <a:endParaRPr lang="ko-KR" sz="1200" dirty="0"/>
          </a:p>
        </p:txBody>
      </p:sp>
      <p:sp>
        <p:nvSpPr>
          <p:cNvPr id="201" name="Box 201"/>
          <p:cNvSpPr/>
          <p:nvPr/>
        </p:nvSpPr>
        <p:spPr>
          <a:xfrm>
            <a:off x="1549400" y="6350000"/>
            <a:ext cx="31877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구매 비중</a:t>
            </a:r>
            <a:endParaRPr lang="ko-KR" sz="1400" dirty="0"/>
          </a:p>
        </p:txBody>
      </p:sp>
      <p:sp>
        <p:nvSpPr>
          <p:cNvPr id="208" name="Box 208"/>
          <p:cNvSpPr/>
          <p:nvPr/>
        </p:nvSpPr>
        <p:spPr>
          <a:xfrm>
            <a:off x="5549900" y="6350000"/>
            <a:ext cx="31877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구매 비중</a:t>
            </a:r>
            <a:endParaRPr lang="ko-KR" sz="1400" dirty="0"/>
          </a:p>
        </p:txBody>
      </p:sp>
      <p:sp>
        <p:nvSpPr>
          <p:cNvPr id="19" name="Box 215"/>
          <p:cNvSpPr/>
          <p:nvPr/>
        </p:nvSpPr>
        <p:spPr>
          <a:xfrm>
            <a:off x="9550400" y="6350000"/>
            <a:ext cx="31877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구매 비중</a:t>
            </a:r>
            <a:endParaRPr lang="ko-KR" sz="1400" dirty="0"/>
          </a:p>
        </p:txBody>
      </p:sp>
      <p:sp>
        <p:nvSpPr>
          <p:cNvPr id="25" name="Box 222"/>
          <p:cNvSpPr/>
          <p:nvPr/>
        </p:nvSpPr>
        <p:spPr>
          <a:xfrm>
            <a:off x="13550900" y="6350000"/>
            <a:ext cx="31877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구매 비중</a:t>
            </a:r>
            <a:endParaRPr lang="ko-KR" sz="1400" dirty="0"/>
          </a:p>
        </p:txBody>
      </p:sp>
      <p:sp>
        <p:nvSpPr>
          <p:cNvPr id="6" name="Box 201"/>
          <p:cNvSpPr/>
          <p:nvPr/>
        </p:nvSpPr>
        <p:spPr>
          <a:xfrm>
            <a:off x="1549400" y="6680200"/>
            <a:ext cx="157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Fresh 50%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Grocery 16%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Frozen 14%</a:t>
            </a:r>
            <a:endParaRPr lang="ko-KR" sz="1400" dirty="0"/>
          </a:p>
        </p:txBody>
      </p:sp>
      <p:sp>
        <p:nvSpPr>
          <p:cNvPr id="7" name="Box 202"/>
          <p:cNvSpPr/>
          <p:nvPr/>
        </p:nvSpPr>
        <p:spPr>
          <a:xfrm>
            <a:off x="3175000" y="6680200"/>
            <a:ext cx="157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Milk 12%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Delicassen 5%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Det_Paper 3%</a:t>
            </a:r>
            <a:endParaRPr lang="ko-KR" sz="1400" dirty="0"/>
          </a:p>
        </p:txBody>
      </p:sp>
      <p:sp>
        <p:nvSpPr>
          <p:cNvPr id="8" name="Box 203"/>
          <p:cNvSpPr/>
          <p:nvPr/>
        </p:nvSpPr>
        <p:spPr>
          <a:xfrm>
            <a:off x="5549900" y="6680200"/>
            <a:ext cx="157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Grocery 40%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Milk 25%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Det_Paper 15%</a:t>
            </a:r>
            <a:endParaRPr lang="ko-KR" sz="1400" dirty="0"/>
          </a:p>
        </p:txBody>
      </p:sp>
      <p:sp>
        <p:nvSpPr>
          <p:cNvPr id="9" name="Box 204"/>
          <p:cNvSpPr/>
          <p:nvPr/>
        </p:nvSpPr>
        <p:spPr>
          <a:xfrm>
            <a:off x="7175500" y="6680200"/>
            <a:ext cx="157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Fresh 14%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Frozen 3%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Delicassen 3%</a:t>
            </a:r>
            <a:endParaRPr lang="ko-KR" sz="1400" dirty="0"/>
          </a:p>
        </p:txBody>
      </p:sp>
      <p:sp>
        <p:nvSpPr>
          <p:cNvPr id="10" name="Box 205"/>
          <p:cNvSpPr/>
          <p:nvPr/>
        </p:nvSpPr>
        <p:spPr>
          <a:xfrm>
            <a:off x="9550400" y="6680200"/>
            <a:ext cx="157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Fresh 53%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Frozen 18%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b="1" dirty="0">
                <a:solidFill>
                  <a:schemeClr val="tx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Grocery 11%</a:t>
            </a:r>
            <a:endParaRPr lang="ko-KR" sz="14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Box 206"/>
          <p:cNvSpPr/>
          <p:nvPr/>
        </p:nvSpPr>
        <p:spPr>
          <a:xfrm>
            <a:off x="11176000" y="6680200"/>
            <a:ext cx="157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Milk 11%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Delicassen 6%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Det_Paper 2%</a:t>
            </a:r>
            <a:endParaRPr lang="ko-KR" sz="1400" dirty="0"/>
          </a:p>
        </p:txBody>
      </p:sp>
      <p:sp>
        <p:nvSpPr>
          <p:cNvPr id="12" name="Box 207"/>
          <p:cNvSpPr/>
          <p:nvPr/>
        </p:nvSpPr>
        <p:spPr>
          <a:xfrm>
            <a:off x="13550900" y="6680200"/>
            <a:ext cx="157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Grocery 33%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Milk 23%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Fresh 21%</a:t>
            </a:r>
            <a:endParaRPr lang="ko-KR" sz="1400" dirty="0"/>
          </a:p>
        </p:txBody>
      </p:sp>
      <p:sp>
        <p:nvSpPr>
          <p:cNvPr id="13" name="Box 208"/>
          <p:cNvSpPr/>
          <p:nvPr/>
        </p:nvSpPr>
        <p:spPr>
          <a:xfrm>
            <a:off x="15176500" y="6680200"/>
            <a:ext cx="157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Det_Paper 14%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Delicassen 5%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10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Frozen 4%</a:t>
            </a:r>
            <a:endParaRPr lang="ko-KR" sz="1400" dirty="0"/>
          </a:p>
        </p:txBody>
      </p:sp>
    </p:spTree>
    <p:extLst>
      <p:ext uri="{BB962C8B-B14F-4D97-AF65-F5344CB8AC3E}">
        <p14:creationId xmlns:p14="http://schemas.microsoft.com/office/powerpoint/2010/main" val="3593237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03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페르소나별 채널 구성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1295400" y="1752600"/>
            <a:ext cx="15697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패턴만으로 채널이 대부분 설명되지만, C1은 두 채널이 섞여 오분류 위험이 가장 크다</a:t>
            </a:r>
            <a:endParaRPr lang="ko-KR" sz="2200" dirty="0"/>
          </a:p>
        </p:txBody>
      </p:sp>
      <p:sp>
        <p:nvSpPr>
          <p:cNvPr id="202" name="Box 202"/>
          <p:cNvSpPr/>
          <p:nvPr/>
        </p:nvSpPr>
        <p:spPr>
          <a:xfrm>
            <a:off x="1295400" y="25400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페르소나별 채널 구성비, %</a:t>
            </a:r>
            <a:endParaRPr lang="ko-KR" sz="1600" dirty="0"/>
          </a:p>
        </p:txBody>
      </p:sp>
      <p:sp>
        <p:nvSpPr>
          <p:cNvPr id="203" name="Box 203"/>
          <p:cNvSpPr/>
          <p:nvPr/>
        </p:nvSpPr>
        <p:spPr>
          <a:xfrm>
            <a:off x="11430000" y="2603500"/>
            <a:ext cx="5562600" cy="63500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</p:spPr>
        <p:txBody>
          <a:bodyPr wrap="square" lIns="279400" tIns="279400" rIns="279400" bIns="279400" rtlCol="0" anchor="t">
            <a:noAutofit/>
          </a:bodyPr>
          <a:lstStyle/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C0 · C2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Horeca가 90% 이상 → 신선·냉동 중심 구매가 Horeca의 전형</a:t>
            </a:r>
            <a:endParaRPr lang="ko-KR" sz="16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C3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Retail 87% → 식료품·유제품·세제/종이류 대량 구매가 Retail의 전형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180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주목할 군집</a:t>
            </a:r>
            <a:endParaRPr lang="ko-KR" sz="18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C1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Horeca 42.3% : Retail 57.7%로 섞여 있어, 구매 패턴만으로 채널을 가르기 가장 어려움</a:t>
            </a:r>
            <a:endParaRPr lang="ko-KR" sz="16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분류모형 구축 전, </a:t>
            </a: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오분류가 발생할 가능성이 가장 큰 자리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미리 지목</a:t>
            </a:r>
            <a:endParaRPr lang="ko-KR" sz="1600" dirty="0"/>
          </a:p>
        </p:txBody>
      </p:sp>
      <p:graphicFrame>
        <p:nvGraphicFramePr>
          <p:cNvPr id="204" name="Chart"/>
          <p:cNvGraphicFramePr/>
          <p:nvPr/>
        </p:nvGraphicFramePr>
        <p:xfrm>
          <a:off x="1295400" y="2984500"/>
          <a:ext cx="9652000" cy="596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172418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06B63-7661-C25F-F424-C1B97C243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0FE1ABA-834A-490A-A41A-E8AD13921B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54031A8-1628-5631-30EC-9B56926288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1E6D7F73-FE18-9B56-211C-9B65735436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DD67A2F6-D838-FDCA-05FE-B172C0788A76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04</a:t>
            </a:r>
            <a:endParaRPr lang="en-US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263DB89-CBB0-D512-D9F2-C0F28E85CEC3}"/>
              </a:ext>
            </a:extLst>
          </p:cNvPr>
          <p:cNvSpPr txBox="1"/>
          <p:nvPr/>
        </p:nvSpPr>
        <p:spPr>
          <a:xfrm>
            <a:off x="1905000" y="3683000"/>
            <a:ext cx="7112000" cy="25400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5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예측</a:t>
            </a:r>
            <a:endParaRPr lang="ko-KR" sz="5400" dirty="0"/>
          </a:p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5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</a:t>
            </a:r>
            <a:endParaRPr lang="ko-KR" sz="54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885FBD-9ACB-60EB-5951-CDB068871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  <p:cxnSp>
        <p:nvCxnSpPr>
          <p:cNvPr id="201" name="Line 201"/>
          <p:cNvCxnSpPr/>
          <p:nvPr/>
        </p:nvCxnSpPr>
        <p:spPr>
          <a:xfrm>
            <a:off x="9398000" y="3175000"/>
            <a:ext cx="0" cy="3937000"/>
          </a:xfrm>
          <a:prstGeom prst="line">
            <a:avLst/>
          </a:prstGeom>
          <a:ln w="19050">
            <a:solidFill>
              <a:srgbClr val="BFC8E6"/>
            </a:solidFill>
          </a:ln>
        </p:spPr>
      </p:cxnSp>
      <p:sp>
        <p:nvSpPr>
          <p:cNvPr id="202" name="Box 202"/>
          <p:cNvSpPr/>
          <p:nvPr/>
        </p:nvSpPr>
        <p:spPr>
          <a:xfrm>
            <a:off x="10033000" y="3302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800" dirty="0"/>
          </a:p>
        </p:txBody>
      </p:sp>
      <p:sp>
        <p:nvSpPr>
          <p:cNvPr id="203" name="Box 203"/>
          <p:cNvSpPr/>
          <p:nvPr/>
        </p:nvSpPr>
        <p:spPr>
          <a:xfrm>
            <a:off x="10922000" y="3175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5개 분류모형 비교</a:t>
            </a:r>
            <a:endParaRPr lang="ko-KR" sz="2400" b="1" dirty="0"/>
          </a:p>
        </p:txBody>
      </p:sp>
      <p:sp>
        <p:nvSpPr>
          <p:cNvPr id="204" name="Box 204"/>
          <p:cNvSpPr/>
          <p:nvPr/>
        </p:nvSpPr>
        <p:spPr>
          <a:xfrm>
            <a:off x="10033000" y="4318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800" dirty="0"/>
          </a:p>
        </p:txBody>
      </p:sp>
      <p:sp>
        <p:nvSpPr>
          <p:cNvPr id="205" name="Box 205"/>
          <p:cNvSpPr/>
          <p:nvPr/>
        </p:nvSpPr>
        <p:spPr>
          <a:xfrm>
            <a:off x="10922000" y="4191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변수 중요도</a:t>
            </a:r>
            <a:endParaRPr 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2354179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04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분류 모델 비교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1295400" y="1752600"/>
            <a:ext cx="15697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5개 모델 모두 Macro F1 0.88~0.91로, 어떤 모델이든 구매 패턴만으로 채널이 약 90% 구분된다</a:t>
            </a:r>
            <a:endParaRPr lang="ko-KR" sz="2200" dirty="0"/>
          </a:p>
        </p:txBody>
      </p:sp>
      <p:sp>
        <p:nvSpPr>
          <p:cNvPr id="202" name="Box 202"/>
          <p:cNvSpPr/>
          <p:nvPr/>
        </p:nvSpPr>
        <p:spPr>
          <a:xfrm>
            <a:off x="1295400" y="2603500"/>
            <a:ext cx="939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 내부 StratifiedKFold 5-fold 교차검증 결과</a:t>
            </a:r>
            <a:endParaRPr lang="ko-KR" sz="1600" dirty="0"/>
          </a:p>
        </p:txBody>
      </p:sp>
      <p:graphicFrame>
        <p:nvGraphicFramePr>
          <p:cNvPr id="203" name="Table 203"/>
          <p:cNvGraphicFramePr>
            <a:graphicFrameLocks noGrp="1"/>
          </p:cNvGraphicFramePr>
          <p:nvPr/>
        </p:nvGraphicFramePr>
        <p:xfrm>
          <a:off x="1295400" y="3111500"/>
          <a:ext cx="9398000" cy="2946400"/>
        </p:xfrm>
        <a:graphic>
          <a:graphicData uri="http://schemas.openxmlformats.org/drawingml/2006/table">
            <a:tbl>
              <a:tblPr firstRow="1"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8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</a:t>
                      </a:r>
                      <a:endParaRPr lang="ko-KR" sz="18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8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Accuracy</a:t>
                      </a:r>
                      <a:endParaRPr lang="ko-KR" sz="18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8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Macro F1 (mean±std)</a:t>
                      </a:r>
                      <a:endParaRPr lang="ko-KR" sz="18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8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RandomForest (채택)</a:t>
                      </a:r>
                      <a:endParaRPr lang="ko-KR" sz="18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8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0.918</a:t>
                      </a:r>
                      <a:endParaRPr lang="ko-KR" sz="18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8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0.906 ± 0.031</a:t>
                      </a:r>
                      <a:endParaRPr lang="ko-KR" sz="18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8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GradientBoosting</a:t>
                      </a:r>
                      <a:endParaRPr lang="ko-KR" sz="18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8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0.912</a:t>
                      </a:r>
                      <a:endParaRPr lang="ko-KR" sz="18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8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0.899 ± 0.049</a:t>
                      </a:r>
                      <a:endParaRPr lang="ko-KR" sz="18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8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SVM / KNN / LogisticRegression</a:t>
                      </a:r>
                      <a:endParaRPr lang="ko-KR" sz="18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8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0.89~0.90</a:t>
                      </a:r>
                      <a:endParaRPr lang="ko-KR" sz="18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8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0.88~0.89</a:t>
                      </a:r>
                      <a:endParaRPr lang="ko-KR" sz="18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Box 201"/>
          <p:cNvSpPr/>
          <p:nvPr/>
        </p:nvSpPr>
        <p:spPr>
          <a:xfrm>
            <a:off x="1295400" y="6604000"/>
            <a:ext cx="9398000" cy="241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8" name="Box 203"/>
          <p:cNvSpPr/>
          <p:nvPr/>
        </p:nvSpPr>
        <p:spPr>
          <a:xfrm>
            <a:off x="11176000" y="2603500"/>
            <a:ext cx="5816600" cy="6413500"/>
          </a:xfrm>
          <a:prstGeom prst="roundRect">
            <a:avLst>
              <a:gd name="adj" fmla="val 35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4" name="Box 204"/>
          <p:cNvSpPr/>
          <p:nvPr/>
        </p:nvSpPr>
        <p:spPr>
          <a:xfrm>
            <a:off x="11480800" y="2819400"/>
            <a:ext cx="5207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설계: 데이터 누수 방지</a:t>
            </a:r>
            <a:endParaRPr lang="ko-KR" sz="2000" dirty="0"/>
          </a:p>
        </p:txBody>
      </p:sp>
      <p:sp>
        <p:nvSpPr>
          <p:cNvPr id="205" name="Box 205"/>
          <p:cNvSpPr/>
          <p:nvPr/>
        </p:nvSpPr>
        <p:spPr>
          <a:xfrm>
            <a:off x="11480800" y="3429000"/>
            <a:ext cx="508000" cy="5080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600" dirty="0"/>
          </a:p>
        </p:txBody>
      </p:sp>
      <p:cxnSp>
        <p:nvCxnSpPr>
          <p:cNvPr id="206" name="Line 206"/>
          <p:cNvCxnSpPr/>
          <p:nvPr/>
        </p:nvCxnSpPr>
        <p:spPr>
          <a:xfrm>
            <a:off x="11734800" y="3962400"/>
            <a:ext cx="0" cy="482600"/>
          </a:xfrm>
          <a:prstGeom prst="line">
            <a:avLst/>
          </a:prstGeom>
          <a:ln w="19050">
            <a:solidFill>
              <a:srgbClr val="9FAEDB"/>
            </a:solidFill>
          </a:ln>
        </p:spPr>
      </p:cxnSp>
      <p:sp>
        <p:nvSpPr>
          <p:cNvPr id="207" name="Box 207"/>
          <p:cNvSpPr/>
          <p:nvPr/>
        </p:nvSpPr>
        <p:spPr>
          <a:xfrm>
            <a:off x="12166600" y="3378200"/>
            <a:ext cx="46482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원본부터 Train/Test 분할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전처리 전에 먼저 분할: Train 352명 · Test 88명</a:t>
            </a:r>
            <a:endParaRPr lang="ko-KR" sz="1400" dirty="0"/>
          </a:p>
        </p:txBody>
      </p:sp>
      <p:sp>
        <p:nvSpPr>
          <p:cNvPr id="208" name="Box 208"/>
          <p:cNvSpPr/>
          <p:nvPr/>
        </p:nvSpPr>
        <p:spPr>
          <a:xfrm>
            <a:off x="11480800" y="4470400"/>
            <a:ext cx="508000" cy="5080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600" dirty="0"/>
          </a:p>
        </p:txBody>
      </p:sp>
      <p:cxnSp>
        <p:nvCxnSpPr>
          <p:cNvPr id="209" name="Line 209"/>
          <p:cNvCxnSpPr/>
          <p:nvPr/>
        </p:nvCxnSpPr>
        <p:spPr>
          <a:xfrm>
            <a:off x="11734800" y="5003800"/>
            <a:ext cx="0" cy="482600"/>
          </a:xfrm>
          <a:prstGeom prst="line">
            <a:avLst/>
          </a:prstGeom>
          <a:ln w="19050">
            <a:solidFill>
              <a:srgbClr val="9FAEDB"/>
            </a:solidFill>
          </a:ln>
        </p:spPr>
      </p:cxnSp>
      <p:sp>
        <p:nvSpPr>
          <p:cNvPr id="210" name="Box 210"/>
          <p:cNvSpPr/>
          <p:nvPr/>
        </p:nvSpPr>
        <p:spPr>
          <a:xfrm>
            <a:off x="12166600" y="4419600"/>
            <a:ext cx="46482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 내부 5-fold 교차검증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StratifiedKFold(5)로 채널 비율을 유지한 채 분할</a:t>
            </a:r>
            <a:endParaRPr lang="ko-KR" sz="1400" dirty="0"/>
          </a:p>
        </p:txBody>
      </p:sp>
      <p:sp>
        <p:nvSpPr>
          <p:cNvPr id="211" name="Box 211"/>
          <p:cNvSpPr/>
          <p:nvPr/>
        </p:nvSpPr>
        <p:spPr>
          <a:xfrm>
            <a:off x="11480800" y="5511800"/>
            <a:ext cx="508000" cy="5080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sz="1600" dirty="0"/>
          </a:p>
        </p:txBody>
      </p:sp>
      <p:cxnSp>
        <p:nvCxnSpPr>
          <p:cNvPr id="212" name="Line 212"/>
          <p:cNvCxnSpPr/>
          <p:nvPr/>
        </p:nvCxnSpPr>
        <p:spPr>
          <a:xfrm>
            <a:off x="11734800" y="6045200"/>
            <a:ext cx="0" cy="482600"/>
          </a:xfrm>
          <a:prstGeom prst="line">
            <a:avLst/>
          </a:prstGeom>
          <a:ln w="19050">
            <a:solidFill>
              <a:srgbClr val="9FAEDB"/>
            </a:solidFill>
          </a:ln>
        </p:spPr>
      </p:cxnSp>
      <p:sp>
        <p:nvSpPr>
          <p:cNvPr id="213" name="Box 213"/>
          <p:cNvSpPr/>
          <p:nvPr/>
        </p:nvSpPr>
        <p:spPr>
          <a:xfrm>
            <a:off x="12166600" y="5461000"/>
            <a:ext cx="46482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폴드마다 전처리 새로 fit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Yeo-Johnson·표준화·PCA·군집화를 학습 폴드에만 fit, 검증 폴드엔 적용만</a:t>
            </a:r>
            <a:endParaRPr lang="ko-KR" sz="1400" dirty="0"/>
          </a:p>
        </p:txBody>
      </p:sp>
      <p:sp>
        <p:nvSpPr>
          <p:cNvPr id="214" name="Box 214"/>
          <p:cNvSpPr/>
          <p:nvPr/>
        </p:nvSpPr>
        <p:spPr>
          <a:xfrm>
            <a:off x="11480800" y="6553200"/>
            <a:ext cx="508000" cy="5080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sz="1600" dirty="0"/>
          </a:p>
        </p:txBody>
      </p:sp>
      <p:cxnSp>
        <p:nvCxnSpPr>
          <p:cNvPr id="215" name="Line 215"/>
          <p:cNvCxnSpPr/>
          <p:nvPr/>
        </p:nvCxnSpPr>
        <p:spPr>
          <a:xfrm>
            <a:off x="11734800" y="7086600"/>
            <a:ext cx="0" cy="482600"/>
          </a:xfrm>
          <a:prstGeom prst="line">
            <a:avLst/>
          </a:prstGeom>
          <a:ln w="19050">
            <a:solidFill>
              <a:srgbClr val="9FAEDB"/>
            </a:solidFill>
          </a:ln>
        </p:spPr>
      </p:cxnSp>
      <p:sp>
        <p:nvSpPr>
          <p:cNvPr id="216" name="Box 216"/>
          <p:cNvSpPr/>
          <p:nvPr/>
        </p:nvSpPr>
        <p:spPr>
          <a:xfrm>
            <a:off x="12166600" y="6502400"/>
            <a:ext cx="46482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교차검증 Macro F1로 모델 선택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LogisticRegression·SVM·RandomForest에 class_weight='balanced' 적용(소수 채널 Retail 보정)</a:t>
            </a:r>
            <a:endParaRPr lang="ko-KR" sz="1400" dirty="0"/>
          </a:p>
        </p:txBody>
      </p:sp>
      <p:sp>
        <p:nvSpPr>
          <p:cNvPr id="217" name="Box 217"/>
          <p:cNvSpPr/>
          <p:nvPr/>
        </p:nvSpPr>
        <p:spPr>
          <a:xfrm>
            <a:off x="11480800" y="7594600"/>
            <a:ext cx="508000" cy="5080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sz="1600" dirty="0"/>
          </a:p>
        </p:txBody>
      </p:sp>
      <p:sp>
        <p:nvSpPr>
          <p:cNvPr id="218" name="Box 218"/>
          <p:cNvSpPr/>
          <p:nvPr/>
        </p:nvSpPr>
        <p:spPr>
          <a:xfrm>
            <a:off x="12166600" y="7543800"/>
            <a:ext cx="46482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Test는 마지막 1회만 평가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altLang="en-US" sz="14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결과는 모델 선택에 쓰지 않음</a:t>
            </a:r>
            <a:endParaRPr lang="ko-KR" sz="1400" dirty="0"/>
          </a:p>
        </p:txBody>
      </p:sp>
      <p:sp>
        <p:nvSpPr>
          <p:cNvPr id="7" name="Box 201"/>
          <p:cNvSpPr/>
          <p:nvPr/>
        </p:nvSpPr>
        <p:spPr>
          <a:xfrm>
            <a:off x="1295400" y="6604000"/>
            <a:ext cx="3175000" cy="2413000"/>
          </a:xfrm>
          <a:prstGeom prst="roundRect">
            <a:avLst>
              <a:gd name="adj" fmla="val 6000"/>
            </a:avLst>
          </a:prstGeom>
          <a:solidFill>
            <a:srgbClr val="4A5BA3"/>
          </a:solidFill>
          <a:ln>
            <a:noFill/>
          </a:ln>
        </p:spPr>
        <p:txBody>
          <a:bodyPr wrap="square" lIns="254000" tIns="254000" rIns="254000" bIns="2540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 근거 정확도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400"/>
              </a:spcBef>
              <a:buNone/>
            </a:pPr>
            <a:r>
              <a:rPr lang="ko-KR" altLang="en-US" sz="4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92%</a:t>
            </a:r>
            <a:endParaRPr lang="ko-KR" sz="4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4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교차검증 </a:t>
            </a:r>
            <a:r>
              <a:rPr lang="ko-KR" altLang="en-US" sz="14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Accuracy 0.918</a:t>
            </a:r>
            <a:endParaRPr lang="ko-KR" sz="1400" b="1" dirty="0"/>
          </a:p>
        </p:txBody>
      </p:sp>
      <p:sp>
        <p:nvSpPr>
          <p:cNvPr id="9" name="Box 202"/>
          <p:cNvSpPr/>
          <p:nvPr/>
        </p:nvSpPr>
        <p:spPr>
          <a:xfrm>
            <a:off x="4749800" y="6731000"/>
            <a:ext cx="57912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간 차이가 작아(0.88~0.91), 우열보다 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패턴만으로 채널이 구분된다</a:t>
            </a: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점이 핵심</a:t>
            </a:r>
            <a:endParaRPr lang="ko-KR" sz="1500" dirty="0"/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RandomForest는 Macro F1이 가장 높고 GradientBoosting보다 편차가 작아 채택</a:t>
            </a:r>
            <a:endParaRPr lang="ko-KR" sz="1500" dirty="0"/>
          </a:p>
          <a:p>
            <a:pPr marL="285750" indent="-285750" algn="l">
              <a:lnSpc>
                <a:spcPct val="110000"/>
              </a:lnSpc>
              <a:spcBef>
                <a:spcPts val="6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1회 0.955(기준선 68.2%)는 88명 표본이라 참고값으로만 사용</a:t>
            </a:r>
            <a:endParaRPr lang="ko-KR" sz="1500" dirty="0"/>
          </a:p>
        </p:txBody>
      </p:sp>
      <p:sp>
        <p:nvSpPr>
          <p:cNvPr id="10" name="Box 201"/>
          <p:cNvSpPr/>
          <p:nvPr/>
        </p:nvSpPr>
        <p:spPr>
          <a:xfrm>
            <a:off x="1295400" y="6121400"/>
            <a:ext cx="9398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모형 입력: Yeo-Johnson 6개 변수 + 군집 더미 · PCA는 군집 더미 생성에만 사용(주성분 미입력)</a:t>
            </a:r>
            <a:endParaRPr lang="ko-KR" sz="1300" dirty="0"/>
          </a:p>
        </p:txBody>
      </p:sp>
    </p:spTree>
    <p:extLst>
      <p:ext uri="{BB962C8B-B14F-4D97-AF65-F5344CB8AC3E}">
        <p14:creationId xmlns:p14="http://schemas.microsoft.com/office/powerpoint/2010/main" val="2263366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04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변수 중요도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1295400" y="1752600"/>
            <a:ext cx="15697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Retail 품목 3개가 중요도의 72%를 차지해, Horeca는 "Retail 품목을 적게 사서" 구분된다</a:t>
            </a:r>
            <a:endParaRPr lang="ko-KR" sz="2200" dirty="0"/>
          </a:p>
        </p:txBody>
      </p:sp>
      <p:sp>
        <p:nvSpPr>
          <p:cNvPr id="202" name="Box 202"/>
          <p:cNvSpPr/>
          <p:nvPr/>
        </p:nvSpPr>
        <p:spPr>
          <a:xfrm>
            <a:off x="1295400" y="25400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RandomForest 변수 중요도</a:t>
            </a:r>
            <a:endParaRPr lang="ko-KR" sz="1600" dirty="0"/>
          </a:p>
        </p:txBody>
      </p:sp>
      <p:sp>
        <p:nvSpPr>
          <p:cNvPr id="203" name="Box 203"/>
          <p:cNvSpPr/>
          <p:nvPr/>
        </p:nvSpPr>
        <p:spPr>
          <a:xfrm>
            <a:off x="11430000" y="2603500"/>
            <a:ext cx="5562600" cy="63500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</p:spPr>
        <p:txBody>
          <a:bodyPr wrap="square" lIns="279400" tIns="279400" rIns="279400" bIns="27940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해석</a:t>
            </a:r>
            <a:endParaRPr lang="ko-KR" sz="18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Detergents_Paper · Grocery · Milk 합계 </a:t>
            </a: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0.724 (72%)</a:t>
            </a:r>
            <a:endParaRPr lang="ko-KR" sz="16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모델은 Horeca를 "신선식품을 많이 </a:t>
            </a:r>
            <a:r>
              <a:rPr lang="ko-KR" altLang="en-US" sz="1600" dirty="0" err="1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구매해서＂가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아니라 </a:t>
            </a: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＂</a:t>
            </a:r>
            <a:r>
              <a:rPr lang="ko-KR" altLang="en-US" sz="1600" b="1" dirty="0" err="1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Retail</a:t>
            </a: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품목을 적게 구매해서＂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구분</a:t>
            </a:r>
            <a:endParaRPr lang="ko-KR" sz="16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Fresh는 0.041로 최하위: 두 채널 모두 신선식품을 구매해서 </a:t>
            </a:r>
            <a:r>
              <a:rPr lang="ko-KR" altLang="en-US" sz="1600" dirty="0" err="1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판별력이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약함</a:t>
            </a:r>
            <a:r>
              <a:rPr lang="en-US" altLang="ko-KR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sz="16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군집 더미(합계 0.132)는 보조 신호이고, 핵심은 원본 구매액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180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시사점</a:t>
            </a:r>
            <a:endParaRPr lang="ko-KR" sz="1800" dirty="0"/>
          </a:p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Retail 품목 구매가 적은데 Retail로 등록된 고객은 </a:t>
            </a:r>
            <a:r>
              <a:rPr lang="ko-KR" altLang="en-US" sz="16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구매 행동이 </a:t>
            </a:r>
            <a:r>
              <a:rPr lang="ko-KR" altLang="en-US" sz="1600" b="1" dirty="0" err="1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Horeca형</a:t>
            </a:r>
            <a:r>
              <a:rPr lang="ko-KR" altLang="en-US" sz="1600" dirty="0" err="1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가능성</a:t>
            </a:r>
            <a:r>
              <a:rPr lang="en-US" altLang="ko-KR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 dirty="0">
              <a:solidFill>
                <a:srgbClr val="2C2C2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04" name="Chart"/>
          <p:cNvGraphicFramePr/>
          <p:nvPr/>
        </p:nvGraphicFramePr>
        <p:xfrm>
          <a:off x="1295400" y="2984500"/>
          <a:ext cx="9652000" cy="596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611585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06B63-7661-C25F-F424-C1B97C243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0FE1ABA-834A-490A-A41A-E8AD13921B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54031A8-1628-5631-30EC-9B56926288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1E6D7F73-FE18-9B56-211C-9B65735436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DD67A2F6-D838-FDCA-05FE-B172C0788A76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05</a:t>
            </a:r>
            <a:endParaRPr lang="en-US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263DB89-CBB0-D512-D9F2-C0F28E85CEC3}"/>
              </a:ext>
            </a:extLst>
          </p:cNvPr>
          <p:cNvSpPr txBox="1"/>
          <p:nvPr/>
        </p:nvSpPr>
        <p:spPr>
          <a:xfrm>
            <a:off x="1905000" y="3683000"/>
            <a:ext cx="7112000" cy="25400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5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오분류</a:t>
            </a:r>
            <a:endParaRPr lang="ko-KR" sz="5400" dirty="0"/>
          </a:p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5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분석</a:t>
            </a:r>
            <a:endParaRPr lang="ko-KR" sz="54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885FBD-9ACB-60EB-5951-CDB068871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 dirty="0"/>
          </a:p>
        </p:txBody>
      </p:sp>
      <p:cxnSp>
        <p:nvCxnSpPr>
          <p:cNvPr id="201" name="Line 201"/>
          <p:cNvCxnSpPr/>
          <p:nvPr/>
        </p:nvCxnSpPr>
        <p:spPr>
          <a:xfrm>
            <a:off x="9398000" y="3175000"/>
            <a:ext cx="0" cy="3937000"/>
          </a:xfrm>
          <a:prstGeom prst="line">
            <a:avLst/>
          </a:prstGeom>
          <a:ln w="19050">
            <a:solidFill>
              <a:srgbClr val="BFC8E6"/>
            </a:solidFill>
          </a:ln>
        </p:spPr>
      </p:cxnSp>
      <p:sp>
        <p:nvSpPr>
          <p:cNvPr id="202" name="Box 202"/>
          <p:cNvSpPr/>
          <p:nvPr/>
        </p:nvSpPr>
        <p:spPr>
          <a:xfrm>
            <a:off x="10033000" y="3302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800" dirty="0"/>
          </a:p>
        </p:txBody>
      </p:sp>
      <p:sp>
        <p:nvSpPr>
          <p:cNvPr id="203" name="Box 203"/>
          <p:cNvSpPr/>
          <p:nvPr/>
        </p:nvSpPr>
        <p:spPr>
          <a:xfrm>
            <a:off x="10922000" y="3175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오분류 고객 4명</a:t>
            </a:r>
            <a:endParaRPr lang="ko-KR" sz="2400" b="1" dirty="0"/>
          </a:p>
        </p:txBody>
      </p:sp>
      <p:sp>
        <p:nvSpPr>
          <p:cNvPr id="204" name="Box 204"/>
          <p:cNvSpPr/>
          <p:nvPr/>
        </p:nvSpPr>
        <p:spPr>
          <a:xfrm>
            <a:off x="10033000" y="4318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800" dirty="0"/>
          </a:p>
        </p:txBody>
      </p:sp>
      <p:sp>
        <p:nvSpPr>
          <p:cNvPr id="205" name="Box 205"/>
          <p:cNvSpPr/>
          <p:nvPr/>
        </p:nvSpPr>
        <p:spPr>
          <a:xfrm>
            <a:off x="10922000" y="4191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신뢰도 기준 2가지 유형</a:t>
            </a:r>
            <a:endParaRPr 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1496643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05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오분류 고객 4명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202" name="Box 202"/>
          <p:cNvSpPr/>
          <p:nvPr/>
        </p:nvSpPr>
        <p:spPr>
          <a:xfrm>
            <a:off x="1295400" y="2603500"/>
            <a:ext cx="5029200" cy="13970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</p:spPr>
        <p:txBody>
          <a:bodyPr wrap="square" lIns="254000" tIns="254000" rIns="254000" bIns="2540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3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88명</a:t>
            </a:r>
            <a:endParaRPr lang="ko-KR" sz="36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고객</a:t>
            </a:r>
            <a:endParaRPr lang="ko-KR" sz="1600" dirty="0"/>
          </a:p>
        </p:txBody>
      </p:sp>
      <p:sp>
        <p:nvSpPr>
          <p:cNvPr id="203" name="Box 203"/>
          <p:cNvSpPr/>
          <p:nvPr/>
        </p:nvSpPr>
        <p:spPr>
          <a:xfrm>
            <a:off x="6629400" y="2603500"/>
            <a:ext cx="5029200" cy="13970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</p:spPr>
        <p:txBody>
          <a:bodyPr wrap="square" lIns="254000" tIns="254000" rIns="254000" bIns="2540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3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4명</a:t>
            </a:r>
            <a:endParaRPr lang="ko-KR" sz="36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오분류 (4.5%)</a:t>
            </a:r>
            <a:endParaRPr lang="ko-KR" sz="1600" dirty="0"/>
          </a:p>
        </p:txBody>
      </p:sp>
      <p:sp>
        <p:nvSpPr>
          <p:cNvPr id="204" name="Box 204"/>
          <p:cNvSpPr/>
          <p:nvPr/>
        </p:nvSpPr>
        <p:spPr>
          <a:xfrm>
            <a:off x="11963400" y="2603500"/>
            <a:ext cx="5029200" cy="13970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</p:spPr>
        <p:txBody>
          <a:bodyPr wrap="square" lIns="254000" tIns="254000" rIns="254000" bIns="2540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3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: 2</a:t>
            </a:r>
            <a:endParaRPr lang="ko-KR" sz="36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Horeca→Retail : Retail→Horeca</a:t>
            </a:r>
            <a:endParaRPr lang="ko-KR" sz="1600" dirty="0"/>
          </a:p>
        </p:txBody>
      </p:sp>
      <p:graphicFrame>
        <p:nvGraphicFramePr>
          <p:cNvPr id="205" name="Table 205"/>
          <p:cNvGraphicFramePr>
            <a:graphicFrameLocks noGrp="1"/>
          </p:cNvGraphicFramePr>
          <p:nvPr/>
        </p:nvGraphicFramePr>
        <p:xfrm>
          <a:off x="1295400" y="4381500"/>
          <a:ext cx="15697200" cy="3429000"/>
        </p:xfrm>
        <a:graphic>
          <a:graphicData uri="http://schemas.openxmlformats.org/drawingml/2006/table">
            <a:tbl>
              <a:tblPr firstRow="1"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idx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→ 예측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 신뢰도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페르소나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오분류 유형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181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 → Retail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0.52 (저신뢰)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C2 대량 신선·냉동형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4A5BA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규모 이상치형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342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 → Retail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0.61 (저신뢰)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 중간 규모형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4A5BA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카테고리 이탈형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223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 → Horeca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0.98 (고신뢰)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C0 소량 신선식품형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4A5BA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라벨-행동 불일치형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 → Horeca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0.997 (고신뢰)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C0 소량 신선식품형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700" dirty="0">
                          <a:solidFill>
                            <a:srgbClr val="4A5BA3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라벨-행동 불일치형</a:t>
                      </a:r>
                      <a:endParaRPr lang="ko-KR" sz="17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6" name="Box 206"/>
          <p:cNvSpPr/>
          <p:nvPr/>
        </p:nvSpPr>
        <p:spPr>
          <a:xfrm>
            <a:off x="1295400" y="8128000"/>
            <a:ext cx="156972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7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고신뢰 오분류 2명(223, 11)은 Retail로 등록됐지만 Horeca 전형인 </a:t>
            </a:r>
            <a:r>
              <a:rPr lang="ko-KR" altLang="en-US" sz="17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C0 페르소나</a:t>
            </a:r>
            <a:r>
              <a:rPr lang="ko-KR" altLang="en-US" sz="17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속해, 등록 채널과 실제 구매 행동이 어긋난 고객이다</a:t>
            </a:r>
            <a:endParaRPr lang="ko-KR" sz="1700" dirty="0"/>
          </a:p>
        </p:txBody>
      </p:sp>
    </p:spTree>
    <p:extLst>
      <p:ext uri="{BB962C8B-B14F-4D97-AF65-F5344CB8AC3E}">
        <p14:creationId xmlns:p14="http://schemas.microsoft.com/office/powerpoint/2010/main" val="37913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05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신뢰도 기준 2가지 유형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202" name="Box 202"/>
          <p:cNvSpPr/>
          <p:nvPr/>
        </p:nvSpPr>
        <p:spPr>
          <a:xfrm>
            <a:off x="1295400" y="2603500"/>
            <a:ext cx="15697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 신뢰도</a:t>
            </a:r>
            <a:endParaRPr lang="ko-KR" sz="1600" dirty="0"/>
          </a:p>
        </p:txBody>
      </p:sp>
      <p:sp>
        <p:nvSpPr>
          <p:cNvPr id="203" name="Box 203"/>
          <p:cNvSpPr/>
          <p:nvPr/>
        </p:nvSpPr>
        <p:spPr>
          <a:xfrm>
            <a:off x="1295400" y="3048000"/>
            <a:ext cx="15069312" cy="203200"/>
          </a:xfrm>
          <a:prstGeom prst="rect">
            <a:avLst/>
          </a:prstGeom>
          <a:solidFill>
            <a:srgbClr val="BFC8E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4" name="Box 204"/>
          <p:cNvSpPr/>
          <p:nvPr/>
        </p:nvSpPr>
        <p:spPr>
          <a:xfrm>
            <a:off x="16364712" y="3048000"/>
            <a:ext cx="627888" cy="203200"/>
          </a:xfrm>
          <a:prstGeom prst="rect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5" name="Box 205"/>
          <p:cNvSpPr/>
          <p:nvPr/>
        </p:nvSpPr>
        <p:spPr>
          <a:xfrm>
            <a:off x="1295400" y="3327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0.5 (확신 낮음)</a:t>
            </a:r>
            <a:endParaRPr lang="ko-KR" sz="1400" dirty="0"/>
          </a:p>
        </p:txBody>
      </p:sp>
      <p:sp>
        <p:nvSpPr>
          <p:cNvPr id="206" name="Box 206"/>
          <p:cNvSpPr/>
          <p:nvPr/>
        </p:nvSpPr>
        <p:spPr>
          <a:xfrm>
            <a:off x="13182600" y="3327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1.0 (확신 높음)</a:t>
            </a:r>
            <a:endParaRPr lang="ko-KR" sz="1400" dirty="0"/>
          </a:p>
        </p:txBody>
      </p:sp>
      <p:sp>
        <p:nvSpPr>
          <p:cNvPr id="207" name="Box 207"/>
          <p:cNvSpPr/>
          <p:nvPr/>
        </p:nvSpPr>
        <p:spPr>
          <a:xfrm>
            <a:off x="1295400" y="3937000"/>
            <a:ext cx="7620000" cy="50800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8" name="Box 208"/>
          <p:cNvSpPr/>
          <p:nvPr/>
        </p:nvSpPr>
        <p:spPr>
          <a:xfrm>
            <a:off x="1676400" y="4191000"/>
            <a:ext cx="685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저신뢰 오분류</a:t>
            </a:r>
            <a:endParaRPr lang="ko-KR" sz="2400" dirty="0"/>
          </a:p>
        </p:txBody>
      </p:sp>
      <p:sp>
        <p:nvSpPr>
          <p:cNvPr id="209" name="Box 209"/>
          <p:cNvSpPr/>
          <p:nvPr/>
        </p:nvSpPr>
        <p:spPr>
          <a:xfrm>
            <a:off x="1676400" y="4800600"/>
            <a:ext cx="6858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44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0.98 미만</a:t>
            </a:r>
            <a:endParaRPr lang="ko-KR" sz="4400" dirty="0"/>
          </a:p>
        </p:txBody>
      </p:sp>
      <p:sp>
        <p:nvSpPr>
          <p:cNvPr id="210" name="Box 210"/>
          <p:cNvSpPr/>
          <p:nvPr/>
        </p:nvSpPr>
        <p:spPr>
          <a:xfrm>
            <a:off x="1676400" y="5740400"/>
            <a:ext cx="685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181, 342 · 관측 0.52~0.61</a:t>
            </a:r>
            <a:endParaRPr lang="ko-KR" sz="1600" dirty="0"/>
          </a:p>
        </p:txBody>
      </p:sp>
      <p:cxnSp>
        <p:nvCxnSpPr>
          <p:cNvPr id="211" name="Line 211"/>
          <p:cNvCxnSpPr/>
          <p:nvPr/>
        </p:nvCxnSpPr>
        <p:spPr>
          <a:xfrm>
            <a:off x="1676400" y="6350000"/>
            <a:ext cx="6858000" cy="0"/>
          </a:xfrm>
          <a:prstGeom prst="line">
            <a:avLst/>
          </a:prstGeom>
          <a:ln w="12700">
            <a:solidFill>
              <a:srgbClr val="BFC8E6"/>
            </a:solidFill>
          </a:ln>
        </p:spPr>
      </p:cxnSp>
      <p:sp>
        <p:nvSpPr>
          <p:cNvPr id="212" name="Box 212"/>
          <p:cNvSpPr/>
          <p:nvPr/>
        </p:nvSpPr>
        <p:spPr>
          <a:xfrm>
            <a:off x="1676400" y="6540500"/>
            <a:ext cx="685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의미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모델도 확신하지 못하는 경계 고객</a:t>
            </a:r>
            <a:endParaRPr lang="ko-KR" sz="1800" dirty="0"/>
          </a:p>
        </p:txBody>
      </p:sp>
      <p:sp>
        <p:nvSpPr>
          <p:cNvPr id="213" name="Box 213"/>
          <p:cNvSpPr/>
          <p:nvPr/>
        </p:nvSpPr>
        <p:spPr>
          <a:xfrm>
            <a:off x="1676400" y="7493000"/>
            <a:ext cx="6858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대응 방향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성급한 결론 대신 </a:t>
            </a:r>
            <a:r>
              <a:rPr lang="ko-KR" altLang="en-US" sz="18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검증을 우선</a:t>
            </a:r>
            <a:endParaRPr lang="ko-KR" sz="1800" dirty="0"/>
          </a:p>
        </p:txBody>
      </p:sp>
      <p:sp>
        <p:nvSpPr>
          <p:cNvPr id="214" name="Box 214"/>
          <p:cNvSpPr/>
          <p:nvPr/>
        </p:nvSpPr>
        <p:spPr>
          <a:xfrm>
            <a:off x="9372600" y="3937000"/>
            <a:ext cx="7620000" cy="5080000"/>
          </a:xfrm>
          <a:prstGeom prst="roundRect">
            <a:avLst>
              <a:gd name="adj" fmla="val 4000"/>
            </a:avLst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5" name="Box 215"/>
          <p:cNvSpPr/>
          <p:nvPr/>
        </p:nvSpPr>
        <p:spPr>
          <a:xfrm>
            <a:off x="9753600" y="4191000"/>
            <a:ext cx="685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고신뢰 오분류</a:t>
            </a:r>
            <a:endParaRPr lang="ko-KR" sz="2400" dirty="0"/>
          </a:p>
        </p:txBody>
      </p:sp>
      <p:sp>
        <p:nvSpPr>
          <p:cNvPr id="216" name="Box 216"/>
          <p:cNvSpPr/>
          <p:nvPr/>
        </p:nvSpPr>
        <p:spPr>
          <a:xfrm>
            <a:off x="9753600" y="4800600"/>
            <a:ext cx="6858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0.98 이상</a:t>
            </a:r>
            <a:endParaRPr lang="ko-KR" sz="4400" dirty="0"/>
          </a:p>
        </p:txBody>
      </p:sp>
      <p:sp>
        <p:nvSpPr>
          <p:cNvPr id="217" name="Box 217"/>
          <p:cNvSpPr/>
          <p:nvPr/>
        </p:nvSpPr>
        <p:spPr>
          <a:xfrm>
            <a:off x="9753600" y="5740400"/>
            <a:ext cx="685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E4E9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223, 11 · 관측 0.98~0.997</a:t>
            </a:r>
            <a:endParaRPr lang="ko-KR" sz="1600" dirty="0"/>
          </a:p>
        </p:txBody>
      </p:sp>
      <p:cxnSp>
        <p:nvCxnSpPr>
          <p:cNvPr id="218" name="Line 218"/>
          <p:cNvCxnSpPr/>
          <p:nvPr/>
        </p:nvCxnSpPr>
        <p:spPr>
          <a:xfrm>
            <a:off x="9753600" y="6350000"/>
            <a:ext cx="6858000" cy="0"/>
          </a:xfrm>
          <a:prstGeom prst="line">
            <a:avLst/>
          </a:prstGeom>
          <a:ln w="12700">
            <a:solidFill>
              <a:srgbClr val="8C9BD1"/>
            </a:solidFill>
          </a:ln>
        </p:spPr>
      </p:cxnSp>
      <p:sp>
        <p:nvSpPr>
          <p:cNvPr id="219" name="Box 219"/>
          <p:cNvSpPr/>
          <p:nvPr/>
        </p:nvSpPr>
        <p:spPr>
          <a:xfrm>
            <a:off x="9753600" y="6540500"/>
            <a:ext cx="685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E4E9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의미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모델은 확신하는데 등록 채널과 다른 고객</a:t>
            </a:r>
            <a:endParaRPr lang="ko-KR" sz="1800" dirty="0"/>
          </a:p>
        </p:txBody>
      </p:sp>
      <p:sp>
        <p:nvSpPr>
          <p:cNvPr id="220" name="Box 220"/>
          <p:cNvSpPr/>
          <p:nvPr/>
        </p:nvSpPr>
        <p:spPr>
          <a:xfrm>
            <a:off x="9753600" y="7493000"/>
            <a:ext cx="6858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E4E9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대응 방향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 채널(Retail)과 실제 구매 행동(Horeca형)이 어긋남 → </a:t>
            </a: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행동 기준으로 대응</a:t>
            </a:r>
            <a:endParaRPr lang="ko-KR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2F97C3-C1BF-4C45-9CFC-4A4A847A6384}"/>
              </a:ext>
            </a:extLst>
          </p:cNvPr>
          <p:cNvSpPr txBox="1"/>
          <p:nvPr/>
        </p:nvSpPr>
        <p:spPr>
          <a:xfrm>
            <a:off x="14332712" y="2717800"/>
            <a:ext cx="203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r"/>
            <a:r>
              <a:rPr lang="en-US" altLang="ko-KR" sz="1200" b="1">
                <a:solidFill>
                  <a:srgbClr val="4A5BA3"/>
                </a:solidFill>
                <a:latin typeface="맑은 고딕"/>
                <a:ea typeface="맑은 고딕"/>
              </a:rPr>
              <a:t>0.98 (</a:t>
            </a:r>
            <a:r>
              <a:rPr lang="ko-KR" altLang="en-US" sz="1200" b="1">
                <a:solidFill>
                  <a:srgbClr val="4A5BA3"/>
                </a:solidFill>
                <a:latin typeface="맑은 고딕"/>
                <a:ea typeface="맑은 고딕"/>
              </a:rPr>
              <a:t>기준값</a:t>
            </a:r>
            <a:r>
              <a:rPr lang="en-US" altLang="ko-KR" sz="1200" b="1">
                <a:solidFill>
                  <a:srgbClr val="4A5BA3"/>
                </a:solidFill>
                <a:latin typeface="맑은 고딕"/>
                <a:ea typeface="맑은 고딕"/>
              </a:rPr>
              <a:t>)</a:t>
            </a:r>
            <a:endParaRPr lang="ko-KR" altLang="en-US" sz="1200" b="1">
              <a:solidFill>
                <a:srgbClr val="4A5BA3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59301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06B63-7661-C25F-F424-C1B97C243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0FE1ABA-834A-490A-A41A-E8AD13921B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54031A8-1628-5631-30EC-9B56926288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1E6D7F73-FE18-9B56-211C-9B65735436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DD67A2F6-D838-FDCA-05FE-B172C0788A76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06</a:t>
            </a:r>
            <a:endParaRPr lang="en-US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263DB89-CBB0-D512-D9F2-C0F28E85CEC3}"/>
              </a:ext>
            </a:extLst>
          </p:cNvPr>
          <p:cNvSpPr txBox="1"/>
          <p:nvPr/>
        </p:nvSpPr>
        <p:spPr>
          <a:xfrm>
            <a:off x="1905000" y="3683000"/>
            <a:ext cx="7112000" cy="25400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5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마케팅</a:t>
            </a:r>
            <a:endParaRPr lang="ko-KR" sz="5400" dirty="0"/>
          </a:p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5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전략</a:t>
            </a:r>
            <a:endParaRPr lang="ko-KR" sz="54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885FBD-9ACB-60EB-5951-CDB068871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 dirty="0"/>
          </a:p>
        </p:txBody>
      </p:sp>
      <p:cxnSp>
        <p:nvCxnSpPr>
          <p:cNvPr id="201" name="Line 201"/>
          <p:cNvCxnSpPr/>
          <p:nvPr/>
        </p:nvCxnSpPr>
        <p:spPr>
          <a:xfrm>
            <a:off x="9398000" y="3175000"/>
            <a:ext cx="0" cy="3937000"/>
          </a:xfrm>
          <a:prstGeom prst="line">
            <a:avLst/>
          </a:prstGeom>
          <a:ln w="19050">
            <a:solidFill>
              <a:srgbClr val="BFC8E6"/>
            </a:solidFill>
          </a:ln>
        </p:spPr>
      </p:cxnSp>
      <p:sp>
        <p:nvSpPr>
          <p:cNvPr id="202" name="Box 202"/>
          <p:cNvSpPr/>
          <p:nvPr/>
        </p:nvSpPr>
        <p:spPr>
          <a:xfrm>
            <a:off x="10033000" y="3302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800" dirty="0"/>
          </a:p>
        </p:txBody>
      </p:sp>
      <p:sp>
        <p:nvSpPr>
          <p:cNvPr id="203" name="Box 203"/>
          <p:cNvSpPr/>
          <p:nvPr/>
        </p:nvSpPr>
        <p:spPr>
          <a:xfrm>
            <a:off x="10922000" y="3175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전략 원칙</a:t>
            </a:r>
            <a:endParaRPr lang="ko-KR" sz="2400" b="1" dirty="0"/>
          </a:p>
        </p:txBody>
      </p:sp>
      <p:sp>
        <p:nvSpPr>
          <p:cNvPr id="204" name="Box 204"/>
          <p:cNvSpPr/>
          <p:nvPr/>
        </p:nvSpPr>
        <p:spPr>
          <a:xfrm>
            <a:off x="10033000" y="4318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800" dirty="0"/>
          </a:p>
        </p:txBody>
      </p:sp>
      <p:sp>
        <p:nvSpPr>
          <p:cNvPr id="205" name="Box 205"/>
          <p:cNvSpPr/>
          <p:nvPr/>
        </p:nvSpPr>
        <p:spPr>
          <a:xfrm>
            <a:off x="10922000" y="4191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유형별 핵심 액션 (유형 </a:t>
            </a:r>
            <a:r>
              <a:rPr lang="ko-KR" altLang="en-US" sz="2400" b="1" dirty="0" err="1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en-US" altLang="ko-KR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en-US" altLang="ko-KR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A2</a:t>
            </a: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B·C)</a:t>
            </a:r>
            <a:endParaRPr 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854978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06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마케팅 전략 원칙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1295400" y="1752600"/>
            <a:ext cx="15697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 채널은 그대로 두고, 우리 서비스를 고객의 실제 구매 행동에 맞춘다</a:t>
            </a:r>
            <a:r>
              <a:rPr lang="en-US" altLang="ko-KR" sz="22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sz="2200" dirty="0"/>
          </a:p>
        </p:txBody>
      </p:sp>
      <p:sp>
        <p:nvSpPr>
          <p:cNvPr id="202" name="Box 202"/>
          <p:cNvSpPr/>
          <p:nvPr/>
        </p:nvSpPr>
        <p:spPr>
          <a:xfrm>
            <a:off x="1295400" y="2667000"/>
            <a:ext cx="5029200" cy="31750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3" name="Box 203"/>
          <p:cNvSpPr/>
          <p:nvPr/>
        </p:nvSpPr>
        <p:spPr>
          <a:xfrm>
            <a:off x="1600200" y="2946400"/>
            <a:ext cx="660400" cy="6604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2200" dirty="0"/>
          </a:p>
        </p:txBody>
      </p:sp>
      <p:sp>
        <p:nvSpPr>
          <p:cNvPr id="204" name="Box 204"/>
          <p:cNvSpPr/>
          <p:nvPr/>
        </p:nvSpPr>
        <p:spPr>
          <a:xfrm>
            <a:off x="1600200" y="3810000"/>
            <a:ext cx="441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 채널은 유지</a:t>
            </a:r>
            <a:endParaRPr lang="ko-KR" sz="2400" dirty="0"/>
          </a:p>
        </p:txBody>
      </p:sp>
      <p:sp>
        <p:nvSpPr>
          <p:cNvPr id="205" name="Box 205"/>
          <p:cNvSpPr/>
          <p:nvPr/>
        </p:nvSpPr>
        <p:spPr>
          <a:xfrm>
            <a:off x="1600200" y="4445000"/>
            <a:ext cx="44196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7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채널은 고객의 업종 정체성이므로 "채널을 바꾸라"고 요구할 대상이 아님</a:t>
            </a:r>
            <a:endParaRPr lang="ko-KR" sz="1700" dirty="0"/>
          </a:p>
        </p:txBody>
      </p:sp>
      <p:sp>
        <p:nvSpPr>
          <p:cNvPr id="206" name="Box 206"/>
          <p:cNvSpPr/>
          <p:nvPr/>
        </p:nvSpPr>
        <p:spPr>
          <a:xfrm>
            <a:off x="6629400" y="2667000"/>
            <a:ext cx="5029200" cy="31750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7" name="Box 207"/>
          <p:cNvSpPr/>
          <p:nvPr/>
        </p:nvSpPr>
        <p:spPr>
          <a:xfrm>
            <a:off x="6934200" y="2946400"/>
            <a:ext cx="660400" cy="6604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2200" dirty="0"/>
          </a:p>
        </p:txBody>
      </p:sp>
      <p:sp>
        <p:nvSpPr>
          <p:cNvPr id="230" name="Box 230"/>
          <p:cNvSpPr/>
          <p:nvPr/>
        </p:nvSpPr>
        <p:spPr>
          <a:xfrm>
            <a:off x="6934200" y="3810000"/>
            <a:ext cx="441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서비스를 행동에 맞춤</a:t>
            </a:r>
            <a:endParaRPr lang="ko-KR" sz="2400" dirty="0"/>
          </a:p>
        </p:txBody>
      </p:sp>
      <p:sp>
        <p:nvSpPr>
          <p:cNvPr id="231" name="Box 231"/>
          <p:cNvSpPr/>
          <p:nvPr/>
        </p:nvSpPr>
        <p:spPr>
          <a:xfrm>
            <a:off x="6934200" y="4445000"/>
            <a:ext cx="44196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7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카탈로그·배송·영업 등 우리 쪽 제안을 실제 구매 패턴 기준으로 조정</a:t>
            </a:r>
            <a:endParaRPr lang="ko-KR" sz="1700" dirty="0"/>
          </a:p>
        </p:txBody>
      </p:sp>
      <p:sp>
        <p:nvSpPr>
          <p:cNvPr id="210" name="Box 210"/>
          <p:cNvSpPr/>
          <p:nvPr/>
        </p:nvSpPr>
        <p:spPr>
          <a:xfrm>
            <a:off x="11963400" y="2667000"/>
            <a:ext cx="5029200" cy="31750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1" name="Box 211"/>
          <p:cNvSpPr/>
          <p:nvPr/>
        </p:nvSpPr>
        <p:spPr>
          <a:xfrm>
            <a:off x="12268200" y="2946400"/>
            <a:ext cx="660400" cy="6604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sz="2200" dirty="0"/>
          </a:p>
        </p:txBody>
      </p:sp>
      <p:sp>
        <p:nvSpPr>
          <p:cNvPr id="212" name="Box 212"/>
          <p:cNvSpPr/>
          <p:nvPr/>
        </p:nvSpPr>
        <p:spPr>
          <a:xfrm>
            <a:off x="12268200" y="3810000"/>
            <a:ext cx="441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신뢰도 = 액션 강도</a:t>
            </a:r>
            <a:endParaRPr lang="ko-KR" sz="2400" dirty="0"/>
          </a:p>
        </p:txBody>
      </p:sp>
      <p:sp>
        <p:nvSpPr>
          <p:cNvPr id="213" name="Box 213"/>
          <p:cNvSpPr/>
          <p:nvPr/>
        </p:nvSpPr>
        <p:spPr>
          <a:xfrm>
            <a:off x="12268200" y="4445000"/>
            <a:ext cx="44196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7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 신뢰도가 높을수록 즉시 실행, 낮을수록 검증부터</a:t>
            </a:r>
            <a:endParaRPr lang="ko-KR" sz="1700" dirty="0"/>
          </a:p>
        </p:txBody>
      </p:sp>
      <p:sp>
        <p:nvSpPr>
          <p:cNvPr id="214" name="Box 214"/>
          <p:cNvSpPr/>
          <p:nvPr/>
        </p:nvSpPr>
        <p:spPr>
          <a:xfrm>
            <a:off x="1295400" y="6223000"/>
            <a:ext cx="15697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 신뢰도에 따른 액션 강도</a:t>
            </a:r>
            <a:endParaRPr lang="ko-KR" sz="1800" dirty="0"/>
          </a:p>
        </p:txBody>
      </p:sp>
      <p:sp>
        <p:nvSpPr>
          <p:cNvPr id="6" name="Box 201"/>
          <p:cNvSpPr/>
          <p:nvPr/>
        </p:nvSpPr>
        <p:spPr>
          <a:xfrm>
            <a:off x="1295400" y="6731000"/>
            <a:ext cx="8001000" cy="2159000"/>
          </a:xfrm>
          <a:prstGeom prst="homePlate">
            <a:avLst>
              <a:gd name="adj" fmla="val 20000"/>
            </a:avLst>
          </a:prstGeom>
          <a:solidFill>
            <a:srgbClr val="DDE3F3"/>
          </a:solidFill>
          <a:ln>
            <a:noFill/>
          </a:ln>
        </p:spPr>
        <p:txBody>
          <a:bodyPr wrap="square" lIns="304800" tIns="0" rIns="57150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신뢰도 낮음 (0.98 미만)</a:t>
            </a:r>
            <a:endParaRPr lang="ko-KR" sz="1600" dirty="0"/>
          </a:p>
          <a:p>
            <a:pPr algn="l">
              <a:lnSpc>
                <a:spcPct val="105000"/>
              </a:lnSpc>
              <a:spcBef>
                <a:spcPts val="400"/>
              </a:spcBef>
              <a:buNone/>
            </a:pPr>
            <a:r>
              <a:rPr lang="ko-KR" altLang="en-US" sz="2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우선</a:t>
            </a:r>
            <a:endParaRPr lang="ko-KR" sz="2600" dirty="0"/>
          </a:p>
          <a:p>
            <a:pPr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ko-KR" altLang="en-US" sz="1600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발주 이력을 먼저 확인하고, 성급한 결론 대신 소규모 시범 제안</a:t>
            </a:r>
            <a:endParaRPr lang="ko-KR" sz="1600" dirty="0"/>
          </a:p>
        </p:txBody>
      </p:sp>
      <p:sp>
        <p:nvSpPr>
          <p:cNvPr id="7" name="Box 202"/>
          <p:cNvSpPr/>
          <p:nvPr/>
        </p:nvSpPr>
        <p:spPr>
          <a:xfrm>
            <a:off x="9017000" y="6731000"/>
            <a:ext cx="7975600" cy="2159000"/>
          </a:xfrm>
          <a:prstGeom prst="chevron">
            <a:avLst>
              <a:gd name="adj" fmla="val 20000"/>
            </a:avLst>
          </a:prstGeom>
          <a:solidFill>
            <a:srgbClr val="4A5BA3"/>
          </a:solidFill>
          <a:ln>
            <a:noFill/>
          </a:ln>
        </p:spPr>
        <p:txBody>
          <a:bodyPr wrap="square" lIns="698500" tIns="0" rIns="57150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신뢰도 높음 (0.9</a:t>
            </a:r>
            <a:r>
              <a:rPr lang="en-US" altLang="ko-KR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이상)</a:t>
            </a:r>
            <a:endParaRPr lang="en-US" altLang="ko-KR" sz="16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</a:t>
            </a:r>
            <a:endParaRPr lang="ko-KR" sz="2600" dirty="0"/>
          </a:p>
          <a:p>
            <a:pPr algn="l">
              <a:lnSpc>
                <a:spcPct val="105000"/>
              </a:lnSpc>
              <a:spcBef>
                <a:spcPts val="600"/>
              </a:spcBef>
              <a:buNone/>
            </a:pPr>
            <a:r>
              <a:rPr lang="ko-KR" altLang="en-US" sz="16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내부 서비스 기준을 실제 행동에 맞춰 전환 · 단, 품목 구성이 혼합이면 구매 이력 확인을 먼저</a:t>
            </a:r>
            <a:endParaRPr lang="ko-KR" sz="1600" dirty="0"/>
          </a:p>
        </p:txBody>
      </p:sp>
    </p:spTree>
    <p:extLst>
      <p:ext uri="{BB962C8B-B14F-4D97-AF65-F5344CB8AC3E}">
        <p14:creationId xmlns:p14="http://schemas.microsoft.com/office/powerpoint/2010/main" val="3036440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06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유형 </a:t>
            </a:r>
            <a:r>
              <a:rPr lang="en-US" altLang="ko-KR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A-1. </a:t>
            </a:r>
            <a:r>
              <a:rPr lang="ko-KR" altLang="en-US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라벨</a:t>
            </a:r>
            <a:r>
              <a:rPr lang="en-US" altLang="ko-KR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-</a:t>
            </a:r>
            <a:r>
              <a:rPr lang="ko-KR" altLang="en-US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행동 불일치형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Box 201"/>
          <p:cNvSpPr/>
          <p:nvPr/>
        </p:nvSpPr>
        <p:spPr>
          <a:xfrm>
            <a:off x="1600200" y="3708400"/>
            <a:ext cx="3378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223 · 실제 Retail → </a:t>
            </a:r>
            <a:r>
              <a:rPr lang="ko-KR" altLang="en-US" sz="1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 Horeca</a:t>
            </a:r>
            <a:endParaRPr lang="ko-KR" sz="1400" dirty="0"/>
          </a:p>
        </p:txBody>
      </p:sp>
      <p:sp>
        <p:nvSpPr>
          <p:cNvPr id="9" name="Box 202"/>
          <p:cNvSpPr/>
          <p:nvPr/>
        </p:nvSpPr>
        <p:spPr>
          <a:xfrm>
            <a:off x="5029200" y="3810000"/>
            <a:ext cx="548053" cy="177800"/>
          </a:xfrm>
          <a:prstGeom prst="rect">
            <a:avLst/>
          </a:prstGeom>
          <a:solidFill>
            <a:srgbClr val="C9A36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10" name="Box 203"/>
          <p:cNvSpPr/>
          <p:nvPr/>
        </p:nvSpPr>
        <p:spPr>
          <a:xfrm>
            <a:off x="5577253" y="3810000"/>
            <a:ext cx="12700" cy="177800"/>
          </a:xfrm>
          <a:prstGeom prst="rect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11" name="Box 204"/>
          <p:cNvSpPr/>
          <p:nvPr/>
        </p:nvSpPr>
        <p:spPr>
          <a:xfrm>
            <a:off x="5689600" y="37084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 98% · Retail 2%</a:t>
            </a:r>
            <a:endParaRPr lang="ko-KR" sz="1400" dirty="0"/>
          </a:p>
        </p:txBody>
      </p:sp>
      <p:sp>
        <p:nvSpPr>
          <p:cNvPr id="202" name="Box 202"/>
          <p:cNvSpPr/>
          <p:nvPr/>
        </p:nvSpPr>
        <p:spPr>
          <a:xfrm>
            <a:off x="1295400" y="2540000"/>
            <a:ext cx="7112000" cy="6477000"/>
          </a:xfrm>
          <a:prstGeom prst="roundRect">
            <a:avLst>
              <a:gd name="adj" fmla="val 35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3" name="Box 203"/>
          <p:cNvSpPr/>
          <p:nvPr/>
        </p:nvSpPr>
        <p:spPr>
          <a:xfrm>
            <a:off x="1600200" y="27940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진단</a:t>
            </a:r>
            <a:endParaRPr lang="ko-KR" sz="1600" dirty="0"/>
          </a:p>
        </p:txBody>
      </p:sp>
      <p:sp>
        <p:nvSpPr>
          <p:cNvPr id="204" name="Box 204"/>
          <p:cNvSpPr/>
          <p:nvPr/>
        </p:nvSpPr>
        <p:spPr>
          <a:xfrm>
            <a:off x="1600200" y="3200400"/>
            <a:ext cx="6502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11 · C0 소량 신선식품 중심형</a:t>
            </a:r>
            <a:endParaRPr lang="ko-KR" sz="2000" dirty="0"/>
          </a:p>
        </p:txBody>
      </p:sp>
      <p:sp>
        <p:nvSpPr>
          <p:cNvPr id="205" name="Box 205"/>
          <p:cNvSpPr/>
          <p:nvPr/>
        </p:nvSpPr>
        <p:spPr>
          <a:xfrm>
            <a:off x="1600200" y="3759200"/>
            <a:ext cx="3378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11 · 실제 Retail → </a:t>
            </a:r>
            <a:r>
              <a:rPr lang="ko-KR" altLang="en-US" sz="1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 Horeca</a:t>
            </a:r>
            <a:endParaRPr lang="ko-KR" sz="1400" dirty="0"/>
          </a:p>
        </p:txBody>
      </p:sp>
      <p:sp>
        <p:nvSpPr>
          <p:cNvPr id="206" name="Box 206"/>
          <p:cNvSpPr/>
          <p:nvPr/>
        </p:nvSpPr>
        <p:spPr>
          <a:xfrm>
            <a:off x="5029200" y="3860800"/>
            <a:ext cx="558800" cy="177800"/>
          </a:xfrm>
          <a:prstGeom prst="rect">
            <a:avLst/>
          </a:prstGeom>
          <a:solidFill>
            <a:srgbClr val="C9A36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7" name="Box 207"/>
          <p:cNvSpPr/>
          <p:nvPr/>
        </p:nvSpPr>
        <p:spPr>
          <a:xfrm>
            <a:off x="5588000" y="3860800"/>
            <a:ext cx="12700" cy="177800"/>
          </a:xfrm>
          <a:prstGeom prst="rect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8" name="Box 208"/>
          <p:cNvSpPr/>
          <p:nvPr/>
        </p:nvSpPr>
        <p:spPr>
          <a:xfrm>
            <a:off x="5689600" y="37592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 99.7% · Retail 0.3%</a:t>
            </a:r>
            <a:endParaRPr lang="ko-KR" sz="1400" dirty="0"/>
          </a:p>
        </p:txBody>
      </p:sp>
      <p:sp>
        <p:nvSpPr>
          <p:cNvPr id="211" name="Box 211"/>
          <p:cNvSpPr/>
          <p:nvPr/>
        </p:nvSpPr>
        <p:spPr>
          <a:xfrm>
            <a:off x="8763000" y="25400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액션</a:t>
            </a:r>
            <a:endParaRPr lang="ko-KR" sz="1600" dirty="0"/>
          </a:p>
        </p:txBody>
      </p:sp>
      <p:sp>
        <p:nvSpPr>
          <p:cNvPr id="212" name="Box 212"/>
          <p:cNvSpPr/>
          <p:nvPr/>
        </p:nvSpPr>
        <p:spPr>
          <a:xfrm>
            <a:off x="8763000" y="3022600"/>
            <a:ext cx="8229600" cy="1187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3" name="Box 213"/>
          <p:cNvSpPr/>
          <p:nvPr/>
        </p:nvSpPr>
        <p:spPr>
          <a:xfrm>
            <a:off x="8991600" y="3336925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800" dirty="0"/>
          </a:p>
        </p:txBody>
      </p:sp>
      <p:sp>
        <p:nvSpPr>
          <p:cNvPr id="214" name="Box 214"/>
          <p:cNvSpPr/>
          <p:nvPr/>
        </p:nvSpPr>
        <p:spPr>
          <a:xfrm>
            <a:off x="9779000" y="3124200"/>
            <a:ext cx="6985000" cy="98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전환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신선 식자재 카탈로그 우선 노출, Horeca 전문 영업사원 배정</a:t>
            </a:r>
            <a:endParaRPr lang="ko-KR" sz="1500" dirty="0"/>
          </a:p>
        </p:txBody>
      </p:sp>
      <p:sp>
        <p:nvSpPr>
          <p:cNvPr id="215" name="Box 215"/>
          <p:cNvSpPr/>
          <p:nvPr/>
        </p:nvSpPr>
        <p:spPr>
          <a:xfrm>
            <a:off x="8763000" y="4362450"/>
            <a:ext cx="8229600" cy="1187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6" name="Box 216"/>
          <p:cNvSpPr/>
          <p:nvPr/>
        </p:nvSpPr>
        <p:spPr>
          <a:xfrm>
            <a:off x="8991600" y="4676775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800" dirty="0"/>
          </a:p>
        </p:txBody>
      </p:sp>
      <p:sp>
        <p:nvSpPr>
          <p:cNvPr id="217" name="Box 217"/>
          <p:cNvSpPr/>
          <p:nvPr/>
        </p:nvSpPr>
        <p:spPr>
          <a:xfrm>
            <a:off x="9779000" y="4464050"/>
            <a:ext cx="6985000" cy="98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정기배송 제안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Fresh 중심 품목을 주/월 단위 정기배송으로 묶어 구매 주기 고정</a:t>
            </a:r>
            <a:endParaRPr lang="ko-KR" sz="1500" dirty="0"/>
          </a:p>
        </p:txBody>
      </p:sp>
      <p:sp>
        <p:nvSpPr>
          <p:cNvPr id="218" name="Box 218"/>
          <p:cNvSpPr/>
          <p:nvPr/>
        </p:nvSpPr>
        <p:spPr>
          <a:xfrm>
            <a:off x="8763000" y="5702300"/>
            <a:ext cx="8229600" cy="1187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9" name="Box 219"/>
          <p:cNvSpPr/>
          <p:nvPr/>
        </p:nvSpPr>
        <p:spPr>
          <a:xfrm>
            <a:off x="8991600" y="6016625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sz="1800" dirty="0"/>
          </a:p>
        </p:txBody>
      </p:sp>
      <p:sp>
        <p:nvSpPr>
          <p:cNvPr id="220" name="Box 220"/>
          <p:cNvSpPr/>
          <p:nvPr/>
        </p:nvSpPr>
        <p:spPr>
          <a:xfrm>
            <a:off x="9779000" y="5803900"/>
            <a:ext cx="6985000" cy="98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교차판매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신선 정기배송에 세제·종이류를 묶은 번들 할인 제공</a:t>
            </a:r>
            <a:endParaRPr lang="ko-KR" sz="1500" dirty="0"/>
          </a:p>
        </p:txBody>
      </p:sp>
      <p:sp>
        <p:nvSpPr>
          <p:cNvPr id="221" name="Box 221"/>
          <p:cNvSpPr/>
          <p:nvPr/>
        </p:nvSpPr>
        <p:spPr>
          <a:xfrm>
            <a:off x="8763000" y="7042150"/>
            <a:ext cx="8229600" cy="1187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22" name="Box 222"/>
          <p:cNvSpPr/>
          <p:nvPr/>
        </p:nvSpPr>
        <p:spPr>
          <a:xfrm>
            <a:off x="8991600" y="7356475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sz="1800" dirty="0"/>
          </a:p>
        </p:txBody>
      </p:sp>
      <p:sp>
        <p:nvSpPr>
          <p:cNvPr id="223" name="Box 223"/>
          <p:cNvSpPr/>
          <p:nvPr/>
        </p:nvSpPr>
        <p:spPr>
          <a:xfrm>
            <a:off x="9779000" y="7143750"/>
            <a:ext cx="6985000" cy="98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반응 모니터링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 후 Fresh 재구매 여부와 주기를 추적해 서비스 유지 여부 판단</a:t>
            </a:r>
            <a:endParaRPr lang="ko-KR" sz="1500" dirty="0"/>
          </a:p>
        </p:txBody>
      </p:sp>
      <p:sp>
        <p:nvSpPr>
          <p:cNvPr id="224" name="Box 224"/>
          <p:cNvSpPr/>
          <p:nvPr/>
        </p:nvSpPr>
        <p:spPr>
          <a:xfrm>
            <a:off x="8763000" y="8509000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신뢰도 0.997 · 구성도 Horeca형 → 즉시 실행</a:t>
            </a:r>
            <a:endParaRPr lang="ko-KR" sz="1600" dirty="0"/>
          </a:p>
        </p:txBody>
      </p:sp>
      <p:sp>
        <p:nvSpPr>
          <p:cNvPr id="6" name="Box 201"/>
          <p:cNvSpPr/>
          <p:nvPr/>
        </p:nvSpPr>
        <p:spPr>
          <a:xfrm>
            <a:off x="1600200" y="4241800"/>
            <a:ext cx="650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품목별 구매액 vs 채널별 중앙값</a:t>
            </a:r>
            <a:endParaRPr lang="ko-KR" sz="1400" dirty="0"/>
          </a:p>
        </p:txBody>
      </p:sp>
      <p:graphicFrame>
        <p:nvGraphicFramePr>
          <p:cNvPr id="7" name="Table 202"/>
          <p:cNvGraphicFramePr>
            <a:graphicFrameLocks noGrp="1"/>
          </p:cNvGraphicFramePr>
          <p:nvPr/>
        </p:nvGraphicFramePr>
        <p:xfrm>
          <a:off x="1600200" y="4597400"/>
          <a:ext cx="6502400" cy="2458720"/>
        </p:xfrm>
        <a:graphic>
          <a:graphicData uri="http://schemas.openxmlformats.org/drawingml/2006/table">
            <a:tbl>
              <a:tblPr firstRow="1"/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변수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11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 중앙값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 중앙값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판정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Det_Paper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549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386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5,615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Grocery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4,523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2,684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12,390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Milk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1,124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2,157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7,812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Fresh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13,146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9,582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5,994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Box 203"/>
          <p:cNvSpPr/>
          <p:nvPr/>
        </p:nvSpPr>
        <p:spPr>
          <a:xfrm>
            <a:off x="1600200" y="7061200"/>
            <a:ext cx="6502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판정: 두 중앙값의 로그 중간점 기준 · Det_Paper·Grocery·Milk = 중요도 상위 3개(72%)</a:t>
            </a:r>
            <a:endParaRPr lang="ko-KR" sz="1200" dirty="0"/>
          </a:p>
        </p:txBody>
      </p:sp>
      <p:sp>
        <p:nvSpPr>
          <p:cNvPr id="13" name="Box 204"/>
          <p:cNvSpPr/>
          <p:nvPr/>
        </p:nvSpPr>
        <p:spPr>
          <a:xfrm>
            <a:off x="1600200" y="7518400"/>
            <a:ext cx="65024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10000"/>
              </a:lnSpc>
              <a:spcBef>
                <a:spcPts val="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중요도 상위 3개 품목 구매액이 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모두 Horeca 수준</a:t>
            </a: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Det_Paper 549는 Horeca 중앙값(386)에 가깝다</a:t>
            </a:r>
            <a:endParaRPr lang="ko-KR" sz="1500" dirty="0"/>
          </a:p>
          <a:p>
            <a:pPr marL="285750" indent="-285750" algn="l">
              <a:lnSpc>
                <a:spcPct val="110000"/>
              </a:lnSpc>
              <a:spcBef>
                <a:spcPts val="4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Fresh 13,146으로 Horeca 중앙값(9,582)보다 많아 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규모와 구성 모두 Horeca형</a:t>
            </a:r>
            <a:endParaRPr lang="ko-KR" sz="1500" dirty="0"/>
          </a:p>
        </p:txBody>
      </p:sp>
    </p:spTree>
    <p:extLst>
      <p:ext uri="{BB962C8B-B14F-4D97-AF65-F5344CB8AC3E}">
        <p14:creationId xmlns:p14="http://schemas.microsoft.com/office/powerpoint/2010/main" val="1853795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06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유형 </a:t>
            </a:r>
            <a:r>
              <a:rPr lang="en-US" altLang="ko-KR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A-2. </a:t>
            </a:r>
            <a:r>
              <a:rPr lang="ko-KR" altLang="en-US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라벨</a:t>
            </a:r>
            <a:r>
              <a:rPr lang="en-US" altLang="ko-KR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-</a:t>
            </a:r>
            <a:r>
              <a:rPr lang="ko-KR" altLang="en-US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행동 불일치형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" name="Box 201"/>
          <p:cNvSpPr/>
          <p:nvPr/>
        </p:nvSpPr>
        <p:spPr>
          <a:xfrm>
            <a:off x="1600200" y="3708400"/>
            <a:ext cx="3378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223 · 실제 Retail → </a:t>
            </a:r>
            <a:r>
              <a:rPr lang="ko-KR" altLang="en-US" sz="1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 Horeca</a:t>
            </a:r>
            <a:endParaRPr lang="ko-KR" sz="1400" dirty="0"/>
          </a:p>
        </p:txBody>
      </p:sp>
      <p:sp>
        <p:nvSpPr>
          <p:cNvPr id="9" name="Box 202"/>
          <p:cNvSpPr/>
          <p:nvPr/>
        </p:nvSpPr>
        <p:spPr>
          <a:xfrm>
            <a:off x="5029200" y="3810000"/>
            <a:ext cx="548053" cy="177800"/>
          </a:xfrm>
          <a:prstGeom prst="rect">
            <a:avLst/>
          </a:prstGeom>
          <a:solidFill>
            <a:srgbClr val="C9A36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10" name="Box 203"/>
          <p:cNvSpPr/>
          <p:nvPr/>
        </p:nvSpPr>
        <p:spPr>
          <a:xfrm>
            <a:off x="5577253" y="3810000"/>
            <a:ext cx="12700" cy="177800"/>
          </a:xfrm>
          <a:prstGeom prst="rect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11" name="Box 204"/>
          <p:cNvSpPr/>
          <p:nvPr/>
        </p:nvSpPr>
        <p:spPr>
          <a:xfrm>
            <a:off x="5689600" y="37084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 98% · Retail 2%</a:t>
            </a:r>
            <a:endParaRPr lang="ko-KR" sz="1400" dirty="0"/>
          </a:p>
        </p:txBody>
      </p:sp>
      <p:sp>
        <p:nvSpPr>
          <p:cNvPr id="202" name="Box 202"/>
          <p:cNvSpPr/>
          <p:nvPr/>
        </p:nvSpPr>
        <p:spPr>
          <a:xfrm>
            <a:off x="1295400" y="2540000"/>
            <a:ext cx="7112000" cy="6477000"/>
          </a:xfrm>
          <a:prstGeom prst="roundRect">
            <a:avLst>
              <a:gd name="adj" fmla="val 35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3" name="Box 203"/>
          <p:cNvSpPr/>
          <p:nvPr/>
        </p:nvSpPr>
        <p:spPr>
          <a:xfrm>
            <a:off x="1600200" y="27940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진단</a:t>
            </a:r>
            <a:endParaRPr lang="ko-KR" sz="1600" dirty="0"/>
          </a:p>
        </p:txBody>
      </p:sp>
      <p:sp>
        <p:nvSpPr>
          <p:cNvPr id="204" name="Box 204"/>
          <p:cNvSpPr/>
          <p:nvPr/>
        </p:nvSpPr>
        <p:spPr>
          <a:xfrm>
            <a:off x="1600200" y="3200400"/>
            <a:ext cx="6502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223 · C0 소량 신선식품 중심형</a:t>
            </a:r>
            <a:endParaRPr lang="ko-KR" sz="2000" dirty="0"/>
          </a:p>
        </p:txBody>
      </p:sp>
      <p:sp>
        <p:nvSpPr>
          <p:cNvPr id="205" name="Box 205"/>
          <p:cNvSpPr/>
          <p:nvPr/>
        </p:nvSpPr>
        <p:spPr>
          <a:xfrm>
            <a:off x="1600200" y="3759200"/>
            <a:ext cx="3378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223 · 실제 Retail → </a:t>
            </a:r>
            <a:r>
              <a:rPr lang="ko-KR" altLang="en-US" sz="1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 Horeca</a:t>
            </a:r>
            <a:endParaRPr lang="ko-KR" sz="1400" dirty="0"/>
          </a:p>
        </p:txBody>
      </p:sp>
      <p:sp>
        <p:nvSpPr>
          <p:cNvPr id="206" name="Box 206"/>
          <p:cNvSpPr/>
          <p:nvPr/>
        </p:nvSpPr>
        <p:spPr>
          <a:xfrm>
            <a:off x="5029200" y="3860800"/>
            <a:ext cx="546100" cy="177800"/>
          </a:xfrm>
          <a:prstGeom prst="rect">
            <a:avLst/>
          </a:prstGeom>
          <a:solidFill>
            <a:srgbClr val="C9A36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7" name="Box 207"/>
          <p:cNvSpPr/>
          <p:nvPr/>
        </p:nvSpPr>
        <p:spPr>
          <a:xfrm>
            <a:off x="5575300" y="3860800"/>
            <a:ext cx="12700" cy="177800"/>
          </a:xfrm>
          <a:prstGeom prst="rect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8" name="Box 208"/>
          <p:cNvSpPr/>
          <p:nvPr/>
        </p:nvSpPr>
        <p:spPr>
          <a:xfrm>
            <a:off x="5689600" y="37592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 98% · Retail 2%</a:t>
            </a:r>
            <a:endParaRPr lang="ko-KR" sz="1400" dirty="0"/>
          </a:p>
        </p:txBody>
      </p:sp>
      <p:sp>
        <p:nvSpPr>
          <p:cNvPr id="211" name="Box 211"/>
          <p:cNvSpPr/>
          <p:nvPr/>
        </p:nvSpPr>
        <p:spPr>
          <a:xfrm>
            <a:off x="8763000" y="25400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액션</a:t>
            </a:r>
            <a:endParaRPr lang="ko-KR" sz="1600" dirty="0"/>
          </a:p>
        </p:txBody>
      </p:sp>
      <p:sp>
        <p:nvSpPr>
          <p:cNvPr id="212" name="Box 212"/>
          <p:cNvSpPr/>
          <p:nvPr/>
        </p:nvSpPr>
        <p:spPr>
          <a:xfrm>
            <a:off x="8763000" y="3022600"/>
            <a:ext cx="8229600" cy="1187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3" name="Box 213"/>
          <p:cNvSpPr/>
          <p:nvPr/>
        </p:nvSpPr>
        <p:spPr>
          <a:xfrm>
            <a:off x="8991600" y="3336925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800" dirty="0"/>
          </a:p>
        </p:txBody>
      </p:sp>
      <p:sp>
        <p:nvSpPr>
          <p:cNvPr id="214" name="Box 214"/>
          <p:cNvSpPr/>
          <p:nvPr/>
        </p:nvSpPr>
        <p:spPr>
          <a:xfrm>
            <a:off x="9779000" y="3124200"/>
            <a:ext cx="6985000" cy="98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이력 확인</a:t>
            </a:r>
            <a:endParaRPr lang="en-US" altLang="ko-KR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최근 발주에서 Frozen 중심·Retail 품목 소량 패턴이 유지되는지 먼저 확인</a:t>
            </a:r>
          </a:p>
        </p:txBody>
      </p:sp>
      <p:sp>
        <p:nvSpPr>
          <p:cNvPr id="215" name="Box 215"/>
          <p:cNvSpPr/>
          <p:nvPr/>
        </p:nvSpPr>
        <p:spPr>
          <a:xfrm>
            <a:off x="8763000" y="4362450"/>
            <a:ext cx="8229600" cy="1187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6" name="Box 216"/>
          <p:cNvSpPr/>
          <p:nvPr/>
        </p:nvSpPr>
        <p:spPr>
          <a:xfrm>
            <a:off x="8991600" y="4676775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800" dirty="0"/>
          </a:p>
        </p:txBody>
      </p:sp>
      <p:sp>
        <p:nvSpPr>
          <p:cNvPr id="217" name="Box 217"/>
          <p:cNvSpPr/>
          <p:nvPr/>
        </p:nvSpPr>
        <p:spPr>
          <a:xfrm>
            <a:off x="9779000" y="4464050"/>
            <a:ext cx="6985000" cy="98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냉동 정기배송 제안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Frozen 31% 비중을 살려 냉동 품목 정기배송과 대량 단가 제시</a:t>
            </a:r>
            <a:endParaRPr lang="ko-KR" sz="1500" dirty="0"/>
          </a:p>
        </p:txBody>
      </p:sp>
      <p:sp>
        <p:nvSpPr>
          <p:cNvPr id="218" name="Box 218"/>
          <p:cNvSpPr/>
          <p:nvPr/>
        </p:nvSpPr>
        <p:spPr>
          <a:xfrm>
            <a:off x="8763000" y="5702300"/>
            <a:ext cx="8229600" cy="1187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9" name="Box 219"/>
          <p:cNvSpPr/>
          <p:nvPr/>
        </p:nvSpPr>
        <p:spPr>
          <a:xfrm>
            <a:off x="8991600" y="6016625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sz="1800" dirty="0"/>
          </a:p>
        </p:txBody>
      </p:sp>
      <p:sp>
        <p:nvSpPr>
          <p:cNvPr id="220" name="Box 220"/>
          <p:cNvSpPr/>
          <p:nvPr/>
        </p:nvSpPr>
        <p:spPr>
          <a:xfrm>
            <a:off x="9779000" y="5803900"/>
            <a:ext cx="6985000" cy="98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Retail 서비스 병행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Grocery 비중이 커 기존 Retail 카탈로그는 유지하고 냉동 카탈로그를 추가 노출</a:t>
            </a:r>
            <a:endParaRPr lang="ko-KR" sz="1500" dirty="0"/>
          </a:p>
        </p:txBody>
      </p:sp>
      <p:sp>
        <p:nvSpPr>
          <p:cNvPr id="221" name="Box 221"/>
          <p:cNvSpPr/>
          <p:nvPr/>
        </p:nvSpPr>
        <p:spPr>
          <a:xfrm>
            <a:off x="8763000" y="7042150"/>
            <a:ext cx="8229600" cy="1187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22" name="Box 222"/>
          <p:cNvSpPr/>
          <p:nvPr/>
        </p:nvSpPr>
        <p:spPr>
          <a:xfrm>
            <a:off x="8991600" y="7356475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sz="1800" dirty="0"/>
          </a:p>
        </p:txBody>
      </p:sp>
      <p:sp>
        <p:nvSpPr>
          <p:cNvPr id="223" name="Box 223"/>
          <p:cNvSpPr/>
          <p:nvPr/>
        </p:nvSpPr>
        <p:spPr>
          <a:xfrm>
            <a:off x="9779000" y="7143750"/>
            <a:ext cx="6985000" cy="984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반응 모니터링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냉동 정기배송 제안 후 재구매 여부로 서비스 확대 판단</a:t>
            </a:r>
            <a:endParaRPr lang="ko-KR" sz="1500" dirty="0"/>
          </a:p>
        </p:txBody>
      </p:sp>
      <p:sp>
        <p:nvSpPr>
          <p:cNvPr id="224" name="Box 224"/>
          <p:cNvSpPr/>
          <p:nvPr/>
        </p:nvSpPr>
        <p:spPr>
          <a:xfrm>
            <a:off x="8763000" y="8509000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7F8BC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신뢰도 0.98이지만 혼합 구성 → 구매 이력 확인 후 실행</a:t>
            </a:r>
            <a:endParaRPr lang="ko-KR" sz="1600" dirty="0"/>
          </a:p>
        </p:txBody>
      </p:sp>
      <p:sp>
        <p:nvSpPr>
          <p:cNvPr id="6" name="Box 201"/>
          <p:cNvSpPr/>
          <p:nvPr/>
        </p:nvSpPr>
        <p:spPr>
          <a:xfrm>
            <a:off x="1600200" y="4241800"/>
            <a:ext cx="650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품목별 구매액 vs 채널별 중앙값</a:t>
            </a:r>
            <a:endParaRPr lang="ko-KR" sz="1400" dirty="0"/>
          </a:p>
        </p:txBody>
      </p:sp>
      <p:graphicFrame>
        <p:nvGraphicFramePr>
          <p:cNvPr id="7" name="Table 202"/>
          <p:cNvGraphicFramePr>
            <a:graphicFrameLocks noGrp="1"/>
          </p:cNvGraphicFramePr>
          <p:nvPr/>
        </p:nvGraphicFramePr>
        <p:xfrm>
          <a:off x="1600200" y="4597400"/>
          <a:ext cx="6502400" cy="2369820"/>
        </p:xfrm>
        <a:graphic>
          <a:graphicData uri="http://schemas.openxmlformats.org/drawingml/2006/table">
            <a:tbl>
              <a:tblPr firstRow="1"/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변수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223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 중앙값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 중앙값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판정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Det_Paper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788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386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5,615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Grocery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5,265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2,684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12,390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Milk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2,527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2,157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7,812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Frozen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5,612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2,058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1,081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Fresh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2,790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9,582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5,994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Box 203"/>
          <p:cNvSpPr/>
          <p:nvPr/>
        </p:nvSpPr>
        <p:spPr>
          <a:xfrm>
            <a:off x="1600200" y="7086600"/>
            <a:ext cx="6502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판정: 두 중앙값의 로그 중간점 기준 · Det_Paper·Grocery·Milk = 중요도 상위 3개(72%)</a:t>
            </a:r>
            <a:endParaRPr lang="ko-KR" sz="1200" dirty="0"/>
          </a:p>
        </p:txBody>
      </p:sp>
      <p:sp>
        <p:nvSpPr>
          <p:cNvPr id="13" name="Box 204"/>
          <p:cNvSpPr/>
          <p:nvPr/>
        </p:nvSpPr>
        <p:spPr>
          <a:xfrm>
            <a:off x="1600200" y="7493000"/>
            <a:ext cx="65024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10000"/>
              </a:lnSpc>
              <a:spcBef>
                <a:spcPts val="8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C0(소량 신선식품 중심형) 소속이지만 Fresh 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2,790</a:t>
            </a: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Retail 중앙값(5,994)보다도 낮고, 비중 15%로 C0 평균(50%)과 거리가 멀다</a:t>
            </a:r>
            <a:endParaRPr lang="ko-KR" sz="1500" dirty="0"/>
          </a:p>
          <a:p>
            <a:pPr marL="285750" indent="-285750" algn="l">
              <a:lnSpc>
                <a:spcPct val="110000"/>
              </a:lnSpc>
              <a:spcBef>
                <a:spcPts val="4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 예측은 신선식품이 아니라 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Retail 품목을 적게 사서</a:t>
            </a: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나온 결과: 구매 이력 확인이 먼저</a:t>
            </a:r>
            <a:endParaRPr lang="ko-KR" sz="1500" dirty="0"/>
          </a:p>
        </p:txBody>
      </p:sp>
    </p:spTree>
    <p:extLst>
      <p:ext uri="{BB962C8B-B14F-4D97-AF65-F5344CB8AC3E}">
        <p14:creationId xmlns:p14="http://schemas.microsoft.com/office/powerpoint/2010/main" val="13601949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06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유형 </a:t>
            </a:r>
            <a:r>
              <a:rPr lang="en-US" altLang="ko-KR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B. </a:t>
            </a:r>
            <a:r>
              <a:rPr lang="ko-KR" altLang="en-US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카테고리 이탈형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202" name="Box 202"/>
          <p:cNvSpPr/>
          <p:nvPr/>
        </p:nvSpPr>
        <p:spPr>
          <a:xfrm>
            <a:off x="1295400" y="2540000"/>
            <a:ext cx="7112000" cy="6477000"/>
          </a:xfrm>
          <a:prstGeom prst="roundRect">
            <a:avLst>
              <a:gd name="adj" fmla="val 35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3" name="Box 203"/>
          <p:cNvSpPr/>
          <p:nvPr/>
        </p:nvSpPr>
        <p:spPr>
          <a:xfrm>
            <a:off x="1600200" y="27940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진단</a:t>
            </a:r>
            <a:endParaRPr lang="ko-KR" sz="1600" dirty="0"/>
          </a:p>
        </p:txBody>
      </p:sp>
      <p:sp>
        <p:nvSpPr>
          <p:cNvPr id="204" name="Box 204"/>
          <p:cNvSpPr/>
          <p:nvPr/>
        </p:nvSpPr>
        <p:spPr>
          <a:xfrm>
            <a:off x="1600200" y="3200400"/>
            <a:ext cx="660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7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342 · C1 중간 규모 식료품·유제품·세제/종이류 중심형</a:t>
            </a:r>
            <a:endParaRPr lang="ko-KR" sz="1700" dirty="0"/>
          </a:p>
        </p:txBody>
      </p:sp>
      <p:sp>
        <p:nvSpPr>
          <p:cNvPr id="211" name="Box 211"/>
          <p:cNvSpPr/>
          <p:nvPr/>
        </p:nvSpPr>
        <p:spPr>
          <a:xfrm>
            <a:off x="8763000" y="25400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액션</a:t>
            </a:r>
            <a:endParaRPr lang="ko-KR" sz="1600" dirty="0"/>
          </a:p>
        </p:txBody>
      </p:sp>
      <p:sp>
        <p:nvSpPr>
          <p:cNvPr id="212" name="Box 212"/>
          <p:cNvSpPr/>
          <p:nvPr/>
        </p:nvSpPr>
        <p:spPr>
          <a:xfrm>
            <a:off x="8763000" y="3022600"/>
            <a:ext cx="8229600" cy="16340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3" name="Box 213"/>
          <p:cNvSpPr/>
          <p:nvPr/>
        </p:nvSpPr>
        <p:spPr>
          <a:xfrm>
            <a:off x="8991600" y="3560233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800" dirty="0"/>
          </a:p>
        </p:txBody>
      </p:sp>
      <p:sp>
        <p:nvSpPr>
          <p:cNvPr id="214" name="Box 214"/>
          <p:cNvSpPr/>
          <p:nvPr/>
        </p:nvSpPr>
        <p:spPr>
          <a:xfrm>
            <a:off x="9779000" y="3124200"/>
            <a:ext cx="6985000" cy="14308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발주 이력 검증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신뢰도가 낮으므로 최근 주문 이력으로 일시적 변동인지 구조적 이탈인지 판단</a:t>
            </a:r>
            <a:endParaRPr lang="ko-KR" sz="1500" dirty="0"/>
          </a:p>
        </p:txBody>
      </p:sp>
      <p:sp>
        <p:nvSpPr>
          <p:cNvPr id="215" name="Box 215"/>
          <p:cNvSpPr/>
          <p:nvPr/>
        </p:nvSpPr>
        <p:spPr>
          <a:xfrm>
            <a:off x="8763000" y="4809067"/>
            <a:ext cx="8229600" cy="16340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6" name="Box 216"/>
          <p:cNvSpPr/>
          <p:nvPr/>
        </p:nvSpPr>
        <p:spPr>
          <a:xfrm>
            <a:off x="8991600" y="5346700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800" dirty="0"/>
          </a:p>
        </p:txBody>
      </p:sp>
      <p:sp>
        <p:nvSpPr>
          <p:cNvPr id="217" name="Box 217"/>
          <p:cNvSpPr/>
          <p:nvPr/>
        </p:nvSpPr>
        <p:spPr>
          <a:xfrm>
            <a:off x="9779000" y="4910667"/>
            <a:ext cx="6985000" cy="14308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이탈 원인 파악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영업사원 컨택으로 가격·신선도·납품 주기 중 경쟁 열위 요인 확인</a:t>
            </a:r>
            <a:endParaRPr lang="ko-KR" sz="1500" dirty="0"/>
          </a:p>
        </p:txBody>
      </p:sp>
      <p:sp>
        <p:nvSpPr>
          <p:cNvPr id="218" name="Box 218"/>
          <p:cNvSpPr/>
          <p:nvPr/>
        </p:nvSpPr>
        <p:spPr>
          <a:xfrm>
            <a:off x="8763000" y="6595533"/>
            <a:ext cx="8229600" cy="16340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9" name="Box 219"/>
          <p:cNvSpPr/>
          <p:nvPr/>
        </p:nvSpPr>
        <p:spPr>
          <a:xfrm>
            <a:off x="8991600" y="7133167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sz="1800" dirty="0"/>
          </a:p>
        </p:txBody>
      </p:sp>
      <p:sp>
        <p:nvSpPr>
          <p:cNvPr id="220" name="Box 220"/>
          <p:cNvSpPr/>
          <p:nvPr/>
        </p:nvSpPr>
        <p:spPr>
          <a:xfrm>
            <a:off x="9779000" y="6697133"/>
            <a:ext cx="6985000" cy="14308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재유입 오퍼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원인에 맞춰 Fresh 첫 구매 체험·할인가, 소량·고빈도 납품 조건 제시</a:t>
            </a:r>
            <a:endParaRPr lang="ko-KR" sz="1500" dirty="0"/>
          </a:p>
        </p:txBody>
      </p:sp>
      <p:sp>
        <p:nvSpPr>
          <p:cNvPr id="221" name="Box 221"/>
          <p:cNvSpPr/>
          <p:nvPr/>
        </p:nvSpPr>
        <p:spPr>
          <a:xfrm>
            <a:off x="8763000" y="8509000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7F8BC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신뢰도 0.61 → 검증 후 제안</a:t>
            </a:r>
            <a:endParaRPr lang="ko-KR" sz="1600" dirty="0"/>
          </a:p>
        </p:txBody>
      </p:sp>
      <p:sp>
        <p:nvSpPr>
          <p:cNvPr id="8" name="Box 201"/>
          <p:cNvSpPr/>
          <p:nvPr/>
        </p:nvSpPr>
        <p:spPr>
          <a:xfrm>
            <a:off x="1600200" y="3708400"/>
            <a:ext cx="3378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342 · 실제 Horeca → </a:t>
            </a:r>
            <a:r>
              <a:rPr lang="ko-KR" altLang="en-US" sz="1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 Retail</a:t>
            </a:r>
            <a:endParaRPr lang="ko-KR" sz="1400" dirty="0"/>
          </a:p>
        </p:txBody>
      </p:sp>
      <p:sp>
        <p:nvSpPr>
          <p:cNvPr id="9" name="Box 202"/>
          <p:cNvSpPr/>
          <p:nvPr/>
        </p:nvSpPr>
        <p:spPr>
          <a:xfrm>
            <a:off x="5029200" y="3810000"/>
            <a:ext cx="220295" cy="177800"/>
          </a:xfrm>
          <a:prstGeom prst="rect">
            <a:avLst/>
          </a:prstGeom>
          <a:solidFill>
            <a:srgbClr val="C9A36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10" name="Box 203"/>
          <p:cNvSpPr/>
          <p:nvPr/>
        </p:nvSpPr>
        <p:spPr>
          <a:xfrm>
            <a:off x="5249495" y="3810000"/>
            <a:ext cx="338503" cy="177800"/>
          </a:xfrm>
          <a:prstGeom prst="rect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11" name="Box 204"/>
          <p:cNvSpPr/>
          <p:nvPr/>
        </p:nvSpPr>
        <p:spPr>
          <a:xfrm>
            <a:off x="5689600" y="37084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 39% · Retail 61%</a:t>
            </a:r>
            <a:endParaRPr lang="ko-KR" sz="1400" dirty="0"/>
          </a:p>
        </p:txBody>
      </p:sp>
      <p:sp>
        <p:nvSpPr>
          <p:cNvPr id="6" name="Box 201"/>
          <p:cNvSpPr/>
          <p:nvPr/>
        </p:nvSpPr>
        <p:spPr>
          <a:xfrm>
            <a:off x="1600200" y="4241800"/>
            <a:ext cx="650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품목별 구매액 vs 채널별 중앙값</a:t>
            </a:r>
            <a:endParaRPr lang="ko-KR" sz="1400" dirty="0"/>
          </a:p>
        </p:txBody>
      </p:sp>
      <p:graphicFrame>
        <p:nvGraphicFramePr>
          <p:cNvPr id="7" name="Table 202"/>
          <p:cNvGraphicFramePr>
            <a:graphicFrameLocks noGrp="1"/>
          </p:cNvGraphicFramePr>
          <p:nvPr/>
        </p:nvGraphicFramePr>
        <p:xfrm>
          <a:off x="1600200" y="4597400"/>
          <a:ext cx="6502400" cy="2458720"/>
        </p:xfrm>
        <a:graphic>
          <a:graphicData uri="http://schemas.openxmlformats.org/drawingml/2006/table">
            <a:tbl>
              <a:tblPr firstRow="1"/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변수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342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 중앙값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 중앙값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판정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Det_Paper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4,595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386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5,615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Grocery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5,923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2,684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12,390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Milk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5,758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2,157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7,812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Fresh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255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9,582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5,994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Box 203"/>
          <p:cNvSpPr/>
          <p:nvPr/>
        </p:nvSpPr>
        <p:spPr>
          <a:xfrm>
            <a:off x="1600200" y="7061200"/>
            <a:ext cx="6502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판정: 두 중앙값의 로그 중간점 기준 · Det_Paper·Grocery·Milk = 중요도 상위 3개(72%)</a:t>
            </a:r>
            <a:endParaRPr lang="ko-KR" sz="1200" dirty="0"/>
          </a:p>
        </p:txBody>
      </p:sp>
      <p:sp>
        <p:nvSpPr>
          <p:cNvPr id="13" name="Box 204"/>
          <p:cNvSpPr/>
          <p:nvPr/>
        </p:nvSpPr>
        <p:spPr>
          <a:xfrm>
            <a:off x="1600200" y="7518400"/>
            <a:ext cx="65024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10000"/>
              </a:lnSpc>
              <a:spcBef>
                <a:spcPts val="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상위 3개 품목이 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모두 Retail 쪽</a:t>
            </a: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Det_Paper 4,595는 Horeca 중앙값(386)의 약 12배</a:t>
            </a:r>
            <a:endParaRPr lang="ko-KR" sz="1500" dirty="0"/>
          </a:p>
          <a:p>
            <a:pPr marL="285750" indent="-285750" algn="l">
              <a:lnSpc>
                <a:spcPct val="110000"/>
              </a:lnSpc>
              <a:spcBef>
                <a:spcPts val="4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다만 Grocery 5,923은 판정 경계(5,767)와 거의 같은 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경계 고객</a:t>
            </a: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신뢰도 0.61</a:t>
            </a:r>
            <a:endParaRPr lang="ko-KR" sz="1500" dirty="0"/>
          </a:p>
        </p:txBody>
      </p:sp>
    </p:spTree>
    <p:extLst>
      <p:ext uri="{BB962C8B-B14F-4D97-AF65-F5344CB8AC3E}">
        <p14:creationId xmlns:p14="http://schemas.microsoft.com/office/powerpoint/2010/main" val="34483806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06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유형 </a:t>
            </a:r>
            <a:r>
              <a:rPr lang="en-US" altLang="ko-KR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C. </a:t>
            </a:r>
            <a:r>
              <a:rPr lang="ko-KR" altLang="en-US" sz="4400" b="1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규모 이상치형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202" name="Box 202"/>
          <p:cNvSpPr/>
          <p:nvPr/>
        </p:nvSpPr>
        <p:spPr>
          <a:xfrm>
            <a:off x="1295400" y="2540000"/>
            <a:ext cx="7112000" cy="6477000"/>
          </a:xfrm>
          <a:prstGeom prst="roundRect">
            <a:avLst>
              <a:gd name="adj" fmla="val 35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3" name="Box 203"/>
          <p:cNvSpPr/>
          <p:nvPr/>
        </p:nvSpPr>
        <p:spPr>
          <a:xfrm>
            <a:off x="1600200" y="27940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진단</a:t>
            </a:r>
            <a:endParaRPr lang="ko-KR" sz="1600" dirty="0"/>
          </a:p>
        </p:txBody>
      </p:sp>
      <p:sp>
        <p:nvSpPr>
          <p:cNvPr id="204" name="Box 204"/>
          <p:cNvSpPr/>
          <p:nvPr/>
        </p:nvSpPr>
        <p:spPr>
          <a:xfrm>
            <a:off x="1600200" y="3200400"/>
            <a:ext cx="6502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181 · C2 대량 신선·냉동·즉석/가공식품 구매형</a:t>
            </a:r>
            <a:endParaRPr lang="ko-KR" sz="2000" dirty="0"/>
          </a:p>
        </p:txBody>
      </p:sp>
      <p:sp>
        <p:nvSpPr>
          <p:cNvPr id="211" name="Box 211"/>
          <p:cNvSpPr/>
          <p:nvPr/>
        </p:nvSpPr>
        <p:spPr>
          <a:xfrm>
            <a:off x="8763000" y="25400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액션</a:t>
            </a:r>
            <a:endParaRPr lang="ko-KR" sz="1600" dirty="0"/>
          </a:p>
        </p:txBody>
      </p:sp>
      <p:sp>
        <p:nvSpPr>
          <p:cNvPr id="212" name="Box 212"/>
          <p:cNvSpPr/>
          <p:nvPr/>
        </p:nvSpPr>
        <p:spPr>
          <a:xfrm>
            <a:off x="8763000" y="3022600"/>
            <a:ext cx="8229600" cy="16340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3" name="Box 213"/>
          <p:cNvSpPr/>
          <p:nvPr/>
        </p:nvSpPr>
        <p:spPr>
          <a:xfrm>
            <a:off x="8991600" y="3560233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800" dirty="0"/>
          </a:p>
        </p:txBody>
      </p:sp>
      <p:sp>
        <p:nvSpPr>
          <p:cNvPr id="214" name="Box 214"/>
          <p:cNvSpPr/>
          <p:nvPr/>
        </p:nvSpPr>
        <p:spPr>
          <a:xfrm>
            <a:off x="9779000" y="3124200"/>
            <a:ext cx="6985000" cy="14308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Key Account 관리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전담 계정관리자 배정, 개별 계약가·납품 조건(SLA) 협상, 대량구매 할인</a:t>
            </a:r>
            <a:endParaRPr lang="ko-KR" sz="1500" dirty="0"/>
          </a:p>
        </p:txBody>
      </p:sp>
      <p:sp>
        <p:nvSpPr>
          <p:cNvPr id="215" name="Box 215"/>
          <p:cNvSpPr/>
          <p:nvPr/>
        </p:nvSpPr>
        <p:spPr>
          <a:xfrm>
            <a:off x="8763000" y="4809067"/>
            <a:ext cx="8229600" cy="16340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6" name="Box 216"/>
          <p:cNvSpPr/>
          <p:nvPr/>
        </p:nvSpPr>
        <p:spPr>
          <a:xfrm>
            <a:off x="8991600" y="5346700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800" dirty="0"/>
          </a:p>
        </p:txBody>
      </p:sp>
      <p:sp>
        <p:nvSpPr>
          <p:cNvPr id="217" name="Box 217"/>
          <p:cNvSpPr/>
          <p:nvPr/>
        </p:nvSpPr>
        <p:spPr>
          <a:xfrm>
            <a:off x="9779000" y="4910667"/>
            <a:ext cx="6985000" cy="14308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리텐션 최우선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이탈 시 매출 손실이 크므로 이탈 방지를 최우선 목표로 둔다</a:t>
            </a:r>
            <a:endParaRPr lang="ko-KR" sz="1500" dirty="0"/>
          </a:p>
        </p:txBody>
      </p:sp>
      <p:sp>
        <p:nvSpPr>
          <p:cNvPr id="218" name="Box 218"/>
          <p:cNvSpPr/>
          <p:nvPr/>
        </p:nvSpPr>
        <p:spPr>
          <a:xfrm>
            <a:off x="8763000" y="6595533"/>
            <a:ext cx="8229600" cy="16340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8E6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9" name="Box 219"/>
          <p:cNvSpPr/>
          <p:nvPr/>
        </p:nvSpPr>
        <p:spPr>
          <a:xfrm>
            <a:off x="8991600" y="7133167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sz="1800" dirty="0"/>
          </a:p>
        </p:txBody>
      </p:sp>
      <p:sp>
        <p:nvSpPr>
          <p:cNvPr id="220" name="Box 220"/>
          <p:cNvSpPr/>
          <p:nvPr/>
        </p:nvSpPr>
        <p:spPr>
          <a:xfrm>
            <a:off x="9779000" y="6697133"/>
            <a:ext cx="6985000" cy="14308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플래그</a:t>
            </a:r>
            <a:endParaRPr lang="ko-KR" sz="1800" dirty="0"/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ko-KR" altLang="en-US" sz="15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향후 채널예측에서 초고액 고객은 별도 그룹으로 플래그 처리</a:t>
            </a:r>
            <a:endParaRPr lang="ko-KR" sz="1500" dirty="0"/>
          </a:p>
        </p:txBody>
      </p:sp>
      <p:sp>
        <p:nvSpPr>
          <p:cNvPr id="221" name="Box 221"/>
          <p:cNvSpPr/>
          <p:nvPr/>
        </p:nvSpPr>
        <p:spPr>
          <a:xfrm>
            <a:off x="8763000" y="8509000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7F8BC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신뢰도 0.52 → 별도 관리</a:t>
            </a:r>
            <a:endParaRPr lang="ko-KR" sz="1600" dirty="0"/>
          </a:p>
        </p:txBody>
      </p:sp>
      <p:sp>
        <p:nvSpPr>
          <p:cNvPr id="8" name="Box 201"/>
          <p:cNvSpPr/>
          <p:nvPr/>
        </p:nvSpPr>
        <p:spPr>
          <a:xfrm>
            <a:off x="1600200" y="3708400"/>
            <a:ext cx="3378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181 · 실제 Horeca → </a:t>
            </a:r>
            <a:r>
              <a:rPr lang="ko-KR" altLang="en-US" sz="1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 Retail</a:t>
            </a:r>
            <a:endParaRPr lang="ko-KR" sz="1400" dirty="0"/>
          </a:p>
        </p:txBody>
      </p:sp>
      <p:sp>
        <p:nvSpPr>
          <p:cNvPr id="9" name="Box 202"/>
          <p:cNvSpPr/>
          <p:nvPr/>
        </p:nvSpPr>
        <p:spPr>
          <a:xfrm>
            <a:off x="5029200" y="3810000"/>
            <a:ext cx="268653" cy="177800"/>
          </a:xfrm>
          <a:prstGeom prst="rect">
            <a:avLst/>
          </a:prstGeom>
          <a:solidFill>
            <a:srgbClr val="C9A36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10" name="Box 203"/>
          <p:cNvSpPr/>
          <p:nvPr/>
        </p:nvSpPr>
        <p:spPr>
          <a:xfrm>
            <a:off x="5297853" y="3810000"/>
            <a:ext cx="290145" cy="177800"/>
          </a:xfrm>
          <a:prstGeom prst="rect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11" name="Box 204"/>
          <p:cNvSpPr/>
          <p:nvPr/>
        </p:nvSpPr>
        <p:spPr>
          <a:xfrm>
            <a:off x="5689600" y="37084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Horeca 48% · Retail 52%</a:t>
            </a:r>
            <a:endParaRPr lang="ko-KR" sz="1400" dirty="0"/>
          </a:p>
        </p:txBody>
      </p:sp>
      <p:sp>
        <p:nvSpPr>
          <p:cNvPr id="6" name="Box 201"/>
          <p:cNvSpPr/>
          <p:nvPr/>
        </p:nvSpPr>
        <p:spPr>
          <a:xfrm>
            <a:off x="1600200" y="4241800"/>
            <a:ext cx="650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품목별 구매액 vs 채널별 중앙값</a:t>
            </a:r>
            <a:endParaRPr lang="ko-KR" sz="1400" dirty="0"/>
          </a:p>
        </p:txBody>
      </p:sp>
      <p:graphicFrame>
        <p:nvGraphicFramePr>
          <p:cNvPr id="7" name="Table 202"/>
          <p:cNvGraphicFramePr>
            <a:graphicFrameLocks noGrp="1"/>
          </p:cNvGraphicFramePr>
          <p:nvPr/>
        </p:nvGraphicFramePr>
        <p:xfrm>
          <a:off x="1600200" y="4597400"/>
          <a:ext cx="6502400" cy="2458720"/>
        </p:xfrm>
        <a:graphic>
          <a:graphicData uri="http://schemas.openxmlformats.org/drawingml/2006/table">
            <a:tbl>
              <a:tblPr firstRow="1"/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변수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181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 중앙값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 중앙값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00074E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판정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A5BA3"/>
                      </a:solidFill>
                    </a:lnT>
                    <a:lnB w="12700">
                      <a:solidFill>
                        <a:srgbClr val="4A5BA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Det_Paper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4,948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386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5,615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4A5B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Grocery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18,148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2,684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12,390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Milk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29,627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2,157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7,812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Retail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4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Fresh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112,151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9,582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5,994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dirty="0">
                          <a:solidFill>
                            <a:srgbClr val="2C2C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Horeca</a:t>
                      </a:r>
                      <a:endParaRPr lang="ko-KR" sz="1400" dirty="0"/>
                    </a:p>
                  </a:txBody>
                  <a:tcPr marL="101600" marR="101600" marT="50800" marB="508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Box 203"/>
          <p:cNvSpPr/>
          <p:nvPr/>
        </p:nvSpPr>
        <p:spPr>
          <a:xfrm>
            <a:off x="1600200" y="7061200"/>
            <a:ext cx="6502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판정: 두 중앙값의 로그 중간점 기준 · Det_Paper·Grocery·Milk = 중요도 상위 3개(72%)</a:t>
            </a:r>
            <a:endParaRPr lang="ko-KR" sz="1200" dirty="0"/>
          </a:p>
        </p:txBody>
      </p:sp>
      <p:sp>
        <p:nvSpPr>
          <p:cNvPr id="13" name="Box 204"/>
          <p:cNvSpPr/>
          <p:nvPr/>
        </p:nvSpPr>
        <p:spPr>
          <a:xfrm>
            <a:off x="1600200" y="7518400"/>
            <a:ext cx="65024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10000"/>
              </a:lnSpc>
              <a:spcBef>
                <a:spcPts val="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규모가 커서 상위 3개 품목이 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모두 Retail 쪽</a:t>
            </a: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Milk 29,627은 Retail 중앙값의 약 3.8배</a:t>
            </a:r>
            <a:endParaRPr lang="ko-KR" sz="1500" dirty="0"/>
          </a:p>
          <a:p>
            <a:pPr marL="285750" indent="-285750" algn="l">
              <a:lnSpc>
                <a:spcPct val="110000"/>
              </a:lnSpc>
              <a:spcBef>
                <a:spcPts val="400"/>
              </a:spcBef>
              <a:buClr>
                <a:srgbClr val="4A5BA3"/>
              </a:buClr>
              <a:buFont typeface="Arial"/>
              <a:buChar char="•"/>
            </a:pP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Fresh 112,151(전체 최대값)은 Horeca 쪽이라 </a:t>
            </a:r>
            <a:r>
              <a:rPr lang="ko-KR" altLang="en-US" sz="15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신호가 엇갈림</a:t>
            </a:r>
            <a:r>
              <a:rPr lang="ko-KR" altLang="en-US" sz="15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신뢰도 0.52</a:t>
            </a:r>
            <a:endParaRPr lang="ko-KR" sz="1500" dirty="0"/>
          </a:p>
        </p:txBody>
      </p:sp>
    </p:spTree>
    <p:extLst>
      <p:ext uri="{BB962C8B-B14F-4D97-AF65-F5344CB8AC3E}">
        <p14:creationId xmlns:p14="http://schemas.microsoft.com/office/powerpoint/2010/main" val="41562477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06B63-7661-C25F-F424-C1B97C243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0FE1ABA-834A-490A-A41A-E8AD13921B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54031A8-1628-5631-30EC-9B56926288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1E6D7F73-FE18-9B56-211C-9B65735436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DD67A2F6-D838-FDCA-05FE-B172C0788A76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07</a:t>
            </a:r>
            <a:endParaRPr lang="en-US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263DB89-CBB0-D512-D9F2-C0F28E85CEC3}"/>
              </a:ext>
            </a:extLst>
          </p:cNvPr>
          <p:cNvSpPr txBox="1"/>
          <p:nvPr/>
        </p:nvSpPr>
        <p:spPr>
          <a:xfrm>
            <a:off x="1905000" y="3683000"/>
            <a:ext cx="7112000" cy="25400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5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한계 및</a:t>
            </a:r>
            <a:endParaRPr lang="ko-KR" sz="5400" dirty="0"/>
          </a:p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ko-KR" altLang="en-US" sz="5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결론</a:t>
            </a:r>
            <a:endParaRPr lang="ko-KR" sz="54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885FBD-9ACB-60EB-5951-CDB068871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 dirty="0"/>
          </a:p>
        </p:txBody>
      </p:sp>
      <p:cxnSp>
        <p:nvCxnSpPr>
          <p:cNvPr id="201" name="Line 201"/>
          <p:cNvCxnSpPr/>
          <p:nvPr/>
        </p:nvCxnSpPr>
        <p:spPr>
          <a:xfrm>
            <a:off x="9398000" y="3175000"/>
            <a:ext cx="0" cy="1905000"/>
          </a:xfrm>
          <a:prstGeom prst="line">
            <a:avLst/>
          </a:prstGeom>
          <a:ln w="19050">
            <a:solidFill>
              <a:srgbClr val="BFC8E6"/>
            </a:solidFill>
          </a:ln>
        </p:spPr>
      </p:cxnSp>
      <p:sp>
        <p:nvSpPr>
          <p:cNvPr id="202" name="Box 202"/>
          <p:cNvSpPr/>
          <p:nvPr/>
        </p:nvSpPr>
        <p:spPr>
          <a:xfrm>
            <a:off x="10033000" y="3302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800" dirty="0"/>
          </a:p>
        </p:txBody>
      </p:sp>
      <p:sp>
        <p:nvSpPr>
          <p:cNvPr id="203" name="Box 203"/>
          <p:cNvSpPr/>
          <p:nvPr/>
        </p:nvSpPr>
        <p:spPr>
          <a:xfrm>
            <a:off x="10922000" y="3175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한계 및 향후 과제</a:t>
            </a:r>
            <a:endParaRPr lang="ko-KR" sz="2400" b="1" dirty="0"/>
          </a:p>
        </p:txBody>
      </p:sp>
      <p:sp>
        <p:nvSpPr>
          <p:cNvPr id="204" name="Box 204"/>
          <p:cNvSpPr/>
          <p:nvPr/>
        </p:nvSpPr>
        <p:spPr>
          <a:xfrm>
            <a:off x="10033000" y="4318000"/>
            <a:ext cx="635000" cy="635000"/>
          </a:xfrm>
          <a:prstGeom prst="ellipse">
            <a:avLst/>
          </a:prstGeom>
          <a:noFill/>
          <a:ln w="19050">
            <a:solidFill>
              <a:srgbClr val="4A5BA3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800" dirty="0"/>
          </a:p>
        </p:txBody>
      </p:sp>
      <p:sp>
        <p:nvSpPr>
          <p:cNvPr id="205" name="Box 205"/>
          <p:cNvSpPr/>
          <p:nvPr/>
        </p:nvSpPr>
        <p:spPr>
          <a:xfrm>
            <a:off x="10922000" y="4191000"/>
            <a:ext cx="584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2400" b="1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결론</a:t>
            </a:r>
            <a:endParaRPr 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3648019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07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한계 및 향후 과제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1295400" y="1752600"/>
            <a:ext cx="15697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전략 근거가 오분류 4명뿐이라, 표본 확대와 파일럿 검증이 다음 과제다</a:t>
            </a:r>
            <a:endParaRPr lang="ko-KR" sz="2200" dirty="0"/>
          </a:p>
        </p:txBody>
      </p:sp>
      <p:sp>
        <p:nvSpPr>
          <p:cNvPr id="202" name="Box 202"/>
          <p:cNvSpPr/>
          <p:nvPr/>
        </p:nvSpPr>
        <p:spPr>
          <a:xfrm>
            <a:off x="1295400" y="2603500"/>
            <a:ext cx="7696200" cy="29972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3" name="Box 203"/>
          <p:cNvSpPr/>
          <p:nvPr/>
        </p:nvSpPr>
        <p:spPr>
          <a:xfrm>
            <a:off x="1600200" y="2832100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sz="1800" dirty="0"/>
          </a:p>
        </p:txBody>
      </p:sp>
      <p:sp>
        <p:nvSpPr>
          <p:cNvPr id="204" name="Box 204"/>
          <p:cNvSpPr/>
          <p:nvPr/>
        </p:nvSpPr>
        <p:spPr>
          <a:xfrm>
            <a:off x="2336800" y="2832100"/>
            <a:ext cx="635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표본 한계</a:t>
            </a:r>
            <a:endParaRPr lang="ko-KR" sz="2200" dirty="0"/>
          </a:p>
        </p:txBody>
      </p:sp>
      <p:sp>
        <p:nvSpPr>
          <p:cNvPr id="205" name="Box 205"/>
          <p:cNvSpPr/>
          <p:nvPr/>
        </p:nvSpPr>
        <p:spPr>
          <a:xfrm>
            <a:off x="1600200" y="3543300"/>
            <a:ext cx="70866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b="1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한계</a:t>
            </a:r>
            <a:endParaRPr lang="ko-KR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전략 근거가 Test 88명 중 오분류 4명뿐</a:t>
            </a:r>
            <a:endParaRPr lang="ko-KR" sz="1600" dirty="0"/>
          </a:p>
        </p:txBody>
      </p:sp>
      <p:sp>
        <p:nvSpPr>
          <p:cNvPr id="206" name="Box 206"/>
          <p:cNvSpPr/>
          <p:nvPr/>
        </p:nvSpPr>
        <p:spPr>
          <a:xfrm>
            <a:off x="1600200" y="4457700"/>
            <a:ext cx="70866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향후 과제</a:t>
            </a:r>
            <a:endParaRPr lang="ko-KR" b="1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cross_val_predict로 440명 전원의 검증 예측을 만들어 오분류 표본 확대한다</a:t>
            </a:r>
            <a:r>
              <a:rPr lang="en-US" altLang="ko-KR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sz="1600" dirty="0"/>
          </a:p>
        </p:txBody>
      </p:sp>
      <p:sp>
        <p:nvSpPr>
          <p:cNvPr id="207" name="Box 207"/>
          <p:cNvSpPr/>
          <p:nvPr/>
        </p:nvSpPr>
        <p:spPr>
          <a:xfrm>
            <a:off x="9296400" y="2603500"/>
            <a:ext cx="7696200" cy="29972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08" name="Box 208"/>
          <p:cNvSpPr/>
          <p:nvPr/>
        </p:nvSpPr>
        <p:spPr>
          <a:xfrm>
            <a:off x="9601200" y="2832100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sz="1800" dirty="0"/>
          </a:p>
        </p:txBody>
      </p:sp>
      <p:sp>
        <p:nvSpPr>
          <p:cNvPr id="209" name="Box 209"/>
          <p:cNvSpPr/>
          <p:nvPr/>
        </p:nvSpPr>
        <p:spPr>
          <a:xfrm>
            <a:off x="10337800" y="2832100"/>
            <a:ext cx="635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군집 안정성</a:t>
            </a:r>
            <a:endParaRPr lang="ko-KR" sz="2200" dirty="0"/>
          </a:p>
        </p:txBody>
      </p:sp>
      <p:sp>
        <p:nvSpPr>
          <p:cNvPr id="210" name="Box 210"/>
          <p:cNvSpPr/>
          <p:nvPr/>
        </p:nvSpPr>
        <p:spPr>
          <a:xfrm>
            <a:off x="9601200" y="3543300"/>
            <a:ext cx="70866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b="1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한계</a:t>
            </a:r>
            <a:endParaRPr lang="ko-KR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k=4 실루엣 0.281로 약함, 시드에 따라 경계 고객 소속이 바뀜 (ARI 0.84~0.91)</a:t>
            </a:r>
            <a:endParaRPr lang="ko-KR" sz="1600" dirty="0"/>
          </a:p>
        </p:txBody>
      </p:sp>
      <p:sp>
        <p:nvSpPr>
          <p:cNvPr id="211" name="Box 211"/>
          <p:cNvSpPr/>
          <p:nvPr/>
        </p:nvSpPr>
        <p:spPr>
          <a:xfrm>
            <a:off x="9601200" y="4457700"/>
            <a:ext cx="70866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향후 과제</a:t>
            </a:r>
            <a:endParaRPr lang="ko-KR" sz="1400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경계 고객 해석 시 주의, 소속 변동 고객은 별도 표시</a:t>
            </a:r>
            <a:endParaRPr lang="ko-KR" sz="1600" dirty="0"/>
          </a:p>
        </p:txBody>
      </p:sp>
      <p:sp>
        <p:nvSpPr>
          <p:cNvPr id="212" name="Box 212"/>
          <p:cNvSpPr/>
          <p:nvPr/>
        </p:nvSpPr>
        <p:spPr>
          <a:xfrm>
            <a:off x="1295400" y="5880100"/>
            <a:ext cx="7696200" cy="29972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3" name="Box 213"/>
          <p:cNvSpPr/>
          <p:nvPr/>
        </p:nvSpPr>
        <p:spPr>
          <a:xfrm>
            <a:off x="1600200" y="6108700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sz="1800" dirty="0"/>
          </a:p>
        </p:txBody>
      </p:sp>
      <p:sp>
        <p:nvSpPr>
          <p:cNvPr id="214" name="Box 214"/>
          <p:cNvSpPr/>
          <p:nvPr/>
        </p:nvSpPr>
        <p:spPr>
          <a:xfrm>
            <a:off x="2336800" y="6108700"/>
            <a:ext cx="635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한계</a:t>
            </a:r>
            <a:endParaRPr lang="ko-KR" sz="2200" dirty="0"/>
          </a:p>
        </p:txBody>
      </p:sp>
      <p:sp>
        <p:nvSpPr>
          <p:cNvPr id="215" name="Box 215"/>
          <p:cNvSpPr/>
          <p:nvPr/>
        </p:nvSpPr>
        <p:spPr>
          <a:xfrm>
            <a:off x="1600200" y="6819900"/>
            <a:ext cx="70866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b="1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한계</a:t>
            </a:r>
            <a:endParaRPr lang="ko-KR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누적 구매액만 있어 시점에 대해 알 수 없고, 연도·화폐 단위도 불명확</a:t>
            </a:r>
            <a:endParaRPr lang="ko-KR" sz="1600" dirty="0"/>
          </a:p>
        </p:txBody>
      </p:sp>
      <p:sp>
        <p:nvSpPr>
          <p:cNvPr id="216" name="Box 216"/>
          <p:cNvSpPr/>
          <p:nvPr/>
        </p:nvSpPr>
        <p:spPr>
          <a:xfrm>
            <a:off x="1600200" y="7734300"/>
            <a:ext cx="70866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향후 과제</a:t>
            </a:r>
            <a:endParaRPr lang="ko-KR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시장에 바로 적용하기 어려워, 최신 거래 데이터로 재검증 필요</a:t>
            </a:r>
            <a:endParaRPr lang="ko-KR" sz="1600" dirty="0"/>
          </a:p>
        </p:txBody>
      </p:sp>
      <p:sp>
        <p:nvSpPr>
          <p:cNvPr id="217" name="Box 217"/>
          <p:cNvSpPr/>
          <p:nvPr/>
        </p:nvSpPr>
        <p:spPr>
          <a:xfrm>
            <a:off x="9296400" y="5880100"/>
            <a:ext cx="7696200" cy="29972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ko-KR" dirty="0"/>
          </a:p>
        </p:txBody>
      </p:sp>
      <p:sp>
        <p:nvSpPr>
          <p:cNvPr id="218" name="Box 218"/>
          <p:cNvSpPr/>
          <p:nvPr/>
        </p:nvSpPr>
        <p:spPr>
          <a:xfrm>
            <a:off x="9601200" y="6108700"/>
            <a:ext cx="558800" cy="558800"/>
          </a:xfrm>
          <a:prstGeom prst="ellipse">
            <a:avLst/>
          </a:prstGeom>
          <a:solidFill>
            <a:srgbClr val="4A5BA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sz="1800" dirty="0"/>
          </a:p>
        </p:txBody>
      </p:sp>
      <p:sp>
        <p:nvSpPr>
          <p:cNvPr id="219" name="Box 219"/>
          <p:cNvSpPr/>
          <p:nvPr/>
        </p:nvSpPr>
        <p:spPr>
          <a:xfrm>
            <a:off x="10337800" y="6108700"/>
            <a:ext cx="635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2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검증</a:t>
            </a:r>
            <a:endParaRPr lang="ko-KR" sz="2200" dirty="0"/>
          </a:p>
        </p:txBody>
      </p:sp>
      <p:sp>
        <p:nvSpPr>
          <p:cNvPr id="220" name="Box 220"/>
          <p:cNvSpPr/>
          <p:nvPr/>
        </p:nvSpPr>
        <p:spPr>
          <a:xfrm>
            <a:off x="9601200" y="6819900"/>
            <a:ext cx="70866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b="1" dirty="0">
                <a:solidFill>
                  <a:srgbClr val="59595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한계</a:t>
            </a:r>
            <a:endParaRPr lang="ko-KR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 전략은 데이터 기반 가설</a:t>
            </a:r>
            <a:endParaRPr lang="ko-KR" sz="1600" dirty="0"/>
          </a:p>
        </p:txBody>
      </p:sp>
      <p:sp>
        <p:nvSpPr>
          <p:cNvPr id="221" name="Box 221"/>
          <p:cNvSpPr/>
          <p:nvPr/>
        </p:nvSpPr>
        <p:spPr>
          <a:xfrm>
            <a:off x="9601200" y="7734300"/>
            <a:ext cx="70866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향후 과제</a:t>
            </a:r>
            <a:endParaRPr lang="ko-KR" dirty="0"/>
          </a:p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적용 전 파일럿(A/B 테스트)으로 효과 검증</a:t>
            </a:r>
            <a:endParaRPr lang="ko-KR" sz="1600" dirty="0"/>
          </a:p>
        </p:txBody>
      </p:sp>
    </p:spTree>
    <p:extLst>
      <p:ext uri="{BB962C8B-B14F-4D97-AF65-F5344CB8AC3E}">
        <p14:creationId xmlns:p14="http://schemas.microsoft.com/office/powerpoint/2010/main" val="12717445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0CDE-4933-2821-90C0-3B660BA0F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187C8EA-5E52-3294-6767-FA4190EE4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4432300"/>
            <a:ext cx="18326100" cy="5892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C03C143-9A12-D100-FB3A-5BA2FC4E7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558800"/>
            <a:ext cx="17056100" cy="9169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CCA6CBD-FA86-73EC-4A51-9FAD74731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" y="406400"/>
            <a:ext cx="2641600" cy="1333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18C300F-C602-E118-CDC2-EAFB790DC00C}"/>
              </a:ext>
            </a:extLst>
          </p:cNvPr>
          <p:cNvSpPr txBox="1"/>
          <p:nvPr/>
        </p:nvSpPr>
        <p:spPr>
          <a:xfrm>
            <a:off x="1384300" y="749300"/>
            <a:ext cx="2082800" cy="635000"/>
          </a:xfrm>
          <a:prstGeom prst="rect">
            <a:avLst/>
          </a:prstGeom>
        </p:spPr>
        <p:txBody>
          <a:bodyPr lIns="0" tIns="11430" rIns="0" bIns="1143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3600" cap="all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/>
              </a:rPr>
              <a:t>07</a:t>
            </a:r>
            <a:endParaRPr lang="en-US" altLang="ko-KR" sz="3600" cap="all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56FDADA-2177-D344-F1E5-99F7478CB854}"/>
              </a:ext>
            </a:extLst>
          </p:cNvPr>
          <p:cNvSpPr txBox="1"/>
          <p:nvPr/>
        </p:nvSpPr>
        <p:spPr>
          <a:xfrm>
            <a:off x="4191000" y="571500"/>
            <a:ext cx="9906000" cy="1003300"/>
          </a:xfrm>
          <a:prstGeom prst="rect">
            <a:avLst/>
          </a:prstGeom>
        </p:spPr>
        <p:txBody>
          <a:bodyPr lIns="0" tIns="69850" rIns="0" bIns="6985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44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/>
              </a:rPr>
              <a:t>결론</a:t>
            </a:r>
            <a:endParaRPr lang="en-US" sz="4400" b="1" dirty="0">
              <a:solidFill>
                <a:srgbClr val="00074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B056E440-F969-B881-21A4-B93CFF98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201" name="Box 201"/>
          <p:cNvSpPr/>
          <p:nvPr/>
        </p:nvSpPr>
        <p:spPr>
          <a:xfrm>
            <a:off x="1295400" y="2095500"/>
            <a:ext cx="1143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40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sz="4000" dirty="0"/>
          </a:p>
        </p:txBody>
      </p:sp>
      <p:sp>
        <p:nvSpPr>
          <p:cNvPr id="202" name="Box 202"/>
          <p:cNvSpPr/>
          <p:nvPr/>
        </p:nvSpPr>
        <p:spPr>
          <a:xfrm>
            <a:off x="2603500" y="2197100"/>
            <a:ext cx="143891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 패턴만으로 고객 유형과 채널이 설명된다</a:t>
            </a:r>
            <a:endParaRPr lang="ko-KR" sz="2600" dirty="0"/>
          </a:p>
        </p:txBody>
      </p:sp>
      <p:sp>
        <p:nvSpPr>
          <p:cNvPr id="203" name="Box 203"/>
          <p:cNvSpPr/>
          <p:nvPr/>
        </p:nvSpPr>
        <p:spPr>
          <a:xfrm>
            <a:off x="2603500" y="2781300"/>
            <a:ext cx="143891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4개 페르소나 중 C0·C2는 Horeca 90% 이상, C3는 Retail 87%. 예상 위험군은 채널이 섞인 C1이었지만, 실제 오분류 4명 중 C1은 1명이고 고신뢰 오분류 2명은 모두 Horeca 98%인 C0에서 나왔다</a:t>
            </a:r>
            <a:r>
              <a:rPr lang="en-US" altLang="ko-KR" sz="18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sz="1800" dirty="0"/>
          </a:p>
        </p:txBody>
      </p:sp>
      <p:cxnSp>
        <p:nvCxnSpPr>
          <p:cNvPr id="204" name="Line 204"/>
          <p:cNvCxnSpPr/>
          <p:nvPr/>
        </p:nvCxnSpPr>
        <p:spPr>
          <a:xfrm>
            <a:off x="1295400" y="3670300"/>
            <a:ext cx="156972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205" name="Box 205"/>
          <p:cNvSpPr/>
          <p:nvPr/>
        </p:nvSpPr>
        <p:spPr>
          <a:xfrm>
            <a:off x="1295400" y="3873500"/>
            <a:ext cx="1143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40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sz="4000" dirty="0"/>
          </a:p>
        </p:txBody>
      </p:sp>
      <p:sp>
        <p:nvSpPr>
          <p:cNvPr id="206" name="Box 206"/>
          <p:cNvSpPr/>
          <p:nvPr/>
        </p:nvSpPr>
        <p:spPr>
          <a:xfrm>
            <a:off x="2603500" y="3975100"/>
            <a:ext cx="143891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채널 정보 없이도 약 92% 구분된다</a:t>
            </a:r>
            <a:endParaRPr lang="ko-KR" sz="2600" dirty="0"/>
          </a:p>
        </p:txBody>
      </p:sp>
      <p:sp>
        <p:nvSpPr>
          <p:cNvPr id="207" name="Box 207"/>
          <p:cNvSpPr/>
          <p:nvPr/>
        </p:nvSpPr>
        <p:spPr>
          <a:xfrm>
            <a:off x="2603500" y="4559300"/>
            <a:ext cx="143891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교차검증 정확도 약 92%(RandomForest). Retail 품목 3개가 변수 중요도의 72%이다</a:t>
            </a:r>
            <a:r>
              <a:rPr lang="en-US" altLang="ko-KR" sz="18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sz="1800" dirty="0"/>
          </a:p>
        </p:txBody>
      </p:sp>
      <p:cxnSp>
        <p:nvCxnSpPr>
          <p:cNvPr id="208" name="Line 208"/>
          <p:cNvCxnSpPr/>
          <p:nvPr/>
        </p:nvCxnSpPr>
        <p:spPr>
          <a:xfrm>
            <a:off x="1295400" y="5448300"/>
            <a:ext cx="156972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209" name="Box 209"/>
          <p:cNvSpPr/>
          <p:nvPr/>
        </p:nvSpPr>
        <p:spPr>
          <a:xfrm>
            <a:off x="1295400" y="5651500"/>
            <a:ext cx="1143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40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sz="4000" dirty="0"/>
          </a:p>
        </p:txBody>
      </p:sp>
      <p:sp>
        <p:nvSpPr>
          <p:cNvPr id="210" name="Box 210"/>
          <p:cNvSpPr/>
          <p:nvPr/>
        </p:nvSpPr>
        <p:spPr>
          <a:xfrm>
            <a:off x="2603500" y="5753100"/>
            <a:ext cx="143891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0007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오분류 고객은 신뢰도에 따라 다르게 대응한다</a:t>
            </a:r>
            <a:endParaRPr lang="ko-KR" sz="2600" dirty="0"/>
          </a:p>
        </p:txBody>
      </p:sp>
      <p:sp>
        <p:nvSpPr>
          <p:cNvPr id="211" name="Box 211"/>
          <p:cNvSpPr/>
          <p:nvPr/>
        </p:nvSpPr>
        <p:spPr>
          <a:xfrm>
            <a:off x="2603500" y="6337300"/>
            <a:ext cx="143891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 채널은 유지하고 서비스를 실제 행동에 맞춤. 신뢰도 0.98 이상은 즉시 실행(혼합 구성은 구매 이력 확인 먼저), 미만은 검증부터 </a:t>
            </a:r>
            <a:r>
              <a:rPr lang="ko-KR" altLang="en-US" sz="1800" dirty="0" err="1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해야한다</a:t>
            </a:r>
            <a:r>
              <a:rPr lang="en-US" altLang="ko-KR" sz="1800" dirty="0">
                <a:solidFill>
                  <a:srgbClr val="4040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sz="1800" dirty="0"/>
          </a:p>
        </p:txBody>
      </p:sp>
      <p:cxnSp>
        <p:nvCxnSpPr>
          <p:cNvPr id="212" name="Line 212"/>
          <p:cNvCxnSpPr/>
          <p:nvPr/>
        </p:nvCxnSpPr>
        <p:spPr>
          <a:xfrm>
            <a:off x="1295400" y="7226300"/>
            <a:ext cx="15697200" cy="0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213" name="Box 213"/>
          <p:cNvSpPr/>
          <p:nvPr/>
        </p:nvSpPr>
        <p:spPr>
          <a:xfrm>
            <a:off x="1295400" y="7683500"/>
            <a:ext cx="15697200" cy="1333500"/>
          </a:xfrm>
          <a:prstGeom prst="roundRect">
            <a:avLst>
              <a:gd name="adj" fmla="val 8000"/>
            </a:avLst>
          </a:prstGeom>
          <a:solidFill>
            <a:srgbClr val="4A5BA3"/>
          </a:solidFill>
          <a:ln>
            <a:noFill/>
          </a:ln>
        </p:spPr>
        <p:txBody>
          <a:bodyPr wrap="square" lIns="330200" tIns="330200" rIns="330200" bIns="330200" rtlCol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예측과 등록 채널이 어긋나는 고객은 실제 구매 행동에 맞춘 제안이 필요한 마케팅 대상이며, 채널예측 모델은 이들을 정기적으로 찾아내는 도구가 된다</a:t>
            </a:r>
            <a:r>
              <a:rPr lang="en-US" altLang="ko-KR"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36041363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400" y="5130800"/>
            <a:ext cx="18326100" cy="520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558800"/>
            <a:ext cx="17068800" cy="916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30400" y="482600"/>
            <a:ext cx="2603500" cy="1397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757400" y="749300"/>
            <a:ext cx="2336800" cy="749300"/>
          </a:xfrm>
          <a:prstGeom prst="rect">
            <a:avLst/>
          </a:prstGeom>
        </p:spPr>
        <p:txBody>
          <a:bodyPr lIns="0" tIns="13550" rIns="0" bIns="13550" rtlCol="0" anchor="ctr"/>
          <a:lstStyle/>
          <a:p>
            <a:pPr lvl="0" algn="ctr">
              <a:lnSpc>
                <a:spcPct val="107899"/>
              </a:lnSpc>
            </a:pPr>
            <a:endParaRPr lang="en-US" sz="2133" spc="100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Medium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85900" y="8483600"/>
            <a:ext cx="4318000" cy="736600"/>
          </a:xfrm>
          <a:prstGeom prst="rect">
            <a:avLst/>
          </a:prstGeom>
        </p:spPr>
        <p:txBody>
          <a:bodyPr lIns="0" tIns="2540" rIns="0" bIns="0" rtlCol="0" anchor="ctr"/>
          <a:lstStyle/>
          <a:p>
            <a:pPr lvl="0" algn="l">
              <a:lnSpc>
                <a:spcPct val="100000"/>
              </a:lnSpc>
            </a:pPr>
            <a:r>
              <a:rPr lang="ko-KR" altLang="en-US" sz="2000" dirty="0">
                <a:solidFill>
                  <a:srgbClr val="2C2C2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김정우, 안재원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85900" y="3086100"/>
            <a:ext cx="13144500" cy="3162300"/>
          </a:xfrm>
          <a:prstGeom prst="rect">
            <a:avLst/>
          </a:prstGeom>
        </p:spPr>
        <p:txBody>
          <a:bodyPr lIns="0" tIns="120650" rIns="0" bIns="120650" rtlCol="0" anchor="ctr"/>
          <a:lstStyle/>
          <a:p>
            <a:pPr lvl="0" algn="l">
              <a:lnSpc>
                <a:spcPct val="100000"/>
              </a:lnSpc>
            </a:pPr>
            <a:r>
              <a:rPr lang="ko-KR" altLang="en-US" sz="6000" b="1" dirty="0">
                <a:solidFill>
                  <a:srgbClr val="4A5B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1C0260B6-CEBC-7E58-A87D-448F52860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143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12A5DB8-9614-41C1-A2AF-1779B4444F63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869859d9-c7b8-47cf-996b-e65d6bacff9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2151</TotalTime>
  <Words>3403</Words>
  <Application>Microsoft Office PowerPoint</Application>
  <PresentationFormat>사용자 지정</PresentationFormat>
  <Paragraphs>854</Paragraphs>
  <Slides>31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4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LG</cp:lastModifiedBy>
  <cp:revision>44</cp:revision>
  <dcterms:created xsi:type="dcterms:W3CDTF">2006-08-16T00:00:00Z</dcterms:created>
  <dcterms:modified xsi:type="dcterms:W3CDTF">2026-10-22T06:06:33Z</dcterms:modified>
</cp:coreProperties>
</file>