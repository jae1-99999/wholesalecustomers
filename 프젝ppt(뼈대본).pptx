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87" r:id="rId5"/>
    <p:sldId id="293" r:id="rId6"/>
    <p:sldId id="294" r:id="rId7"/>
    <p:sldId id="288" r:id="rId8"/>
    <p:sldId id="295" r:id="rId9"/>
    <p:sldId id="296" r:id="rId10"/>
    <p:sldId id="297" r:id="rId11"/>
    <p:sldId id="298" r:id="rId12"/>
    <p:sldId id="299" r:id="rId13"/>
    <p:sldId id="290" r:id="rId14"/>
    <p:sldId id="300" r:id="rId15"/>
    <p:sldId id="301" r:id="rId16"/>
    <p:sldId id="302" r:id="rId17"/>
    <p:sldId id="303" r:id="rId18"/>
    <p:sldId id="289" r:id="rId19"/>
    <p:sldId id="304" r:id="rId20"/>
    <p:sldId id="305" r:id="rId21"/>
    <p:sldId id="306" r:id="rId22"/>
    <p:sldId id="291" r:id="rId23"/>
    <p:sldId id="307" r:id="rId24"/>
    <p:sldId id="308" r:id="rId25"/>
    <p:sldId id="309" r:id="rId26"/>
    <p:sldId id="259" r:id="rId27"/>
    <p:sldId id="260" r:id="rId28"/>
    <p:sldId id="261" r:id="rId29"/>
    <p:sldId id="262" r:id="rId30"/>
    <p:sldId id="263" r:id="rId31"/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5" r:id="rId52"/>
  </p:sldIdLst>
  <p:sldSz cx="18288000" cy="10287000"/>
  <p:notesSz cx="6858000" cy="9144000"/>
  <p:embeddedFontLst>
    <p:embeddedFont>
      <p:font typeface="Pretendard Light" panose="020B0600000101010101" charset="-127"/>
      <p:regular r:id="rId53"/>
    </p:embeddedFont>
    <p:embeddedFont>
      <p:font typeface="Pretendard Medium" panose="020B0600000101010101" charset="-127"/>
      <p:bold r:id="rId54"/>
    </p:embeddedFont>
    <p:embeddedFont>
      <p:font typeface="Pretendard Regular" panose="020B0600000101010101" charset="-127"/>
      <p:regular r:id="rId55"/>
    </p:embeddedFont>
    <p:embeddedFont>
      <p:font typeface="Pretendard SemiBold" panose="020B0600000101010101" charset="-127"/>
      <p:bold r:id="rId56"/>
    </p:embeddedFont>
    <p:embeddedFont>
      <p:font typeface="Poppins Light" panose="00000400000000000000" pitchFamily="2" charset="0"/>
      <p:regular r:id="rId57"/>
    </p:embeddedFont>
    <p:embeddedFont>
      <p:font typeface="Poppins Medium" panose="00000600000000000000" pitchFamily="2" charset="0"/>
      <p:regular r:id="rId58"/>
    </p:embeddedFont>
    <p:embeddedFont>
      <p:font typeface="Poppins Regular" panose="020B0600000101010101" charset="0"/>
      <p:regular r:id="rId59"/>
    </p:embeddedFont>
    <p:embeddedFont>
      <p:font typeface="Poppins SemiBold" panose="00000700000000000000" pitchFamily="2" charset="0"/>
      <p:bold r:id="rId6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96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7.svg"/><Relationship Id="rId7" Type="http://schemas.openxmlformats.org/officeDocument/2006/relationships/image" Target="../media/image14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5.svg"/><Relationship Id="rId9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7.svg"/><Relationship Id="rId7" Type="http://schemas.openxmlformats.org/officeDocument/2006/relationships/image" Target="../media/image14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5.svg"/><Relationship Id="rId9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5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5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5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5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5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svg"/><Relationship Id="rId7" Type="http://schemas.openxmlformats.org/officeDocument/2006/relationships/image" Target="../media/image2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1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32.svg"/><Relationship Id="rId3" Type="http://schemas.openxmlformats.org/officeDocument/2006/relationships/image" Target="../media/image7.svg"/><Relationship Id="rId7" Type="http://schemas.openxmlformats.org/officeDocument/2006/relationships/image" Target="../media/image14.svg"/><Relationship Id="rId12" Type="http://schemas.openxmlformats.org/officeDocument/2006/relationships/image" Target="../media/image31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11" Type="http://schemas.openxmlformats.org/officeDocument/2006/relationships/image" Target="../media/image15.svg"/><Relationship Id="rId5" Type="http://schemas.openxmlformats.org/officeDocument/2006/relationships/image" Target="../media/image12.svg"/><Relationship Id="rId10" Type="http://schemas.openxmlformats.org/officeDocument/2006/relationships/image" Target="../media/image30.svg"/><Relationship Id="rId4" Type="http://schemas.openxmlformats.org/officeDocument/2006/relationships/image" Target="../media/image5.svg"/><Relationship Id="rId9" Type="http://schemas.openxmlformats.org/officeDocument/2006/relationships/image" Target="../media/image29.svg"/><Relationship Id="rId14" Type="http://schemas.openxmlformats.org/officeDocument/2006/relationships/image" Target="../media/image33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7.svg"/><Relationship Id="rId7" Type="http://schemas.openxmlformats.org/officeDocument/2006/relationships/image" Target="../media/image36.svg"/><Relationship Id="rId12" Type="http://schemas.openxmlformats.org/officeDocument/2006/relationships/image" Target="../media/image41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svg"/><Relationship Id="rId11" Type="http://schemas.openxmlformats.org/officeDocument/2006/relationships/image" Target="../media/image40.svg"/><Relationship Id="rId5" Type="http://schemas.openxmlformats.org/officeDocument/2006/relationships/image" Target="../media/image34.svg"/><Relationship Id="rId10" Type="http://schemas.openxmlformats.org/officeDocument/2006/relationships/image" Target="../media/image39.svg"/><Relationship Id="rId4" Type="http://schemas.openxmlformats.org/officeDocument/2006/relationships/image" Target="../media/image5.svg"/><Relationship Id="rId9" Type="http://schemas.openxmlformats.org/officeDocument/2006/relationships/image" Target="../media/image38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13" Type="http://schemas.openxmlformats.org/officeDocument/2006/relationships/image" Target="../media/image50.svg"/><Relationship Id="rId3" Type="http://schemas.openxmlformats.org/officeDocument/2006/relationships/image" Target="../media/image7.svg"/><Relationship Id="rId7" Type="http://schemas.openxmlformats.org/officeDocument/2006/relationships/image" Target="../media/image44.svg"/><Relationship Id="rId12" Type="http://schemas.openxmlformats.org/officeDocument/2006/relationships/image" Target="../media/image49.svg"/><Relationship Id="rId2" Type="http://schemas.openxmlformats.org/officeDocument/2006/relationships/image" Target="../media/image6.svg"/><Relationship Id="rId16" Type="http://schemas.openxmlformats.org/officeDocument/2006/relationships/image" Target="../media/image5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11" Type="http://schemas.openxmlformats.org/officeDocument/2006/relationships/image" Target="../media/image48.svg"/><Relationship Id="rId5" Type="http://schemas.openxmlformats.org/officeDocument/2006/relationships/image" Target="../media/image42.svg"/><Relationship Id="rId15" Type="http://schemas.openxmlformats.org/officeDocument/2006/relationships/image" Target="../media/image52.svg"/><Relationship Id="rId10" Type="http://schemas.openxmlformats.org/officeDocument/2006/relationships/image" Target="../media/image47.svg"/><Relationship Id="rId4" Type="http://schemas.openxmlformats.org/officeDocument/2006/relationships/image" Target="../media/image5.svg"/><Relationship Id="rId9" Type="http://schemas.openxmlformats.org/officeDocument/2006/relationships/image" Target="../media/image46.svg"/><Relationship Id="rId14" Type="http://schemas.openxmlformats.org/officeDocument/2006/relationships/image" Target="../media/image51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13" Type="http://schemas.openxmlformats.org/officeDocument/2006/relationships/image" Target="../media/image62.svg"/><Relationship Id="rId3" Type="http://schemas.openxmlformats.org/officeDocument/2006/relationships/image" Target="../media/image7.svg"/><Relationship Id="rId7" Type="http://schemas.openxmlformats.org/officeDocument/2006/relationships/image" Target="../media/image56.svg"/><Relationship Id="rId12" Type="http://schemas.openxmlformats.org/officeDocument/2006/relationships/image" Target="../media/image61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openxmlformats.org/officeDocument/2006/relationships/image" Target="../media/image60.svg"/><Relationship Id="rId5" Type="http://schemas.openxmlformats.org/officeDocument/2006/relationships/image" Target="../media/image54.svg"/><Relationship Id="rId10" Type="http://schemas.openxmlformats.org/officeDocument/2006/relationships/image" Target="../media/image59.svg"/><Relationship Id="rId4" Type="http://schemas.openxmlformats.org/officeDocument/2006/relationships/image" Target="../media/image5.svg"/><Relationship Id="rId9" Type="http://schemas.openxmlformats.org/officeDocument/2006/relationships/image" Target="../media/image5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13" Type="http://schemas.openxmlformats.org/officeDocument/2006/relationships/image" Target="../media/image71.svg"/><Relationship Id="rId3" Type="http://schemas.openxmlformats.org/officeDocument/2006/relationships/image" Target="../media/image7.svg"/><Relationship Id="rId7" Type="http://schemas.openxmlformats.org/officeDocument/2006/relationships/image" Target="../media/image65.svg"/><Relationship Id="rId12" Type="http://schemas.openxmlformats.org/officeDocument/2006/relationships/image" Target="../media/image70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11" Type="http://schemas.openxmlformats.org/officeDocument/2006/relationships/image" Target="../media/image69.svg"/><Relationship Id="rId5" Type="http://schemas.openxmlformats.org/officeDocument/2006/relationships/image" Target="../media/image63.png"/><Relationship Id="rId15" Type="http://schemas.openxmlformats.org/officeDocument/2006/relationships/image" Target="../media/image73.svg"/><Relationship Id="rId10" Type="http://schemas.openxmlformats.org/officeDocument/2006/relationships/image" Target="../media/image68.svg"/><Relationship Id="rId4" Type="http://schemas.openxmlformats.org/officeDocument/2006/relationships/image" Target="../media/image5.svg"/><Relationship Id="rId9" Type="http://schemas.openxmlformats.org/officeDocument/2006/relationships/image" Target="../media/image67.svg"/><Relationship Id="rId14" Type="http://schemas.openxmlformats.org/officeDocument/2006/relationships/image" Target="../media/image72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svg"/><Relationship Id="rId3" Type="http://schemas.openxmlformats.org/officeDocument/2006/relationships/image" Target="../media/image7.svg"/><Relationship Id="rId7" Type="http://schemas.openxmlformats.org/officeDocument/2006/relationships/image" Target="../media/image74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11" Type="http://schemas.openxmlformats.org/officeDocument/2006/relationships/image" Target="../media/image78.svg"/><Relationship Id="rId5" Type="http://schemas.openxmlformats.org/officeDocument/2006/relationships/image" Target="../media/image17.svg"/><Relationship Id="rId10" Type="http://schemas.openxmlformats.org/officeDocument/2006/relationships/image" Target="../media/image77.svg"/><Relationship Id="rId4" Type="http://schemas.openxmlformats.org/officeDocument/2006/relationships/image" Target="../media/image5.svg"/><Relationship Id="rId9" Type="http://schemas.openxmlformats.org/officeDocument/2006/relationships/image" Target="../media/image76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svg"/><Relationship Id="rId13" Type="http://schemas.openxmlformats.org/officeDocument/2006/relationships/image" Target="../media/image87.svg"/><Relationship Id="rId18" Type="http://schemas.openxmlformats.org/officeDocument/2006/relationships/image" Target="../media/image92.svg"/><Relationship Id="rId3" Type="http://schemas.openxmlformats.org/officeDocument/2006/relationships/image" Target="../media/image7.svg"/><Relationship Id="rId7" Type="http://schemas.openxmlformats.org/officeDocument/2006/relationships/image" Target="../media/image81.svg"/><Relationship Id="rId12" Type="http://schemas.openxmlformats.org/officeDocument/2006/relationships/image" Target="../media/image86.svg"/><Relationship Id="rId17" Type="http://schemas.openxmlformats.org/officeDocument/2006/relationships/image" Target="../media/image91.svg"/><Relationship Id="rId2" Type="http://schemas.openxmlformats.org/officeDocument/2006/relationships/image" Target="../media/image6.svg"/><Relationship Id="rId16" Type="http://schemas.openxmlformats.org/officeDocument/2006/relationships/image" Target="../media/image90.svg"/><Relationship Id="rId20" Type="http://schemas.openxmlformats.org/officeDocument/2006/relationships/image" Target="../media/image9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svg"/><Relationship Id="rId11" Type="http://schemas.openxmlformats.org/officeDocument/2006/relationships/image" Target="../media/image85.svg"/><Relationship Id="rId5" Type="http://schemas.openxmlformats.org/officeDocument/2006/relationships/image" Target="../media/image79.svg"/><Relationship Id="rId15" Type="http://schemas.openxmlformats.org/officeDocument/2006/relationships/image" Target="../media/image89.svg"/><Relationship Id="rId10" Type="http://schemas.openxmlformats.org/officeDocument/2006/relationships/image" Target="../media/image84.svg"/><Relationship Id="rId19" Type="http://schemas.openxmlformats.org/officeDocument/2006/relationships/image" Target="../media/image93.svg"/><Relationship Id="rId4" Type="http://schemas.openxmlformats.org/officeDocument/2006/relationships/image" Target="../media/image5.svg"/><Relationship Id="rId9" Type="http://schemas.openxmlformats.org/officeDocument/2006/relationships/image" Target="../media/image83.svg"/><Relationship Id="rId14" Type="http://schemas.openxmlformats.org/officeDocument/2006/relationships/image" Target="../media/image88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svg"/><Relationship Id="rId7" Type="http://schemas.openxmlformats.org/officeDocument/2006/relationships/image" Target="../media/image99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svg"/><Relationship Id="rId5" Type="http://schemas.openxmlformats.org/officeDocument/2006/relationships/image" Target="../media/image97.png"/><Relationship Id="rId4" Type="http://schemas.openxmlformats.org/officeDocument/2006/relationships/image" Target="../media/image96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svg"/><Relationship Id="rId3" Type="http://schemas.openxmlformats.org/officeDocument/2006/relationships/image" Target="../media/image7.svg"/><Relationship Id="rId7" Type="http://schemas.openxmlformats.org/officeDocument/2006/relationships/image" Target="../media/image100.svg"/><Relationship Id="rId12" Type="http://schemas.openxmlformats.org/officeDocument/2006/relationships/image" Target="../media/image10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5.svg"/><Relationship Id="rId5" Type="http://schemas.openxmlformats.org/officeDocument/2006/relationships/image" Target="../media/image11.svg"/><Relationship Id="rId10" Type="http://schemas.openxmlformats.org/officeDocument/2006/relationships/image" Target="../media/image103.svg"/><Relationship Id="rId4" Type="http://schemas.openxmlformats.org/officeDocument/2006/relationships/image" Target="../media/image9.svg"/><Relationship Id="rId9" Type="http://schemas.openxmlformats.org/officeDocument/2006/relationships/image" Target="../media/image102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svg"/><Relationship Id="rId13" Type="http://schemas.openxmlformats.org/officeDocument/2006/relationships/image" Target="../media/image112.svg"/><Relationship Id="rId3" Type="http://schemas.openxmlformats.org/officeDocument/2006/relationships/image" Target="../media/image7.svg"/><Relationship Id="rId7" Type="http://schemas.openxmlformats.org/officeDocument/2006/relationships/image" Target="../media/image106.svg"/><Relationship Id="rId12" Type="http://schemas.openxmlformats.org/officeDocument/2006/relationships/image" Target="../media/image111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png"/><Relationship Id="rId11" Type="http://schemas.openxmlformats.org/officeDocument/2006/relationships/image" Target="../media/image110.svg"/><Relationship Id="rId5" Type="http://schemas.openxmlformats.org/officeDocument/2006/relationships/image" Target="../media/image104.svg"/><Relationship Id="rId15" Type="http://schemas.openxmlformats.org/officeDocument/2006/relationships/image" Target="../media/image114.svg"/><Relationship Id="rId10" Type="http://schemas.openxmlformats.org/officeDocument/2006/relationships/image" Target="../media/image109.svg"/><Relationship Id="rId4" Type="http://schemas.openxmlformats.org/officeDocument/2006/relationships/image" Target="../media/image5.svg"/><Relationship Id="rId9" Type="http://schemas.openxmlformats.org/officeDocument/2006/relationships/image" Target="../media/image108.png"/><Relationship Id="rId14" Type="http://schemas.openxmlformats.org/officeDocument/2006/relationships/image" Target="../media/image113.png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3.svg"/><Relationship Id="rId18" Type="http://schemas.openxmlformats.org/officeDocument/2006/relationships/image" Target="../media/image128.svg"/><Relationship Id="rId26" Type="http://schemas.openxmlformats.org/officeDocument/2006/relationships/image" Target="../media/image136.svg"/><Relationship Id="rId39" Type="http://schemas.openxmlformats.org/officeDocument/2006/relationships/image" Target="../media/image149.svg"/><Relationship Id="rId21" Type="http://schemas.openxmlformats.org/officeDocument/2006/relationships/image" Target="../media/image131.svg"/><Relationship Id="rId34" Type="http://schemas.openxmlformats.org/officeDocument/2006/relationships/image" Target="../media/image144.svg"/><Relationship Id="rId42" Type="http://schemas.openxmlformats.org/officeDocument/2006/relationships/image" Target="../media/image152.svg"/><Relationship Id="rId7" Type="http://schemas.openxmlformats.org/officeDocument/2006/relationships/image" Target="../media/image117.svg"/><Relationship Id="rId2" Type="http://schemas.openxmlformats.org/officeDocument/2006/relationships/image" Target="../media/image6.svg"/><Relationship Id="rId16" Type="http://schemas.openxmlformats.org/officeDocument/2006/relationships/image" Target="../media/image126.svg"/><Relationship Id="rId29" Type="http://schemas.openxmlformats.org/officeDocument/2006/relationships/image" Target="../media/image13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6.svg"/><Relationship Id="rId11" Type="http://schemas.openxmlformats.org/officeDocument/2006/relationships/image" Target="../media/image121.svg"/><Relationship Id="rId24" Type="http://schemas.openxmlformats.org/officeDocument/2006/relationships/image" Target="../media/image134.svg"/><Relationship Id="rId32" Type="http://schemas.openxmlformats.org/officeDocument/2006/relationships/image" Target="../media/image142.svg"/><Relationship Id="rId37" Type="http://schemas.openxmlformats.org/officeDocument/2006/relationships/image" Target="../media/image147.svg"/><Relationship Id="rId40" Type="http://schemas.openxmlformats.org/officeDocument/2006/relationships/image" Target="../media/image150.svg"/><Relationship Id="rId45" Type="http://schemas.openxmlformats.org/officeDocument/2006/relationships/image" Target="../media/image155.svg"/><Relationship Id="rId5" Type="http://schemas.openxmlformats.org/officeDocument/2006/relationships/image" Target="../media/image115.svg"/><Relationship Id="rId15" Type="http://schemas.openxmlformats.org/officeDocument/2006/relationships/image" Target="../media/image125.svg"/><Relationship Id="rId23" Type="http://schemas.openxmlformats.org/officeDocument/2006/relationships/image" Target="../media/image133.svg"/><Relationship Id="rId28" Type="http://schemas.openxmlformats.org/officeDocument/2006/relationships/image" Target="../media/image138.svg"/><Relationship Id="rId36" Type="http://schemas.openxmlformats.org/officeDocument/2006/relationships/image" Target="../media/image146.svg"/><Relationship Id="rId10" Type="http://schemas.openxmlformats.org/officeDocument/2006/relationships/image" Target="../media/image120.svg"/><Relationship Id="rId19" Type="http://schemas.openxmlformats.org/officeDocument/2006/relationships/image" Target="../media/image129.svg"/><Relationship Id="rId31" Type="http://schemas.openxmlformats.org/officeDocument/2006/relationships/image" Target="../media/image141.svg"/><Relationship Id="rId44" Type="http://schemas.openxmlformats.org/officeDocument/2006/relationships/image" Target="../media/image154.svg"/><Relationship Id="rId4" Type="http://schemas.openxmlformats.org/officeDocument/2006/relationships/image" Target="../media/image5.svg"/><Relationship Id="rId9" Type="http://schemas.openxmlformats.org/officeDocument/2006/relationships/image" Target="../media/image119.svg"/><Relationship Id="rId14" Type="http://schemas.openxmlformats.org/officeDocument/2006/relationships/image" Target="../media/image124.svg"/><Relationship Id="rId22" Type="http://schemas.openxmlformats.org/officeDocument/2006/relationships/image" Target="../media/image132.svg"/><Relationship Id="rId27" Type="http://schemas.openxmlformats.org/officeDocument/2006/relationships/image" Target="../media/image137.svg"/><Relationship Id="rId30" Type="http://schemas.openxmlformats.org/officeDocument/2006/relationships/image" Target="../media/image140.svg"/><Relationship Id="rId35" Type="http://schemas.openxmlformats.org/officeDocument/2006/relationships/image" Target="../media/image145.svg"/><Relationship Id="rId43" Type="http://schemas.openxmlformats.org/officeDocument/2006/relationships/image" Target="../media/image153.svg"/><Relationship Id="rId8" Type="http://schemas.openxmlformats.org/officeDocument/2006/relationships/image" Target="../media/image118.svg"/><Relationship Id="rId3" Type="http://schemas.openxmlformats.org/officeDocument/2006/relationships/image" Target="../media/image7.svg"/><Relationship Id="rId12" Type="http://schemas.openxmlformats.org/officeDocument/2006/relationships/image" Target="../media/image122.svg"/><Relationship Id="rId17" Type="http://schemas.openxmlformats.org/officeDocument/2006/relationships/image" Target="../media/image127.svg"/><Relationship Id="rId25" Type="http://schemas.openxmlformats.org/officeDocument/2006/relationships/image" Target="../media/image135.svg"/><Relationship Id="rId33" Type="http://schemas.openxmlformats.org/officeDocument/2006/relationships/image" Target="../media/image143.svg"/><Relationship Id="rId38" Type="http://schemas.openxmlformats.org/officeDocument/2006/relationships/image" Target="../media/image148.svg"/><Relationship Id="rId46" Type="http://schemas.openxmlformats.org/officeDocument/2006/relationships/image" Target="../media/image156.svg"/><Relationship Id="rId20" Type="http://schemas.openxmlformats.org/officeDocument/2006/relationships/image" Target="../media/image130.svg"/><Relationship Id="rId41" Type="http://schemas.openxmlformats.org/officeDocument/2006/relationships/image" Target="../media/image151.sv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svg"/><Relationship Id="rId13" Type="http://schemas.openxmlformats.org/officeDocument/2006/relationships/image" Target="../media/image5.svg"/><Relationship Id="rId3" Type="http://schemas.openxmlformats.org/officeDocument/2006/relationships/image" Target="../media/image7.svg"/><Relationship Id="rId7" Type="http://schemas.openxmlformats.org/officeDocument/2006/relationships/image" Target="../media/image160.svg"/><Relationship Id="rId12" Type="http://schemas.openxmlformats.org/officeDocument/2006/relationships/image" Target="../media/image165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9.svg"/><Relationship Id="rId11" Type="http://schemas.openxmlformats.org/officeDocument/2006/relationships/image" Target="../media/image164.svg"/><Relationship Id="rId5" Type="http://schemas.openxmlformats.org/officeDocument/2006/relationships/image" Target="../media/image158.svg"/><Relationship Id="rId10" Type="http://schemas.openxmlformats.org/officeDocument/2006/relationships/image" Target="../media/image163.png"/><Relationship Id="rId4" Type="http://schemas.openxmlformats.org/officeDocument/2006/relationships/image" Target="../media/image157.svg"/><Relationship Id="rId9" Type="http://schemas.openxmlformats.org/officeDocument/2006/relationships/image" Target="../media/image162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16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svg"/><Relationship Id="rId13" Type="http://schemas.openxmlformats.org/officeDocument/2006/relationships/image" Target="../media/image175.svg"/><Relationship Id="rId18" Type="http://schemas.openxmlformats.org/officeDocument/2006/relationships/image" Target="../media/image180.svg"/><Relationship Id="rId26" Type="http://schemas.openxmlformats.org/officeDocument/2006/relationships/image" Target="../media/image188.svg"/><Relationship Id="rId3" Type="http://schemas.openxmlformats.org/officeDocument/2006/relationships/image" Target="../media/image7.svg"/><Relationship Id="rId21" Type="http://schemas.openxmlformats.org/officeDocument/2006/relationships/image" Target="../media/image183.svg"/><Relationship Id="rId7" Type="http://schemas.openxmlformats.org/officeDocument/2006/relationships/image" Target="../media/image169.svg"/><Relationship Id="rId12" Type="http://schemas.openxmlformats.org/officeDocument/2006/relationships/image" Target="../media/image174.svg"/><Relationship Id="rId17" Type="http://schemas.openxmlformats.org/officeDocument/2006/relationships/image" Target="../media/image179.svg"/><Relationship Id="rId25" Type="http://schemas.openxmlformats.org/officeDocument/2006/relationships/image" Target="../media/image187.svg"/><Relationship Id="rId2" Type="http://schemas.openxmlformats.org/officeDocument/2006/relationships/image" Target="../media/image6.svg"/><Relationship Id="rId16" Type="http://schemas.openxmlformats.org/officeDocument/2006/relationships/image" Target="../media/image178.svg"/><Relationship Id="rId20" Type="http://schemas.openxmlformats.org/officeDocument/2006/relationships/image" Target="../media/image182.svg"/><Relationship Id="rId29" Type="http://schemas.openxmlformats.org/officeDocument/2006/relationships/image" Target="../media/image19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8.svg"/><Relationship Id="rId11" Type="http://schemas.openxmlformats.org/officeDocument/2006/relationships/image" Target="../media/image173.svg"/><Relationship Id="rId24" Type="http://schemas.openxmlformats.org/officeDocument/2006/relationships/image" Target="../media/image186.svg"/><Relationship Id="rId32" Type="http://schemas.openxmlformats.org/officeDocument/2006/relationships/image" Target="../media/image194.svg"/><Relationship Id="rId5" Type="http://schemas.openxmlformats.org/officeDocument/2006/relationships/image" Target="../media/image167.svg"/><Relationship Id="rId15" Type="http://schemas.openxmlformats.org/officeDocument/2006/relationships/image" Target="../media/image177.svg"/><Relationship Id="rId23" Type="http://schemas.openxmlformats.org/officeDocument/2006/relationships/image" Target="../media/image185.svg"/><Relationship Id="rId28" Type="http://schemas.openxmlformats.org/officeDocument/2006/relationships/image" Target="../media/image190.svg"/><Relationship Id="rId10" Type="http://schemas.openxmlformats.org/officeDocument/2006/relationships/image" Target="../media/image172.svg"/><Relationship Id="rId19" Type="http://schemas.openxmlformats.org/officeDocument/2006/relationships/image" Target="../media/image181.svg"/><Relationship Id="rId31" Type="http://schemas.openxmlformats.org/officeDocument/2006/relationships/image" Target="../media/image193.svg"/><Relationship Id="rId4" Type="http://schemas.openxmlformats.org/officeDocument/2006/relationships/image" Target="../media/image5.svg"/><Relationship Id="rId9" Type="http://schemas.openxmlformats.org/officeDocument/2006/relationships/image" Target="../media/image171.svg"/><Relationship Id="rId14" Type="http://schemas.openxmlformats.org/officeDocument/2006/relationships/image" Target="../media/image176.svg"/><Relationship Id="rId22" Type="http://schemas.openxmlformats.org/officeDocument/2006/relationships/image" Target="../media/image184.svg"/><Relationship Id="rId27" Type="http://schemas.openxmlformats.org/officeDocument/2006/relationships/image" Target="../media/image189.svg"/><Relationship Id="rId30" Type="http://schemas.openxmlformats.org/officeDocument/2006/relationships/image" Target="../media/image192.sv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svg"/><Relationship Id="rId13" Type="http://schemas.openxmlformats.org/officeDocument/2006/relationships/image" Target="../media/image201.svg"/><Relationship Id="rId3" Type="http://schemas.openxmlformats.org/officeDocument/2006/relationships/image" Target="../media/image7.svg"/><Relationship Id="rId7" Type="http://schemas.openxmlformats.org/officeDocument/2006/relationships/image" Target="../media/image195.svg"/><Relationship Id="rId12" Type="http://schemas.openxmlformats.org/officeDocument/2006/relationships/image" Target="../media/image200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5.svg"/><Relationship Id="rId11" Type="http://schemas.openxmlformats.org/officeDocument/2006/relationships/image" Target="../media/image199.svg"/><Relationship Id="rId5" Type="http://schemas.openxmlformats.org/officeDocument/2006/relationships/image" Target="../media/image164.svg"/><Relationship Id="rId10" Type="http://schemas.openxmlformats.org/officeDocument/2006/relationships/image" Target="../media/image198.svg"/><Relationship Id="rId4" Type="http://schemas.openxmlformats.org/officeDocument/2006/relationships/image" Target="../media/image5.svg"/><Relationship Id="rId9" Type="http://schemas.openxmlformats.org/officeDocument/2006/relationships/image" Target="../media/image197.svg"/><Relationship Id="rId14" Type="http://schemas.openxmlformats.org/officeDocument/2006/relationships/image" Target="../media/image202.sv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svg"/><Relationship Id="rId13" Type="http://schemas.openxmlformats.org/officeDocument/2006/relationships/image" Target="../media/image211.svg"/><Relationship Id="rId3" Type="http://schemas.openxmlformats.org/officeDocument/2006/relationships/image" Target="../media/image7.svg"/><Relationship Id="rId7" Type="http://schemas.openxmlformats.org/officeDocument/2006/relationships/image" Target="../media/image205.svg"/><Relationship Id="rId12" Type="http://schemas.openxmlformats.org/officeDocument/2006/relationships/image" Target="../media/image210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4.svg"/><Relationship Id="rId11" Type="http://schemas.openxmlformats.org/officeDocument/2006/relationships/image" Target="../media/image209.svg"/><Relationship Id="rId5" Type="http://schemas.openxmlformats.org/officeDocument/2006/relationships/image" Target="../media/image203.svg"/><Relationship Id="rId15" Type="http://schemas.openxmlformats.org/officeDocument/2006/relationships/image" Target="../media/image213.svg"/><Relationship Id="rId10" Type="http://schemas.openxmlformats.org/officeDocument/2006/relationships/image" Target="../media/image208.svg"/><Relationship Id="rId4" Type="http://schemas.openxmlformats.org/officeDocument/2006/relationships/image" Target="../media/image96.svg"/><Relationship Id="rId9" Type="http://schemas.openxmlformats.org/officeDocument/2006/relationships/image" Target="../media/image207.svg"/><Relationship Id="rId14" Type="http://schemas.openxmlformats.org/officeDocument/2006/relationships/image" Target="../media/image212.sv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svg"/><Relationship Id="rId13" Type="http://schemas.openxmlformats.org/officeDocument/2006/relationships/image" Target="../media/image222.svg"/><Relationship Id="rId3" Type="http://schemas.openxmlformats.org/officeDocument/2006/relationships/image" Target="../media/image7.svg"/><Relationship Id="rId7" Type="http://schemas.openxmlformats.org/officeDocument/2006/relationships/image" Target="../media/image216.svg"/><Relationship Id="rId12" Type="http://schemas.openxmlformats.org/officeDocument/2006/relationships/image" Target="../media/image221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5.svg"/><Relationship Id="rId11" Type="http://schemas.openxmlformats.org/officeDocument/2006/relationships/image" Target="../media/image220.svg"/><Relationship Id="rId5" Type="http://schemas.openxmlformats.org/officeDocument/2006/relationships/image" Target="../media/image214.svg"/><Relationship Id="rId10" Type="http://schemas.openxmlformats.org/officeDocument/2006/relationships/image" Target="../media/image219.svg"/><Relationship Id="rId4" Type="http://schemas.openxmlformats.org/officeDocument/2006/relationships/image" Target="../media/image96.svg"/><Relationship Id="rId9" Type="http://schemas.openxmlformats.org/officeDocument/2006/relationships/image" Target="../media/image218.svg"/><Relationship Id="rId14" Type="http://schemas.openxmlformats.org/officeDocument/2006/relationships/image" Target="../media/image223.sv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svg"/><Relationship Id="rId13" Type="http://schemas.openxmlformats.org/officeDocument/2006/relationships/image" Target="../media/image232.svg"/><Relationship Id="rId18" Type="http://schemas.openxmlformats.org/officeDocument/2006/relationships/image" Target="../media/image237.svg"/><Relationship Id="rId3" Type="http://schemas.openxmlformats.org/officeDocument/2006/relationships/image" Target="../media/image7.svg"/><Relationship Id="rId7" Type="http://schemas.openxmlformats.org/officeDocument/2006/relationships/image" Target="../media/image226.svg"/><Relationship Id="rId12" Type="http://schemas.openxmlformats.org/officeDocument/2006/relationships/image" Target="../media/image231.svg"/><Relationship Id="rId17" Type="http://schemas.openxmlformats.org/officeDocument/2006/relationships/image" Target="../media/image236.svg"/><Relationship Id="rId2" Type="http://schemas.openxmlformats.org/officeDocument/2006/relationships/image" Target="../media/image6.svg"/><Relationship Id="rId16" Type="http://schemas.openxmlformats.org/officeDocument/2006/relationships/image" Target="../media/image23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5.svg"/><Relationship Id="rId11" Type="http://schemas.openxmlformats.org/officeDocument/2006/relationships/image" Target="../media/image230.svg"/><Relationship Id="rId5" Type="http://schemas.openxmlformats.org/officeDocument/2006/relationships/image" Target="../media/image224.svg"/><Relationship Id="rId15" Type="http://schemas.openxmlformats.org/officeDocument/2006/relationships/image" Target="../media/image234.svg"/><Relationship Id="rId10" Type="http://schemas.openxmlformats.org/officeDocument/2006/relationships/image" Target="../media/image229.svg"/><Relationship Id="rId19" Type="http://schemas.openxmlformats.org/officeDocument/2006/relationships/image" Target="../media/image238.svg"/><Relationship Id="rId4" Type="http://schemas.openxmlformats.org/officeDocument/2006/relationships/image" Target="../media/image96.svg"/><Relationship Id="rId9" Type="http://schemas.openxmlformats.org/officeDocument/2006/relationships/image" Target="../media/image228.svg"/><Relationship Id="rId14" Type="http://schemas.openxmlformats.org/officeDocument/2006/relationships/image" Target="../media/image233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241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0.png"/><Relationship Id="rId5" Type="http://schemas.openxmlformats.org/officeDocument/2006/relationships/image" Target="../media/image239.png"/><Relationship Id="rId4" Type="http://schemas.openxmlformats.org/officeDocument/2006/relationships/image" Target="../media/image5.sv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svg"/><Relationship Id="rId13" Type="http://schemas.openxmlformats.org/officeDocument/2006/relationships/image" Target="../media/image250.svg"/><Relationship Id="rId3" Type="http://schemas.openxmlformats.org/officeDocument/2006/relationships/image" Target="../media/image7.svg"/><Relationship Id="rId7" Type="http://schemas.openxmlformats.org/officeDocument/2006/relationships/image" Target="../media/image244.svg"/><Relationship Id="rId12" Type="http://schemas.openxmlformats.org/officeDocument/2006/relationships/image" Target="../media/image249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3.svg"/><Relationship Id="rId11" Type="http://schemas.openxmlformats.org/officeDocument/2006/relationships/image" Target="../media/image248.svg"/><Relationship Id="rId5" Type="http://schemas.openxmlformats.org/officeDocument/2006/relationships/image" Target="../media/image242.svg"/><Relationship Id="rId10" Type="http://schemas.openxmlformats.org/officeDocument/2006/relationships/image" Target="../media/image247.svg"/><Relationship Id="rId4" Type="http://schemas.openxmlformats.org/officeDocument/2006/relationships/image" Target="../media/image5.svg"/><Relationship Id="rId9" Type="http://schemas.openxmlformats.org/officeDocument/2006/relationships/image" Target="../media/image246.svg"/><Relationship Id="rId14" Type="http://schemas.openxmlformats.org/officeDocument/2006/relationships/image" Target="../media/image251.sv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svg"/><Relationship Id="rId3" Type="http://schemas.openxmlformats.org/officeDocument/2006/relationships/image" Target="../media/image7.svg"/><Relationship Id="rId7" Type="http://schemas.openxmlformats.org/officeDocument/2006/relationships/image" Target="../media/image254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3.svg"/><Relationship Id="rId11" Type="http://schemas.openxmlformats.org/officeDocument/2006/relationships/image" Target="../media/image258.png"/><Relationship Id="rId5" Type="http://schemas.openxmlformats.org/officeDocument/2006/relationships/image" Target="../media/image252.svg"/><Relationship Id="rId10" Type="http://schemas.openxmlformats.org/officeDocument/2006/relationships/image" Target="../media/image257.svg"/><Relationship Id="rId4" Type="http://schemas.openxmlformats.org/officeDocument/2006/relationships/image" Target="../media/image5.svg"/><Relationship Id="rId9" Type="http://schemas.openxmlformats.org/officeDocument/2006/relationships/image" Target="../media/image256.sv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svg"/><Relationship Id="rId3" Type="http://schemas.openxmlformats.org/officeDocument/2006/relationships/image" Target="../media/image7.svg"/><Relationship Id="rId7" Type="http://schemas.openxmlformats.org/officeDocument/2006/relationships/image" Target="../media/image261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0.png"/><Relationship Id="rId11" Type="http://schemas.openxmlformats.org/officeDocument/2006/relationships/image" Target="../media/image265.svg"/><Relationship Id="rId5" Type="http://schemas.openxmlformats.org/officeDocument/2006/relationships/image" Target="../media/image259.png"/><Relationship Id="rId10" Type="http://schemas.openxmlformats.org/officeDocument/2006/relationships/image" Target="../media/image264.svg"/><Relationship Id="rId4" Type="http://schemas.openxmlformats.org/officeDocument/2006/relationships/image" Target="../media/image5.svg"/><Relationship Id="rId9" Type="http://schemas.openxmlformats.org/officeDocument/2006/relationships/image" Target="../media/image263.sv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svg"/><Relationship Id="rId3" Type="http://schemas.openxmlformats.org/officeDocument/2006/relationships/image" Target="../media/image7.svg"/><Relationship Id="rId7" Type="http://schemas.openxmlformats.org/officeDocument/2006/relationships/image" Target="../media/image268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7.svg"/><Relationship Id="rId5" Type="http://schemas.openxmlformats.org/officeDocument/2006/relationships/image" Target="../media/image266.png"/><Relationship Id="rId4" Type="http://schemas.openxmlformats.org/officeDocument/2006/relationships/image" Target="../media/image5.svg"/><Relationship Id="rId9" Type="http://schemas.openxmlformats.org/officeDocument/2006/relationships/image" Target="../media/image270.sv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3.png"/><Relationship Id="rId13" Type="http://schemas.openxmlformats.org/officeDocument/2006/relationships/image" Target="../media/image278.svg"/><Relationship Id="rId18" Type="http://schemas.openxmlformats.org/officeDocument/2006/relationships/image" Target="../media/image282.svg"/><Relationship Id="rId3" Type="http://schemas.openxmlformats.org/officeDocument/2006/relationships/image" Target="../media/image7.svg"/><Relationship Id="rId21" Type="http://schemas.openxmlformats.org/officeDocument/2006/relationships/image" Target="../media/image285.svg"/><Relationship Id="rId7" Type="http://schemas.openxmlformats.org/officeDocument/2006/relationships/image" Target="../media/image267.svg"/><Relationship Id="rId12" Type="http://schemas.openxmlformats.org/officeDocument/2006/relationships/image" Target="../media/image277.svg"/><Relationship Id="rId17" Type="http://schemas.openxmlformats.org/officeDocument/2006/relationships/image" Target="../media/image281.svg"/><Relationship Id="rId2" Type="http://schemas.openxmlformats.org/officeDocument/2006/relationships/image" Target="../media/image6.svg"/><Relationship Id="rId16" Type="http://schemas.openxmlformats.org/officeDocument/2006/relationships/image" Target="../media/image280.svg"/><Relationship Id="rId20" Type="http://schemas.openxmlformats.org/officeDocument/2006/relationships/image" Target="../media/image2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2.svg"/><Relationship Id="rId11" Type="http://schemas.openxmlformats.org/officeDocument/2006/relationships/image" Target="../media/image276.svg"/><Relationship Id="rId5" Type="http://schemas.openxmlformats.org/officeDocument/2006/relationships/image" Target="../media/image271.svg"/><Relationship Id="rId15" Type="http://schemas.openxmlformats.org/officeDocument/2006/relationships/image" Target="../media/image269.svg"/><Relationship Id="rId10" Type="http://schemas.openxmlformats.org/officeDocument/2006/relationships/image" Target="../media/image275.svg"/><Relationship Id="rId19" Type="http://schemas.openxmlformats.org/officeDocument/2006/relationships/image" Target="../media/image283.svg"/><Relationship Id="rId4" Type="http://schemas.openxmlformats.org/officeDocument/2006/relationships/image" Target="../media/image96.svg"/><Relationship Id="rId9" Type="http://schemas.openxmlformats.org/officeDocument/2006/relationships/image" Target="../media/image274.svg"/><Relationship Id="rId14" Type="http://schemas.openxmlformats.org/officeDocument/2006/relationships/image" Target="../media/image279.sv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9.svg"/><Relationship Id="rId13" Type="http://schemas.openxmlformats.org/officeDocument/2006/relationships/image" Target="../media/image294.svg"/><Relationship Id="rId3" Type="http://schemas.openxmlformats.org/officeDocument/2006/relationships/image" Target="../media/image7.svg"/><Relationship Id="rId7" Type="http://schemas.openxmlformats.org/officeDocument/2006/relationships/image" Target="../media/image288.svg"/><Relationship Id="rId12" Type="http://schemas.openxmlformats.org/officeDocument/2006/relationships/image" Target="../media/image293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7.svg"/><Relationship Id="rId11" Type="http://schemas.openxmlformats.org/officeDocument/2006/relationships/image" Target="../media/image292.svg"/><Relationship Id="rId5" Type="http://schemas.openxmlformats.org/officeDocument/2006/relationships/image" Target="../media/image286.svg"/><Relationship Id="rId10" Type="http://schemas.openxmlformats.org/officeDocument/2006/relationships/image" Target="../media/image291.svg"/><Relationship Id="rId4" Type="http://schemas.openxmlformats.org/officeDocument/2006/relationships/image" Target="../media/image96.svg"/><Relationship Id="rId9" Type="http://schemas.openxmlformats.org/officeDocument/2006/relationships/image" Target="../media/image290.svg"/><Relationship Id="rId14" Type="http://schemas.openxmlformats.org/officeDocument/2006/relationships/image" Target="../media/image165.sv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4.svg"/><Relationship Id="rId7" Type="http://schemas.openxmlformats.org/officeDocument/2006/relationships/image" Target="../media/image2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166.svg"/><Relationship Id="rId4" Type="http://schemas.openxmlformats.org/officeDocument/2006/relationships/image" Target="../media/image21.sv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5130800"/>
            <a:ext cx="18326100" cy="520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68800" cy="9169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630400" y="482600"/>
            <a:ext cx="2603500" cy="1397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4757400" y="749300"/>
            <a:ext cx="2336800" cy="749300"/>
          </a:xfrm>
          <a:prstGeom prst="rect">
            <a:avLst/>
          </a:prstGeom>
        </p:spPr>
        <p:txBody>
          <a:bodyPr lIns="0" tIns="13550" rIns="0" bIns="13550" rtlCol="0" anchor="ctr"/>
          <a:lstStyle/>
          <a:p>
            <a:pPr lvl="0" algn="ctr">
              <a:lnSpc>
                <a:spcPct val="107899"/>
              </a:lnSpc>
            </a:pPr>
            <a:endParaRPr lang="en-US" sz="2133" b="0" i="0" u="none" strike="noStrike" spc="100" dirty="0">
              <a:solidFill>
                <a:srgbClr val="FFFFFF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85900" y="8483600"/>
            <a:ext cx="4318000" cy="736600"/>
          </a:xfrm>
          <a:prstGeom prst="rect">
            <a:avLst/>
          </a:prstGeom>
        </p:spPr>
        <p:txBody>
          <a:bodyPr lIns="0" tIns="2540" rIns="0" bIns="0" rtlCol="0" anchor="ctr"/>
          <a:lstStyle/>
          <a:p>
            <a:pPr lvl="0" algn="l">
              <a:lnSpc>
                <a:spcPct val="114538"/>
              </a:lnSpc>
            </a:pPr>
            <a:r>
              <a:rPr lang="ko-KR" altLang="en-US" sz="20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김정우 안재원</a:t>
            </a:r>
            <a:endParaRPr lang="en-US" altLang="ko-KR" sz="2000" dirty="0">
              <a:solidFill>
                <a:srgbClr val="2C2C2C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4538"/>
              </a:lnSpc>
            </a:pPr>
            <a:endParaRPr lang="en-US" sz="2000" b="0" i="0" u="none" strike="noStrike" dirty="0">
              <a:solidFill>
                <a:srgbClr val="2C2C2C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85900" y="6375400"/>
            <a:ext cx="7835900" cy="520700"/>
          </a:xfrm>
          <a:prstGeom prst="rect">
            <a:avLst/>
          </a:prstGeom>
        </p:spPr>
        <p:txBody>
          <a:bodyPr lIns="0" tIns="35560" rIns="0" bIns="35560" rtlCol="0" anchor="ctr"/>
          <a:lstStyle/>
          <a:p>
            <a:pPr lvl="0" algn="l">
              <a:lnSpc>
                <a:spcPct val="99600"/>
              </a:lnSpc>
            </a:pPr>
            <a:r>
              <a:rPr lang="en-US" sz="2799" b="0" i="0" u="none" strike="noStrike" dirty="0" err="1">
                <a:solidFill>
                  <a:srgbClr val="00074E"/>
                </a:solidFill>
                <a:latin typeface="Pretendard Medium"/>
                <a:ea typeface="Pretendard Medium"/>
                <a:cs typeface="Pretendard Medium"/>
              </a:rPr>
              <a:t>이곳에</a:t>
            </a:r>
            <a:r>
              <a:rPr lang="en-US" sz="2799" b="0" i="0" u="none" strike="noStrike" dirty="0">
                <a:solidFill>
                  <a:srgbClr val="00074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799" b="0" i="0" u="none" strike="noStrike" dirty="0" err="1">
                <a:solidFill>
                  <a:srgbClr val="00074E"/>
                </a:solidFill>
                <a:latin typeface="Pretendard Medium"/>
                <a:ea typeface="Pretendard Medium"/>
                <a:cs typeface="Pretendard Medium"/>
              </a:rPr>
              <a:t>부제목을</a:t>
            </a:r>
            <a:r>
              <a:rPr lang="en-US" sz="2799" b="0" i="0" u="none" strike="noStrike" dirty="0">
                <a:solidFill>
                  <a:srgbClr val="00074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799" b="0" i="0" u="none" strike="noStrike" dirty="0" err="1">
                <a:solidFill>
                  <a:srgbClr val="00074E"/>
                </a:solidFill>
                <a:latin typeface="Pretendard Medium"/>
                <a:ea typeface="Pretendard Medium"/>
                <a:cs typeface="Pretendard Medium"/>
              </a:rPr>
              <a:t>간단하게</a:t>
            </a:r>
            <a:r>
              <a:rPr lang="en-US" sz="2799" b="0" i="0" u="none" strike="noStrike" dirty="0">
                <a:solidFill>
                  <a:srgbClr val="00074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799" b="0" i="0" u="none" strike="noStrike" dirty="0" err="1">
                <a:solidFill>
                  <a:srgbClr val="00074E"/>
                </a:solidFill>
                <a:latin typeface="Pretendard Medium"/>
                <a:ea typeface="Pretendard Medium"/>
                <a:cs typeface="Pretendard Medium"/>
              </a:rPr>
              <a:t>입력해주세요</a:t>
            </a:r>
            <a:r>
              <a:rPr lang="en-US" sz="2799" b="0" i="0" u="none" strike="noStrike" dirty="0">
                <a:solidFill>
                  <a:srgbClr val="00074E"/>
                </a:solidFill>
                <a:latin typeface="Pretendard Medium"/>
                <a:ea typeface="Pretendard Medium"/>
                <a:cs typeface="Pretendard Medium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85900" y="3086100"/>
            <a:ext cx="13144500" cy="3162300"/>
          </a:xfrm>
          <a:prstGeom prst="rect">
            <a:avLst/>
          </a:prstGeom>
        </p:spPr>
        <p:txBody>
          <a:bodyPr lIns="0" tIns="120650" rIns="0" bIns="12065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7500" b="0" i="0" u="none" strike="noStrike" dirty="0">
                <a:solidFill>
                  <a:srgbClr val="4A5BA3"/>
                </a:solidFill>
                <a:latin typeface="Pretendard Light"/>
                <a:ea typeface="Pretendard Light"/>
                <a:cs typeface="Pretendard Light"/>
              </a:rPr>
              <a:t>구매패턴 기반 고객 페르소나 도출 후 채널 </a:t>
            </a:r>
            <a:r>
              <a:rPr lang="ko-KR" altLang="en-US" sz="7500" b="0" i="0" u="none" strike="noStrike" dirty="0" err="1">
                <a:solidFill>
                  <a:srgbClr val="4A5BA3"/>
                </a:solidFill>
                <a:latin typeface="Pretendard Light"/>
                <a:ea typeface="Pretendard Light"/>
                <a:cs typeface="Pretendard Light"/>
              </a:rPr>
              <a:t>오분류</a:t>
            </a:r>
            <a:r>
              <a:rPr lang="ko-KR" altLang="en-US" sz="7500" b="0" i="0" u="none" strike="noStrike" dirty="0">
                <a:solidFill>
                  <a:srgbClr val="4A5BA3"/>
                </a:solidFill>
                <a:latin typeface="Pretendard Light"/>
                <a:ea typeface="Pretendard Light"/>
                <a:cs typeface="Pretendard Light"/>
              </a:rPr>
              <a:t> 고객 마케팅전략</a:t>
            </a:r>
            <a:endParaRPr lang="en-US" sz="7500" b="0" i="0" u="none" strike="noStrike" dirty="0">
              <a:solidFill>
                <a:srgbClr val="00074E"/>
              </a:solidFill>
              <a:latin typeface="Pretendard SemiBold"/>
              <a:ea typeface="Pretendard SemiBold"/>
              <a:cs typeface="Pretendard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156200"/>
            <a:ext cx="18326100" cy="520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68800" cy="9169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02500" y="3048000"/>
            <a:ext cx="2501900" cy="381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8242300" y="2527300"/>
            <a:ext cx="609600" cy="406400"/>
          </a:xfrm>
          <a:prstGeom prst="rect">
            <a:avLst/>
          </a:prstGeom>
        </p:spPr>
        <p:txBody>
          <a:bodyPr lIns="0" tIns="12700" rIns="0" bIns="12700" rtlCol="0" anchor="ctr"/>
          <a:lstStyle/>
          <a:p>
            <a:pPr lvl="0" algn="ctr">
              <a:lnSpc>
                <a:spcPct val="107899"/>
              </a:lnSpc>
            </a:pPr>
            <a:r>
              <a:rPr lang="en-US" sz="1999" b="0" i="0" u="none" strike="noStrike">
                <a:solidFill>
                  <a:srgbClr val="4A5BA3"/>
                </a:solidFill>
                <a:latin typeface="Poppins Medium"/>
                <a:ea typeface="Poppins Medium"/>
                <a:cs typeface="Poppins Medium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251700" y="3251200"/>
            <a:ext cx="2590800" cy="812800"/>
          </a:xfrm>
          <a:prstGeom prst="rect">
            <a:avLst/>
          </a:prstGeom>
        </p:spPr>
        <p:txBody>
          <a:bodyPr lIns="0" tIns="14605" rIns="0" bIns="14605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2299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프로젝트 개요 및 배경</a:t>
            </a:r>
            <a:endParaRPr lang="en-US" sz="2299" b="0" i="0" u="none" strike="noStrike" dirty="0">
              <a:solidFill>
                <a:srgbClr val="00074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200900" y="4241800"/>
            <a:ext cx="2705100" cy="774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9400"/>
              </a:lnSpc>
            </a:pPr>
            <a:r>
              <a:rPr lang="en-US" sz="184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 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02500" y="6273800"/>
            <a:ext cx="2501900" cy="381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8242300" y="5753100"/>
            <a:ext cx="609600" cy="406400"/>
          </a:xfrm>
          <a:prstGeom prst="rect">
            <a:avLst/>
          </a:prstGeom>
        </p:spPr>
        <p:txBody>
          <a:bodyPr lIns="0" tIns="12700" rIns="0" bIns="12700" rtlCol="0" anchor="ctr"/>
          <a:lstStyle/>
          <a:p>
            <a:pPr lvl="0" algn="ctr">
              <a:lnSpc>
                <a:spcPct val="107899"/>
              </a:lnSpc>
            </a:pPr>
            <a:r>
              <a:rPr lang="en-US" sz="1999" b="0" i="0" u="none" strike="noStrike">
                <a:solidFill>
                  <a:srgbClr val="4A5BA3"/>
                </a:solidFill>
                <a:latin typeface="Poppins Medium"/>
                <a:ea typeface="Poppins Medium"/>
                <a:cs typeface="Poppins Medium"/>
              </a:rPr>
              <a:t>04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226300" y="6464300"/>
            <a:ext cx="2654300" cy="812800"/>
          </a:xfrm>
          <a:prstGeom prst="rect">
            <a:avLst/>
          </a:prstGeom>
        </p:spPr>
        <p:txBody>
          <a:bodyPr lIns="0" tIns="14605" rIns="0" bIns="14605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2299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페르소나분석</a:t>
            </a:r>
            <a:endParaRPr lang="en-US" sz="2299" b="0" i="0" u="none" strike="noStrike" dirty="0">
              <a:solidFill>
                <a:srgbClr val="00074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226300" y="7658100"/>
            <a:ext cx="2705100" cy="774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9400"/>
              </a:lnSpc>
            </a:pPr>
            <a:r>
              <a:rPr lang="en-US" sz="184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1. </a:t>
            </a:r>
            <a:r>
              <a:rPr lang="ko-KR" altLang="en-US" sz="184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로그변환</a:t>
            </a:r>
            <a:r>
              <a:rPr lang="en-US" altLang="ko-KR" sz="1849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&amp; </a:t>
            </a:r>
            <a:r>
              <a:rPr lang="ko-KR" altLang="en-US" sz="1849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스케일링</a:t>
            </a:r>
            <a:br>
              <a:rPr lang="en-US" altLang="ko-KR" sz="1849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altLang="ko-KR" sz="1849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2. PCA(</a:t>
            </a:r>
            <a:r>
              <a:rPr lang="ko-KR" altLang="en-US" sz="1849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차원축소</a:t>
            </a:r>
            <a:r>
              <a:rPr lang="en-US" altLang="ko-KR" sz="1849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)</a:t>
            </a:r>
            <a:br>
              <a:rPr lang="en-US" altLang="ko-KR" sz="1849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altLang="ko-KR" sz="1849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3. </a:t>
            </a:r>
            <a:r>
              <a:rPr lang="en-US" altLang="ko-KR" sz="1849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KMeans</a:t>
            </a:r>
            <a:r>
              <a:rPr lang="en-US" altLang="ko-KR" sz="1849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849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군집분석</a:t>
            </a:r>
            <a:endParaRPr lang="en-US" altLang="ko-KR" sz="1849" dirty="0">
              <a:solidFill>
                <a:srgbClr val="2C2C2C"/>
              </a:solidFill>
              <a:latin typeface="Pretendard Light"/>
              <a:ea typeface="Pretendard Light"/>
              <a:cs typeface="Pretendard Light"/>
            </a:endParaRPr>
          </a:p>
          <a:p>
            <a:pPr lvl="0" algn="ctr">
              <a:lnSpc>
                <a:spcPct val="149400"/>
              </a:lnSpc>
            </a:pPr>
            <a:r>
              <a:rPr lang="en-US" sz="184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4. </a:t>
            </a:r>
            <a:r>
              <a:rPr lang="ko-KR" altLang="en-US" sz="184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페르소나 분석</a:t>
            </a:r>
            <a:endParaRPr lang="en-US" sz="1849" b="0" i="0" u="none" strike="noStrike" dirty="0">
              <a:solidFill>
                <a:srgbClr val="2C2C2C"/>
              </a:solidFill>
              <a:latin typeface="Pretendard Light"/>
              <a:ea typeface="Pretendard Light"/>
              <a:cs typeface="Pretendard Light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5600" y="3048000"/>
            <a:ext cx="2501900" cy="381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1455400" y="2527300"/>
            <a:ext cx="609600" cy="406400"/>
          </a:xfrm>
          <a:prstGeom prst="rect">
            <a:avLst/>
          </a:prstGeom>
        </p:spPr>
        <p:txBody>
          <a:bodyPr lIns="0" tIns="12700" rIns="0" bIns="12700" rtlCol="0" anchor="ctr"/>
          <a:lstStyle/>
          <a:p>
            <a:pPr lvl="0" algn="ctr">
              <a:lnSpc>
                <a:spcPct val="107899"/>
              </a:lnSpc>
            </a:pPr>
            <a:r>
              <a:rPr lang="en-US" sz="1999" b="0" i="0" u="none" strike="noStrike">
                <a:solidFill>
                  <a:srgbClr val="4A5BA3"/>
                </a:solidFill>
                <a:latin typeface="Poppins Medium"/>
                <a:ea typeface="Poppins Medium"/>
                <a:cs typeface="Poppins Medium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642600" y="3251200"/>
            <a:ext cx="2247900" cy="812800"/>
          </a:xfrm>
          <a:prstGeom prst="rect">
            <a:avLst/>
          </a:prstGeom>
        </p:spPr>
        <p:txBody>
          <a:bodyPr lIns="0" tIns="14605" rIns="0" bIns="14605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2299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데이터 품질점검</a:t>
            </a:r>
            <a:endParaRPr lang="en-US" sz="2299" b="0" i="0" u="none" strike="noStrike" dirty="0">
              <a:solidFill>
                <a:srgbClr val="00074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414000" y="4241800"/>
            <a:ext cx="2705100" cy="774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9400"/>
              </a:lnSpc>
            </a:pPr>
            <a:r>
              <a:rPr lang="en-US" altLang="ko-KR" sz="1849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1. </a:t>
            </a:r>
            <a:r>
              <a:rPr lang="ko-KR" altLang="en-US" sz="1849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품질점검</a:t>
            </a:r>
            <a:endParaRPr lang="en-US" altLang="ko-KR" sz="1849" dirty="0">
              <a:solidFill>
                <a:srgbClr val="2C2C2C"/>
              </a:solidFill>
              <a:latin typeface="Pretendard Light"/>
              <a:ea typeface="Pretendard Light"/>
              <a:cs typeface="Pretendard Light"/>
            </a:endParaRPr>
          </a:p>
          <a:p>
            <a:pPr lvl="0" algn="ctr">
              <a:lnSpc>
                <a:spcPct val="149400"/>
              </a:lnSpc>
            </a:pPr>
            <a:r>
              <a:rPr lang="en-US" altLang="ko-KR" sz="1849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2. </a:t>
            </a:r>
            <a:r>
              <a:rPr lang="ko-KR" altLang="en-US" sz="1849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기술 통계량</a:t>
            </a:r>
            <a:endParaRPr lang="en-US" sz="1849" b="0" i="0" u="none" strike="noStrike" dirty="0">
              <a:solidFill>
                <a:srgbClr val="2C2C2C"/>
              </a:solidFill>
              <a:latin typeface="Pretendard Light"/>
              <a:ea typeface="Pretendard Light"/>
              <a:cs typeface="Pretendard Light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5600" y="6273800"/>
            <a:ext cx="2501900" cy="381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1455400" y="5753100"/>
            <a:ext cx="609600" cy="406400"/>
          </a:xfrm>
          <a:prstGeom prst="rect">
            <a:avLst/>
          </a:prstGeom>
        </p:spPr>
        <p:txBody>
          <a:bodyPr lIns="0" tIns="12700" rIns="0" bIns="12700" rtlCol="0" anchor="ctr"/>
          <a:lstStyle/>
          <a:p>
            <a:pPr lvl="0" algn="ctr">
              <a:lnSpc>
                <a:spcPct val="107899"/>
              </a:lnSpc>
            </a:pPr>
            <a:r>
              <a:rPr lang="en-US" sz="1999" b="0" i="0" u="none" strike="noStrike">
                <a:solidFill>
                  <a:srgbClr val="4A5BA3"/>
                </a:solidFill>
                <a:latin typeface="Poppins Medium"/>
                <a:ea typeface="Poppins Medium"/>
                <a:cs typeface="Poppins Medium"/>
              </a:rPr>
              <a:t>05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42600" y="6464300"/>
            <a:ext cx="2247900" cy="812800"/>
          </a:xfrm>
          <a:prstGeom prst="rect">
            <a:avLst/>
          </a:prstGeom>
        </p:spPr>
        <p:txBody>
          <a:bodyPr lIns="0" tIns="14605" rIns="0" bIns="14605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2299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채널 분류 모델 </a:t>
            </a:r>
            <a:r>
              <a:rPr lang="en-US" altLang="ko-KR" sz="2299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&amp;</a:t>
            </a:r>
            <a:r>
              <a:rPr lang="ko-KR" altLang="en-US" sz="2299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2299" b="0" i="0" u="none" strike="noStrike" dirty="0" err="1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오분류</a:t>
            </a:r>
            <a:r>
              <a:rPr lang="ko-KR" altLang="en-US" sz="2299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 고객 도출</a:t>
            </a:r>
            <a:endParaRPr lang="en-US" sz="2299" b="0" i="0" u="none" strike="noStrike" dirty="0">
              <a:solidFill>
                <a:srgbClr val="00074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414000" y="7467600"/>
            <a:ext cx="2705100" cy="774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9400"/>
              </a:lnSpc>
            </a:pPr>
            <a:r>
              <a:rPr lang="en-US" sz="184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1. </a:t>
            </a:r>
            <a:r>
              <a:rPr lang="ko-KR" altLang="en-US" sz="1849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채널 분류 모델링</a:t>
            </a:r>
            <a:br>
              <a:rPr lang="en-US" altLang="ko-KR" sz="1849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altLang="ko-KR" sz="1849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2. </a:t>
            </a:r>
            <a:r>
              <a:rPr lang="ko-KR" altLang="en-US" sz="1849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채널 </a:t>
            </a:r>
            <a:r>
              <a:rPr lang="ko-KR" altLang="en-US" sz="1849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오분류</a:t>
            </a:r>
            <a:r>
              <a:rPr lang="ko-KR" altLang="en-US" sz="1849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고객 도출</a:t>
            </a:r>
            <a:endParaRPr lang="en-US" sz="1849" b="0" i="0" u="none" strike="noStrike" dirty="0">
              <a:solidFill>
                <a:srgbClr val="2C2C2C"/>
              </a:solidFill>
              <a:latin typeface="Pretendard Light"/>
              <a:ea typeface="Pretendard Light"/>
              <a:cs typeface="Pretendard Light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728700" y="3048000"/>
            <a:ext cx="2501900" cy="381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4668500" y="2527300"/>
            <a:ext cx="609600" cy="406400"/>
          </a:xfrm>
          <a:prstGeom prst="rect">
            <a:avLst/>
          </a:prstGeom>
        </p:spPr>
        <p:txBody>
          <a:bodyPr lIns="0" tIns="12700" rIns="0" bIns="12700" rtlCol="0" anchor="ctr"/>
          <a:lstStyle/>
          <a:p>
            <a:pPr lvl="0" algn="ctr">
              <a:lnSpc>
                <a:spcPct val="107899"/>
              </a:lnSpc>
            </a:pPr>
            <a:r>
              <a:rPr lang="en-US" sz="1999" b="0" i="0" u="none" strike="noStrike">
                <a:solidFill>
                  <a:srgbClr val="4A5BA3"/>
                </a:solidFill>
                <a:latin typeface="Poppins Medium"/>
                <a:ea typeface="Poppins Medium"/>
                <a:cs typeface="Poppins Medium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855700" y="3251200"/>
            <a:ext cx="2247900" cy="812800"/>
          </a:xfrm>
          <a:prstGeom prst="rect">
            <a:avLst/>
          </a:prstGeom>
        </p:spPr>
        <p:txBody>
          <a:bodyPr lIns="0" tIns="14605" rIns="0" bIns="14605" rtlCol="0" anchor="ctr"/>
          <a:lstStyle/>
          <a:p>
            <a:pPr lvl="0" algn="ctr">
              <a:lnSpc>
                <a:spcPct val="107899"/>
              </a:lnSpc>
            </a:pPr>
            <a:r>
              <a:rPr lang="en-US" sz="2299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EDA</a:t>
            </a:r>
            <a:endParaRPr lang="en-US" sz="2299" b="0" i="0" u="none" strike="noStrike" dirty="0">
              <a:solidFill>
                <a:srgbClr val="00074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3627100" y="4241800"/>
            <a:ext cx="2705100" cy="774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9400"/>
              </a:lnSpc>
            </a:pPr>
            <a:r>
              <a:rPr lang="en-US" sz="184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1. </a:t>
            </a:r>
            <a:r>
              <a:rPr lang="ko-KR" altLang="en-US" sz="184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단변량</a:t>
            </a:r>
            <a:br>
              <a:rPr lang="en-US" altLang="ko-KR" sz="184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altLang="ko-KR" sz="184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2. </a:t>
            </a:r>
            <a:r>
              <a:rPr lang="ko-KR" altLang="en-US" sz="184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이변량</a:t>
            </a:r>
            <a:br>
              <a:rPr lang="en-US" altLang="ko-KR" sz="184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altLang="ko-KR" sz="184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3. </a:t>
            </a:r>
            <a:r>
              <a:rPr lang="ko-KR" altLang="en-US" sz="184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다변량</a:t>
            </a:r>
            <a:endParaRPr lang="en-US" sz="1849" b="0" i="0" u="none" strike="noStrike" dirty="0">
              <a:solidFill>
                <a:srgbClr val="2C2C2C"/>
              </a:solidFill>
              <a:latin typeface="Pretendard Light"/>
              <a:ea typeface="Pretendard Light"/>
              <a:cs typeface="Pretendard Light"/>
            </a:endParaR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728700" y="6273800"/>
            <a:ext cx="2501900" cy="381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4668500" y="5753100"/>
            <a:ext cx="609600" cy="406400"/>
          </a:xfrm>
          <a:prstGeom prst="rect">
            <a:avLst/>
          </a:prstGeom>
        </p:spPr>
        <p:txBody>
          <a:bodyPr lIns="0" tIns="12700" rIns="0" bIns="12700" rtlCol="0" anchor="ctr"/>
          <a:lstStyle/>
          <a:p>
            <a:pPr lvl="0" algn="ctr">
              <a:lnSpc>
                <a:spcPct val="107899"/>
              </a:lnSpc>
            </a:pPr>
            <a:r>
              <a:rPr lang="en-US" sz="1999" b="0" i="0" u="none" strike="noStrike">
                <a:solidFill>
                  <a:srgbClr val="4A5BA3"/>
                </a:solidFill>
                <a:latin typeface="Poppins Medium"/>
                <a:ea typeface="Poppins Medium"/>
                <a:cs typeface="Poppins Medium"/>
              </a:rPr>
              <a:t>06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855700" y="6464300"/>
            <a:ext cx="2247900" cy="812800"/>
          </a:xfrm>
          <a:prstGeom prst="rect">
            <a:avLst/>
          </a:prstGeom>
        </p:spPr>
        <p:txBody>
          <a:bodyPr lIns="0" tIns="14605" rIns="0" bIns="14605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2299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결론 및 한계점</a:t>
            </a:r>
            <a:endParaRPr lang="en-US" sz="2299" b="0" i="0" u="none" strike="noStrike" dirty="0">
              <a:solidFill>
                <a:srgbClr val="00074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3627100" y="7454900"/>
            <a:ext cx="2921000" cy="774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9400"/>
              </a:lnSpc>
            </a:pPr>
            <a:r>
              <a:rPr lang="en-US" sz="184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1. </a:t>
            </a:r>
            <a:r>
              <a:rPr lang="ko-KR" altLang="en-US" sz="184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채널 </a:t>
            </a:r>
            <a:r>
              <a:rPr lang="ko-KR" altLang="en-US" sz="184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오분류</a:t>
            </a:r>
            <a:r>
              <a:rPr lang="ko-KR" altLang="en-US" sz="184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고객 마케팅 전략</a:t>
            </a:r>
            <a:br>
              <a:rPr lang="en-US" altLang="ko-KR" sz="184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altLang="ko-KR" sz="184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2. </a:t>
            </a:r>
            <a:r>
              <a:rPr lang="ko-KR" altLang="en-US" sz="184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한계점</a:t>
            </a:r>
            <a:endParaRPr lang="en-US" sz="1849" b="0" i="0" u="none" strike="noStrike" dirty="0">
              <a:solidFill>
                <a:srgbClr val="2C2C2C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409700" y="4597400"/>
            <a:ext cx="4826000" cy="1130300"/>
          </a:xfrm>
          <a:prstGeom prst="rect">
            <a:avLst/>
          </a:prstGeom>
        </p:spPr>
        <p:txBody>
          <a:bodyPr lIns="0" tIns="78740" rIns="0" bIns="7874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목차</a:t>
            </a:r>
            <a:endParaRPr lang="en-US" sz="6200" b="0" i="0" u="none" strike="noStrike" dirty="0">
              <a:solidFill>
                <a:srgbClr val="00074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b="0" i="0" u="none" strike="noStrike" cap="all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01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5100" y="1054100"/>
            <a:ext cx="6781800" cy="81788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309616" y="3162300"/>
            <a:ext cx="7226300" cy="401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just">
              <a:lnSpc>
                <a:spcPct val="132800"/>
              </a:lnSpc>
            </a:pPr>
            <a:r>
              <a:rPr lang="en-US" sz="1899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BLANK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95600" y="635000"/>
            <a:ext cx="75946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499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프로젝트 개요 및 배경</a:t>
            </a:r>
            <a:endParaRPr lang="en-US" sz="5499" b="0" i="0" u="none" strike="noStrike" dirty="0">
              <a:solidFill>
                <a:srgbClr val="00074E"/>
              </a:solidFill>
              <a:latin typeface="Pretendard SemiBold"/>
              <a:ea typeface="Pretendard SemiBold"/>
              <a:cs typeface="Pretendard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806B63-7661-C25F-F424-C1B97C243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0FE1ABA-834A-490A-A41A-E8AD13921B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54031A8-1628-5631-30EC-9B56926288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20" name="Picture 20">
            <a:extLst>
              <a:ext uri="{FF2B5EF4-FFF2-40B4-BE49-F238E27FC236}">
                <a16:creationId xmlns:a16="http://schemas.microsoft.com/office/drawing/2014/main" id="{1E6D7F73-FE18-9B56-211C-9B65735436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DD67A2F6-D838-FDCA-05FE-B172C0788A76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cap="all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02</a:t>
            </a:r>
            <a:endParaRPr lang="en-US" sz="3600" b="0" i="0" u="none" strike="noStrike" cap="all" dirty="0">
              <a:solidFill>
                <a:srgbClr val="FFFFFF"/>
              </a:solidFill>
              <a:latin typeface="Pretendard Medium"/>
              <a:ea typeface="Pretendard Medium"/>
              <a:cs typeface="Pretendard Medium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46DE303-A9EE-69FB-55F0-EDE555C653CB}"/>
              </a:ext>
            </a:extLst>
          </p:cNvPr>
          <p:cNvGrpSpPr/>
          <p:nvPr/>
        </p:nvGrpSpPr>
        <p:grpSpPr>
          <a:xfrm>
            <a:off x="1503944" y="4450659"/>
            <a:ext cx="3608812" cy="4941683"/>
            <a:chOff x="1503944" y="4444309"/>
            <a:chExt cx="3608812" cy="4941683"/>
          </a:xfrm>
        </p:grpSpPr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0ABF0446-D622-D868-F040-DFB3ECAD01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03944" y="4444309"/>
              <a:ext cx="3608812" cy="4941683"/>
            </a:xfrm>
            <a:prstGeom prst="rect">
              <a:avLst/>
            </a:prstGeom>
          </p:spPr>
        </p:pic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B024E98-541E-778C-7504-EB0CD900BF95}"/>
                </a:ext>
              </a:extLst>
            </p:cNvPr>
            <p:cNvSpPr txBox="1"/>
            <p:nvPr/>
          </p:nvSpPr>
          <p:spPr>
            <a:xfrm>
              <a:off x="1830875" y="5537200"/>
              <a:ext cx="2954950" cy="406400"/>
            </a:xfrm>
            <a:prstGeom prst="rect">
              <a:avLst/>
            </a:prstGeom>
          </p:spPr>
          <p:txBody>
            <a:bodyPr lIns="0" tIns="26670" rIns="0" bIns="2667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100" b="0" i="0" u="none" strike="noStrike" dirty="0">
                  <a:solidFill>
                    <a:srgbClr val="00074E"/>
                  </a:solidFill>
                  <a:latin typeface="Pretendard SemiBold"/>
                  <a:ea typeface="Pretendard SemiBold"/>
                  <a:cs typeface="Pretendard SemiBold"/>
                </a:rPr>
                <a:t>데이터 소개</a:t>
              </a:r>
              <a:endParaRPr lang="en-US" sz="2100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38401641-C9B3-7DB7-43D5-2A0B839067E3}"/>
                </a:ext>
              </a:extLst>
            </p:cNvPr>
            <p:cNvSpPr txBox="1"/>
            <p:nvPr/>
          </p:nvSpPr>
          <p:spPr>
            <a:xfrm>
              <a:off x="1730281" y="6172200"/>
              <a:ext cx="3156139" cy="1028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24499"/>
                </a:lnSpc>
              </a:pP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 </a:t>
              </a:r>
              <a:r>
                <a:rPr lang="ko-KR" alt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ㅇㅇㅇ</a:t>
              </a:r>
              <a:endParaRPr lang="en-US" sz="1800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endParaRPr>
            </a:p>
          </p:txBody>
        </p:sp>
        <p:pic>
          <p:nvPicPr>
            <p:cNvPr id="22" name="Picture 22">
              <a:extLst>
                <a:ext uri="{FF2B5EF4-FFF2-40B4-BE49-F238E27FC236}">
                  <a16:creationId xmlns:a16="http://schemas.microsoft.com/office/drawing/2014/main" id="{C9FC0F7C-FE95-8874-68FF-EE1A27BE24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660776" y="4815312"/>
              <a:ext cx="1295149" cy="402376"/>
            </a:xfrm>
            <a:prstGeom prst="rect">
              <a:avLst/>
            </a:prstGeom>
          </p:spPr>
        </p:pic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13EF15A8-E8E4-7AD6-DA76-9C0CBE5CA991}"/>
                </a:ext>
              </a:extLst>
            </p:cNvPr>
            <p:cNvSpPr txBox="1"/>
            <p:nvPr/>
          </p:nvSpPr>
          <p:spPr>
            <a:xfrm>
              <a:off x="2781300" y="4864100"/>
              <a:ext cx="1066800" cy="304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-US" sz="1599" b="0" i="0" u="none" strike="noStrike">
                  <a:solidFill>
                    <a:srgbClr val="4A5BA3"/>
                  </a:solidFill>
                  <a:latin typeface="Pretendard SemiBold"/>
                  <a:ea typeface="Pretendard SemiBold"/>
                  <a:cs typeface="Pretendard SemiBold"/>
                </a:rPr>
                <a:t>STEP 1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FE5667B7-C1E3-7531-2D3B-7741DB785077}"/>
              </a:ext>
            </a:extLst>
          </p:cNvPr>
          <p:cNvGrpSpPr/>
          <p:nvPr/>
        </p:nvGrpSpPr>
        <p:grpSpPr>
          <a:xfrm>
            <a:off x="7305172" y="4450659"/>
            <a:ext cx="3608812" cy="4941683"/>
            <a:chOff x="5390144" y="4457009"/>
            <a:chExt cx="3608812" cy="4941683"/>
          </a:xfrm>
        </p:grpSpPr>
        <p:pic>
          <p:nvPicPr>
            <p:cNvPr id="5" name="Picture 5">
              <a:extLst>
                <a:ext uri="{FF2B5EF4-FFF2-40B4-BE49-F238E27FC236}">
                  <a16:creationId xmlns:a16="http://schemas.microsoft.com/office/drawing/2014/main" id="{31442FFF-8DBE-9BA9-2B01-7931164905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390144" y="4457009"/>
              <a:ext cx="3608812" cy="4941683"/>
            </a:xfrm>
            <a:prstGeom prst="rect">
              <a:avLst/>
            </a:prstGeom>
          </p:spPr>
        </p:pic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EA92FC8A-FF71-2F6A-5167-8EB9A9F725ED}"/>
                </a:ext>
              </a:extLst>
            </p:cNvPr>
            <p:cNvSpPr txBox="1"/>
            <p:nvPr/>
          </p:nvSpPr>
          <p:spPr>
            <a:xfrm>
              <a:off x="5616481" y="6172200"/>
              <a:ext cx="3156139" cy="1028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24499"/>
                </a:lnSpc>
              </a:pPr>
              <a:r>
                <a:rPr lang="ko-KR" alt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ㅇㅇㅇ</a:t>
              </a:r>
              <a:endParaRPr lang="en-US" sz="1800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endParaRP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59515213-636B-4FA6-5545-A1ADB7041CC5}"/>
                </a:ext>
              </a:extLst>
            </p:cNvPr>
            <p:cNvSpPr txBox="1"/>
            <p:nvPr/>
          </p:nvSpPr>
          <p:spPr>
            <a:xfrm>
              <a:off x="5704501" y="5537200"/>
              <a:ext cx="2980099" cy="406400"/>
            </a:xfrm>
            <a:prstGeom prst="rect">
              <a:avLst/>
            </a:prstGeom>
          </p:spPr>
          <p:txBody>
            <a:bodyPr lIns="0" tIns="26670" rIns="0" bIns="2667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100" dirty="0">
                  <a:solidFill>
                    <a:srgbClr val="00074E"/>
                  </a:solidFill>
                  <a:latin typeface="Pretendard SemiBold"/>
                  <a:ea typeface="Pretendard SemiBold"/>
                  <a:cs typeface="Pretendard SemiBold"/>
                </a:rPr>
                <a:t>품질점검</a:t>
              </a:r>
              <a:endParaRPr lang="en-US" sz="2100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pic>
          <p:nvPicPr>
            <p:cNvPr id="24" name="Picture 24">
              <a:extLst>
                <a:ext uri="{FF2B5EF4-FFF2-40B4-BE49-F238E27FC236}">
                  <a16:creationId xmlns:a16="http://schemas.microsoft.com/office/drawing/2014/main" id="{AB9D817A-3627-DD90-09D4-4126B69E3CC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553200" y="4813300"/>
              <a:ext cx="1308100" cy="406400"/>
            </a:xfrm>
            <a:prstGeom prst="rect">
              <a:avLst/>
            </a:prstGeom>
          </p:spPr>
        </p:pic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F940564F-C856-6754-9CB0-A4FD01E44B1D}"/>
                </a:ext>
              </a:extLst>
            </p:cNvPr>
            <p:cNvSpPr txBox="1"/>
            <p:nvPr/>
          </p:nvSpPr>
          <p:spPr>
            <a:xfrm>
              <a:off x="6635059" y="4864100"/>
              <a:ext cx="1131683" cy="304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-US" sz="1599" b="0" i="0" u="none" strike="noStrike">
                  <a:solidFill>
                    <a:srgbClr val="4A5BA3"/>
                  </a:solidFill>
                  <a:latin typeface="Pretendard SemiBold"/>
                  <a:ea typeface="Pretendard SemiBold"/>
                  <a:cs typeface="Pretendard SemiBold"/>
                </a:rPr>
                <a:t>STEP 2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77D8AFEA-C32E-9216-9FBE-D5B6DF6857D7}"/>
              </a:ext>
            </a:extLst>
          </p:cNvPr>
          <p:cNvGrpSpPr/>
          <p:nvPr/>
        </p:nvGrpSpPr>
        <p:grpSpPr>
          <a:xfrm>
            <a:off x="13106400" y="4450659"/>
            <a:ext cx="3608812" cy="4941683"/>
            <a:chOff x="9276344" y="4457009"/>
            <a:chExt cx="3608812" cy="4941683"/>
          </a:xfrm>
        </p:grpSpPr>
        <p:pic>
          <p:nvPicPr>
            <p:cNvPr id="6" name="Picture 6">
              <a:extLst>
                <a:ext uri="{FF2B5EF4-FFF2-40B4-BE49-F238E27FC236}">
                  <a16:creationId xmlns:a16="http://schemas.microsoft.com/office/drawing/2014/main" id="{4398162E-5276-2058-3C41-BA403F4595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76344" y="4457009"/>
              <a:ext cx="3608812" cy="4941683"/>
            </a:xfrm>
            <a:prstGeom prst="rect">
              <a:avLst/>
            </a:prstGeom>
          </p:spPr>
        </p:pic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856FF0B6-EE9A-F1F4-735C-D79B8C9D2CBB}"/>
                </a:ext>
              </a:extLst>
            </p:cNvPr>
            <p:cNvSpPr txBox="1"/>
            <p:nvPr/>
          </p:nvSpPr>
          <p:spPr>
            <a:xfrm>
              <a:off x="9502681" y="6172200"/>
              <a:ext cx="3156139" cy="1028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24499"/>
                </a:lnSpc>
              </a:pP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 </a:t>
              </a:r>
              <a:r>
                <a:rPr lang="ko-KR" altLang="en-US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ㅇㅇㅇ</a:t>
              </a:r>
              <a:endParaRPr lang="en-US" sz="1800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endParaRPr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6D2EC6E-ED04-49A0-06CB-E58AFC10D12A}"/>
                </a:ext>
              </a:extLst>
            </p:cNvPr>
            <p:cNvSpPr txBox="1"/>
            <p:nvPr/>
          </p:nvSpPr>
          <p:spPr>
            <a:xfrm>
              <a:off x="9603401" y="5537200"/>
              <a:ext cx="2980099" cy="406400"/>
            </a:xfrm>
            <a:prstGeom prst="rect">
              <a:avLst/>
            </a:prstGeom>
          </p:spPr>
          <p:txBody>
            <a:bodyPr lIns="0" tIns="26670" rIns="0" bIns="2667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100" b="0" i="0" u="none" strike="noStrike" dirty="0" err="1">
                  <a:solidFill>
                    <a:srgbClr val="00074E"/>
                  </a:solidFill>
                  <a:latin typeface="Pretendard SemiBold"/>
                  <a:ea typeface="Pretendard SemiBold"/>
                  <a:cs typeface="Pretendard SemiBold"/>
                </a:rPr>
                <a:t>기술통계량</a:t>
              </a:r>
              <a:endParaRPr lang="en-US" sz="2100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pic>
          <p:nvPicPr>
            <p:cNvPr id="26" name="Picture 26">
              <a:extLst>
                <a:ext uri="{FF2B5EF4-FFF2-40B4-BE49-F238E27FC236}">
                  <a16:creationId xmlns:a16="http://schemas.microsoft.com/office/drawing/2014/main" id="{D5C11926-3C3C-24A2-63B8-B67836E721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45876" y="4815312"/>
              <a:ext cx="1295149" cy="402376"/>
            </a:xfrm>
            <a:prstGeom prst="rect">
              <a:avLst/>
            </a:prstGeom>
          </p:spPr>
        </p:pic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AD62F2E-CCA0-78CE-4A4F-AE14A19A539F}"/>
                </a:ext>
              </a:extLst>
            </p:cNvPr>
            <p:cNvSpPr txBox="1"/>
            <p:nvPr/>
          </p:nvSpPr>
          <p:spPr>
            <a:xfrm>
              <a:off x="10477500" y="4864100"/>
              <a:ext cx="1219200" cy="304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-US" sz="1599" b="0" i="0" u="none" strike="noStrike">
                  <a:solidFill>
                    <a:srgbClr val="4A5BA3"/>
                  </a:solidFill>
                  <a:latin typeface="Pretendard SemiBold"/>
                  <a:ea typeface="Pretendard SemiBold"/>
                  <a:cs typeface="Pretendard SemiBold"/>
                </a:rPr>
                <a:t>STEP 3</a:t>
              </a:r>
            </a:p>
          </p:txBody>
        </p:sp>
      </p:grpSp>
      <p:sp>
        <p:nvSpPr>
          <p:cNvPr id="30" name="TextBox 30">
            <a:extLst>
              <a:ext uri="{FF2B5EF4-FFF2-40B4-BE49-F238E27FC236}">
                <a16:creationId xmlns:a16="http://schemas.microsoft.com/office/drawing/2014/main" id="{F426A0F6-2BC7-36A1-A286-E22E2F10304E}"/>
              </a:ext>
            </a:extLst>
          </p:cNvPr>
          <p:cNvSpPr txBox="1"/>
          <p:nvPr/>
        </p:nvSpPr>
        <p:spPr>
          <a:xfrm>
            <a:off x="3022600" y="3060700"/>
            <a:ext cx="12230100" cy="723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프로젝트의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전체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흐름을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한눈에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파악할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수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있도록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구성된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페이지입니다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. </a:t>
            </a:r>
          </a:p>
          <a:p>
            <a:pPr lvl="0" algn="ctr">
              <a:lnSpc>
                <a:spcPct val="124499"/>
              </a:lnSpc>
            </a:pP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복잡한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업무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절차를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단계별로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단순화하여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보여주고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, 각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과정에서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수행해야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할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핵심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과업을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명확히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제시해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보세요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.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263DB89-CBB0-D512-D9F2-C0F28E85CEC3}"/>
              </a:ext>
            </a:extLst>
          </p:cNvPr>
          <p:cNvSpPr txBox="1"/>
          <p:nvPr/>
        </p:nvSpPr>
        <p:spPr>
          <a:xfrm>
            <a:off x="5346700" y="1739900"/>
            <a:ext cx="75946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499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데이터수집 및 품질점검</a:t>
            </a:r>
            <a:endParaRPr lang="en-US" sz="5499" b="0" i="0" u="none" strike="noStrike" dirty="0">
              <a:solidFill>
                <a:srgbClr val="00074E"/>
              </a:solidFill>
              <a:latin typeface="Pretendard SemiBold"/>
              <a:ea typeface="Pretendard SemiBold"/>
              <a:cs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610157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02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94F7D84-CCCD-FD0F-9516-40928E6D30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432300"/>
            <a:ext cx="17056100" cy="5295900"/>
          </a:xfrm>
          <a:prstGeom prst="rect">
            <a:avLst/>
          </a:prstGeom>
        </p:spPr>
      </p:pic>
      <p:grpSp>
        <p:nvGrpSpPr>
          <p:cNvPr id="43" name="그룹 42">
            <a:extLst>
              <a:ext uri="{FF2B5EF4-FFF2-40B4-BE49-F238E27FC236}">
                <a16:creationId xmlns:a16="http://schemas.microsoft.com/office/drawing/2014/main" id="{91202DC2-F281-0355-D408-08597DE95A23}"/>
              </a:ext>
            </a:extLst>
          </p:cNvPr>
          <p:cNvGrpSpPr/>
          <p:nvPr/>
        </p:nvGrpSpPr>
        <p:grpSpPr>
          <a:xfrm>
            <a:off x="2711450" y="1655455"/>
            <a:ext cx="3098800" cy="2732395"/>
            <a:chOff x="1117600" y="5092700"/>
            <a:chExt cx="3098800" cy="4000500"/>
          </a:xfrm>
        </p:grpSpPr>
        <p:pic>
          <p:nvPicPr>
            <p:cNvPr id="7" name="Picture 7">
              <a:extLst>
                <a:ext uri="{FF2B5EF4-FFF2-40B4-BE49-F238E27FC236}">
                  <a16:creationId xmlns:a16="http://schemas.microsoft.com/office/drawing/2014/main" id="{4F295147-D058-7998-31DF-D455B5D624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17600" y="5092700"/>
              <a:ext cx="3098800" cy="4000500"/>
            </a:xfrm>
            <a:prstGeom prst="rect">
              <a:avLst/>
            </a:prstGeom>
          </p:spPr>
        </p:pic>
        <p:pic>
          <p:nvPicPr>
            <p:cNvPr id="8" name="Picture 8">
              <a:extLst>
                <a:ext uri="{FF2B5EF4-FFF2-40B4-BE49-F238E27FC236}">
                  <a16:creationId xmlns:a16="http://schemas.microsoft.com/office/drawing/2014/main" id="{EEDC6C76-0137-28D2-EEF1-38FC9E0215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803400" y="5410200"/>
              <a:ext cx="1739900" cy="482600"/>
            </a:xfrm>
            <a:prstGeom prst="rect">
              <a:avLst/>
            </a:prstGeom>
          </p:spPr>
        </p:pic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98BA3303-DCF7-F483-0A15-C4B7ED08D7CD}"/>
                </a:ext>
              </a:extLst>
            </p:cNvPr>
            <p:cNvSpPr txBox="1"/>
            <p:nvPr/>
          </p:nvSpPr>
          <p:spPr>
            <a:xfrm>
              <a:off x="2057400" y="5499100"/>
              <a:ext cx="1231900" cy="330200"/>
            </a:xfrm>
            <a:prstGeom prst="rect">
              <a:avLst/>
            </a:prstGeom>
          </p:spPr>
          <p:txBody>
            <a:bodyPr lIns="0" tIns="22225" rIns="0" bIns="22225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1749" b="0" i="0" u="none" strike="noStrike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데이터 크기</a:t>
              </a:r>
              <a:endParaRPr lang="en-US" sz="1749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pic>
          <p:nvPicPr>
            <p:cNvPr id="27" name="Picture 27">
              <a:extLst>
                <a:ext uri="{FF2B5EF4-FFF2-40B4-BE49-F238E27FC236}">
                  <a16:creationId xmlns:a16="http://schemas.microsoft.com/office/drawing/2014/main" id="{C8B0ADEF-C8CC-7433-30C8-AF60B6DDB0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917700" y="6261100"/>
              <a:ext cx="1498600" cy="1511300"/>
            </a:xfrm>
            <a:prstGeom prst="rect">
              <a:avLst/>
            </a:prstGeom>
          </p:spPr>
        </p:pic>
        <p:sp>
          <p:nvSpPr>
            <p:cNvPr id="34" name="TextBox 34">
              <a:extLst>
                <a:ext uri="{FF2B5EF4-FFF2-40B4-BE49-F238E27FC236}">
                  <a16:creationId xmlns:a16="http://schemas.microsoft.com/office/drawing/2014/main" id="{918DAE8C-6C12-D74D-9CE9-43ECE4F9FCCF}"/>
                </a:ext>
              </a:extLst>
            </p:cNvPr>
            <p:cNvSpPr txBox="1"/>
            <p:nvPr/>
          </p:nvSpPr>
          <p:spPr>
            <a:xfrm>
              <a:off x="1733550" y="6806763"/>
              <a:ext cx="1866900" cy="368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en-US" sz="1899" b="0" i="0" u="none" strike="noStrike" dirty="0">
                  <a:solidFill>
                    <a:srgbClr val="2C2C2C"/>
                  </a:solidFill>
                  <a:latin typeface="Pretendard Medium"/>
                  <a:ea typeface="Pretendard Medium"/>
                  <a:cs typeface="Pretendard Medium"/>
                </a:rPr>
                <a:t>0 </a:t>
              </a:r>
              <a:r>
                <a:rPr lang="ko-KR" altLang="en-US" sz="1899" b="0" i="0" u="none" strike="noStrike" dirty="0">
                  <a:solidFill>
                    <a:srgbClr val="2C2C2C"/>
                  </a:solidFill>
                  <a:latin typeface="Pretendard Medium"/>
                  <a:ea typeface="Pretendard Medium"/>
                  <a:cs typeface="Pretendard Medium"/>
                </a:rPr>
                <a:t>행</a:t>
              </a:r>
              <a:r>
                <a:rPr lang="en-US" altLang="ko-KR" sz="1899" dirty="0">
                  <a:solidFill>
                    <a:srgbClr val="2C2C2C"/>
                  </a:solidFill>
                  <a:latin typeface="Pretendard Medium"/>
                  <a:ea typeface="Pretendard Medium"/>
                  <a:cs typeface="Pretendard Medium"/>
                </a:rPr>
                <a:t> x 0 </a:t>
              </a:r>
              <a:r>
                <a:rPr lang="ko-KR" altLang="en-US" sz="1899" dirty="0">
                  <a:solidFill>
                    <a:srgbClr val="2C2C2C"/>
                  </a:solidFill>
                  <a:latin typeface="Pretendard Medium"/>
                  <a:ea typeface="Pretendard Medium"/>
                  <a:cs typeface="Pretendard Medium"/>
                </a:rPr>
                <a:t>열</a:t>
              </a:r>
              <a:endParaRPr lang="en-US" sz="1899" b="0" i="0" u="none" strike="noStrike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AEF5F8EF-A369-D883-8785-70461310349A}"/>
              </a:ext>
            </a:extLst>
          </p:cNvPr>
          <p:cNvGrpSpPr/>
          <p:nvPr/>
        </p:nvGrpSpPr>
        <p:grpSpPr>
          <a:xfrm>
            <a:off x="5924550" y="1655455"/>
            <a:ext cx="3098800" cy="2732395"/>
            <a:chOff x="4330700" y="5092700"/>
            <a:chExt cx="3098800" cy="4000500"/>
          </a:xfrm>
        </p:grpSpPr>
        <p:pic>
          <p:nvPicPr>
            <p:cNvPr id="10" name="Picture 10">
              <a:extLst>
                <a:ext uri="{FF2B5EF4-FFF2-40B4-BE49-F238E27FC236}">
                  <a16:creationId xmlns:a16="http://schemas.microsoft.com/office/drawing/2014/main" id="{3D71BA52-F7DD-AE81-29DA-AFFD6CC63B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330700" y="5092700"/>
              <a:ext cx="3098800" cy="4000500"/>
            </a:xfrm>
            <a:prstGeom prst="rect">
              <a:avLst/>
            </a:prstGeom>
          </p:spPr>
        </p:pic>
        <p:pic>
          <p:nvPicPr>
            <p:cNvPr id="11" name="Picture 11">
              <a:extLst>
                <a:ext uri="{FF2B5EF4-FFF2-40B4-BE49-F238E27FC236}">
                  <a16:creationId xmlns:a16="http://schemas.microsoft.com/office/drawing/2014/main" id="{0BADBB05-0423-E3F8-C8F2-E1CBA16664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003800" y="5397500"/>
              <a:ext cx="1739900" cy="482600"/>
            </a:xfrm>
            <a:prstGeom prst="rect">
              <a:avLst/>
            </a:prstGeom>
          </p:spPr>
        </p:pic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2B86A1-F350-D256-4AF6-3C31FFF054E0}"/>
                </a:ext>
              </a:extLst>
            </p:cNvPr>
            <p:cNvSpPr txBox="1"/>
            <p:nvPr/>
          </p:nvSpPr>
          <p:spPr>
            <a:xfrm>
              <a:off x="5092700" y="5486400"/>
              <a:ext cx="1562100" cy="330200"/>
            </a:xfrm>
            <a:prstGeom prst="rect">
              <a:avLst/>
            </a:prstGeom>
          </p:spPr>
          <p:txBody>
            <a:bodyPr lIns="0" tIns="22225" rIns="0" bIns="22225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1749" b="0" i="0" u="none" strike="noStrike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자료형</a:t>
              </a:r>
              <a:endParaRPr lang="en-US" sz="1749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pic>
          <p:nvPicPr>
            <p:cNvPr id="28" name="Picture 28">
              <a:extLst>
                <a:ext uri="{FF2B5EF4-FFF2-40B4-BE49-F238E27FC236}">
                  <a16:creationId xmlns:a16="http://schemas.microsoft.com/office/drawing/2014/main" id="{9DDC9305-ED40-1097-6161-B6E94F6E37E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130800" y="6261100"/>
              <a:ext cx="1498600" cy="1511300"/>
            </a:xfrm>
            <a:prstGeom prst="rect">
              <a:avLst/>
            </a:prstGeom>
          </p:spPr>
        </p:pic>
        <p:sp>
          <p:nvSpPr>
            <p:cNvPr id="35" name="TextBox 35">
              <a:extLst>
                <a:ext uri="{FF2B5EF4-FFF2-40B4-BE49-F238E27FC236}">
                  <a16:creationId xmlns:a16="http://schemas.microsoft.com/office/drawing/2014/main" id="{9E2598B9-7DA1-D3FA-EF64-0ADB977DBB21}"/>
                </a:ext>
              </a:extLst>
            </p:cNvPr>
            <p:cNvSpPr txBox="1"/>
            <p:nvPr/>
          </p:nvSpPr>
          <p:spPr>
            <a:xfrm>
              <a:off x="4400550" y="6724649"/>
              <a:ext cx="2882900" cy="368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ko-KR" altLang="en-US" sz="1899" b="0" i="0" u="none" strike="noStrike" dirty="0">
                  <a:solidFill>
                    <a:srgbClr val="2C2C2C"/>
                  </a:solidFill>
                  <a:latin typeface="Pretendard Medium"/>
                  <a:ea typeface="Pretendard Medium"/>
                  <a:cs typeface="Pretendard Medium"/>
                </a:rPr>
                <a:t>숫자형 </a:t>
              </a:r>
              <a:r>
                <a:rPr lang="en-US" altLang="ko-KR" sz="1899" b="0" i="0" u="none" strike="noStrike" dirty="0">
                  <a:solidFill>
                    <a:srgbClr val="2C2C2C"/>
                  </a:solidFill>
                  <a:latin typeface="Pretendard Medium"/>
                  <a:ea typeface="Pretendard Medium"/>
                  <a:cs typeface="Pretendard Medium"/>
                </a:rPr>
                <a:t>6 + </a:t>
              </a:r>
              <a:r>
                <a:rPr lang="ko-KR" altLang="en-US" sz="1899" b="0" i="0" u="none" strike="noStrike" dirty="0">
                  <a:solidFill>
                    <a:srgbClr val="2C2C2C"/>
                  </a:solidFill>
                  <a:latin typeface="Pretendard Medium"/>
                  <a:ea typeface="Pretendard Medium"/>
                  <a:cs typeface="Pretendard Medium"/>
                </a:rPr>
                <a:t>문자형 </a:t>
              </a:r>
              <a:r>
                <a:rPr lang="en-US" altLang="ko-KR" sz="1899" b="0" i="0" u="none" strike="noStrike" dirty="0">
                  <a:solidFill>
                    <a:srgbClr val="2C2C2C"/>
                  </a:solidFill>
                  <a:latin typeface="Pretendard Medium"/>
                  <a:ea typeface="Pretendard Medium"/>
                  <a:cs typeface="Pretendard Medium"/>
                </a:rPr>
                <a:t>2</a:t>
              </a:r>
              <a:endParaRPr lang="en-US" sz="1899" b="0" i="0" u="none" strike="noStrike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9D7F1DDC-FCC3-59A2-B55E-0CAA74E7D603}"/>
              </a:ext>
            </a:extLst>
          </p:cNvPr>
          <p:cNvGrpSpPr/>
          <p:nvPr/>
        </p:nvGrpSpPr>
        <p:grpSpPr>
          <a:xfrm>
            <a:off x="9124950" y="1655455"/>
            <a:ext cx="3098800" cy="2732395"/>
            <a:chOff x="7531100" y="5092700"/>
            <a:chExt cx="3098800" cy="4000500"/>
          </a:xfrm>
        </p:grpSpPr>
        <p:pic>
          <p:nvPicPr>
            <p:cNvPr id="13" name="Picture 13">
              <a:extLst>
                <a:ext uri="{FF2B5EF4-FFF2-40B4-BE49-F238E27FC236}">
                  <a16:creationId xmlns:a16="http://schemas.microsoft.com/office/drawing/2014/main" id="{2BF33EB4-F468-68B2-D09F-0327C403DB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531100" y="5092700"/>
              <a:ext cx="3098800" cy="4000500"/>
            </a:xfrm>
            <a:prstGeom prst="rect">
              <a:avLst/>
            </a:prstGeom>
          </p:spPr>
        </p:pic>
        <p:pic>
          <p:nvPicPr>
            <p:cNvPr id="14" name="Picture 14">
              <a:extLst>
                <a:ext uri="{FF2B5EF4-FFF2-40B4-BE49-F238E27FC236}">
                  <a16:creationId xmlns:a16="http://schemas.microsoft.com/office/drawing/2014/main" id="{AD10DE1A-7193-DA25-0BA7-A819CF9E0A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04200" y="5397500"/>
              <a:ext cx="1739900" cy="482600"/>
            </a:xfrm>
            <a:prstGeom prst="rect">
              <a:avLst/>
            </a:prstGeom>
          </p:spPr>
        </p:pic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4E924DF2-ADB6-D535-B5B7-4056BF71BCC5}"/>
                </a:ext>
              </a:extLst>
            </p:cNvPr>
            <p:cNvSpPr txBox="1"/>
            <p:nvPr/>
          </p:nvSpPr>
          <p:spPr>
            <a:xfrm>
              <a:off x="8458200" y="5486400"/>
              <a:ext cx="1231900" cy="330200"/>
            </a:xfrm>
            <a:prstGeom prst="rect">
              <a:avLst/>
            </a:prstGeom>
          </p:spPr>
          <p:txBody>
            <a:bodyPr lIns="0" tIns="22225" rIns="0" bIns="22225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1749" dirty="0" err="1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중복행</a:t>
              </a:r>
              <a:endParaRPr lang="en-US" sz="1749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pic>
          <p:nvPicPr>
            <p:cNvPr id="29" name="Picture 29">
              <a:extLst>
                <a:ext uri="{FF2B5EF4-FFF2-40B4-BE49-F238E27FC236}">
                  <a16:creationId xmlns:a16="http://schemas.microsoft.com/office/drawing/2014/main" id="{06497BB9-2CEB-DBBD-FBD7-7FBCA69D19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331200" y="6261100"/>
              <a:ext cx="1498600" cy="1511300"/>
            </a:xfrm>
            <a:prstGeom prst="rect">
              <a:avLst/>
            </a:prstGeom>
          </p:spPr>
        </p:pic>
        <p:sp>
          <p:nvSpPr>
            <p:cNvPr id="36" name="TextBox 36">
              <a:extLst>
                <a:ext uri="{FF2B5EF4-FFF2-40B4-BE49-F238E27FC236}">
                  <a16:creationId xmlns:a16="http://schemas.microsoft.com/office/drawing/2014/main" id="{E84EFE01-8CDF-4DAC-8B5F-E8AEFF91D7C4}"/>
                </a:ext>
              </a:extLst>
            </p:cNvPr>
            <p:cNvSpPr txBox="1"/>
            <p:nvPr/>
          </p:nvSpPr>
          <p:spPr>
            <a:xfrm>
              <a:off x="8229600" y="6806763"/>
              <a:ext cx="1866900" cy="368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en-US" sz="1899" b="0" i="0" u="none" strike="noStrike" dirty="0">
                  <a:solidFill>
                    <a:srgbClr val="2C2C2C"/>
                  </a:solidFill>
                  <a:latin typeface="Pretendard Medium"/>
                  <a:ea typeface="Pretendard Medium"/>
                  <a:cs typeface="Pretendard Medium"/>
                </a:rPr>
                <a:t>0</a:t>
              </a:r>
              <a:r>
                <a:rPr lang="ko-KR" altLang="en-US" sz="1899" dirty="0">
                  <a:solidFill>
                    <a:srgbClr val="2C2C2C"/>
                  </a:solidFill>
                  <a:latin typeface="Pretendard Medium"/>
                  <a:ea typeface="Pretendard Medium"/>
                  <a:cs typeface="Pretendard Medium"/>
                </a:rPr>
                <a:t>건</a:t>
              </a:r>
              <a:endParaRPr lang="en-US" sz="1899" b="0" i="0" u="none" strike="noStrike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endParaRPr>
            </a:p>
          </p:txBody>
        </p:sp>
      </p:grp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5346700" y="571500"/>
            <a:ext cx="75946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499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데이터 소개 및 품질점검</a:t>
            </a:r>
            <a:endParaRPr lang="en-US" sz="5499" b="0" i="0" u="none" strike="noStrike" dirty="0">
              <a:solidFill>
                <a:srgbClr val="00074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027CB4DF-69AB-1836-BF4E-6B689ABBF504}"/>
              </a:ext>
            </a:extLst>
          </p:cNvPr>
          <p:cNvGrpSpPr/>
          <p:nvPr/>
        </p:nvGrpSpPr>
        <p:grpSpPr>
          <a:xfrm>
            <a:off x="12503150" y="1655455"/>
            <a:ext cx="3098800" cy="2732395"/>
            <a:chOff x="7531100" y="5092700"/>
            <a:chExt cx="3098800" cy="4000500"/>
          </a:xfrm>
        </p:grpSpPr>
        <p:pic>
          <p:nvPicPr>
            <p:cNvPr id="47" name="Picture 13">
              <a:extLst>
                <a:ext uri="{FF2B5EF4-FFF2-40B4-BE49-F238E27FC236}">
                  <a16:creationId xmlns:a16="http://schemas.microsoft.com/office/drawing/2014/main" id="{8456637B-DCF7-E75C-015D-2E1A29033F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531100" y="5092700"/>
              <a:ext cx="3098800" cy="4000500"/>
            </a:xfrm>
            <a:prstGeom prst="rect">
              <a:avLst/>
            </a:prstGeom>
          </p:spPr>
        </p:pic>
        <p:pic>
          <p:nvPicPr>
            <p:cNvPr id="48" name="Picture 14">
              <a:extLst>
                <a:ext uri="{FF2B5EF4-FFF2-40B4-BE49-F238E27FC236}">
                  <a16:creationId xmlns:a16="http://schemas.microsoft.com/office/drawing/2014/main" id="{99EAB6B5-0163-ABFE-8422-1C9F004E828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04200" y="5397500"/>
              <a:ext cx="1739900" cy="482600"/>
            </a:xfrm>
            <a:prstGeom prst="rect">
              <a:avLst/>
            </a:prstGeom>
          </p:spPr>
        </p:pic>
        <p:sp>
          <p:nvSpPr>
            <p:cNvPr id="49" name="TextBox 15">
              <a:extLst>
                <a:ext uri="{FF2B5EF4-FFF2-40B4-BE49-F238E27FC236}">
                  <a16:creationId xmlns:a16="http://schemas.microsoft.com/office/drawing/2014/main" id="{11BAD0D8-A034-19B1-BEFC-95515A6C58AD}"/>
                </a:ext>
              </a:extLst>
            </p:cNvPr>
            <p:cNvSpPr txBox="1"/>
            <p:nvPr/>
          </p:nvSpPr>
          <p:spPr>
            <a:xfrm>
              <a:off x="8458200" y="5486400"/>
              <a:ext cx="1231900" cy="330200"/>
            </a:xfrm>
            <a:prstGeom prst="rect">
              <a:avLst/>
            </a:prstGeom>
          </p:spPr>
          <p:txBody>
            <a:bodyPr lIns="0" tIns="22225" rIns="0" bIns="22225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1749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행</a:t>
              </a:r>
              <a:r>
                <a:rPr lang="en-US" altLang="ko-KR" sz="1749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/</a:t>
              </a:r>
              <a:r>
                <a:rPr lang="ko-KR" altLang="en-US" sz="1749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열 이름</a:t>
              </a:r>
              <a:endParaRPr lang="en-US" sz="1749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pic>
          <p:nvPicPr>
            <p:cNvPr id="50" name="Picture 29">
              <a:extLst>
                <a:ext uri="{FF2B5EF4-FFF2-40B4-BE49-F238E27FC236}">
                  <a16:creationId xmlns:a16="http://schemas.microsoft.com/office/drawing/2014/main" id="{86840009-8C54-D2E5-B775-19DEF22727E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331200" y="6261100"/>
              <a:ext cx="1498600" cy="1511300"/>
            </a:xfrm>
            <a:prstGeom prst="rect">
              <a:avLst/>
            </a:prstGeom>
          </p:spPr>
        </p:pic>
        <p:sp>
          <p:nvSpPr>
            <p:cNvPr id="52" name="TextBox 36">
              <a:extLst>
                <a:ext uri="{FF2B5EF4-FFF2-40B4-BE49-F238E27FC236}">
                  <a16:creationId xmlns:a16="http://schemas.microsoft.com/office/drawing/2014/main" id="{97AF2B0B-5140-B5AA-2853-32F4AB47AC77}"/>
                </a:ext>
              </a:extLst>
            </p:cNvPr>
            <p:cNvSpPr txBox="1"/>
            <p:nvPr/>
          </p:nvSpPr>
          <p:spPr>
            <a:xfrm>
              <a:off x="8170081" y="6806763"/>
              <a:ext cx="1866900" cy="368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en-US" sz="1899" b="0" i="0" u="none" strike="noStrike" dirty="0">
                  <a:solidFill>
                    <a:srgbClr val="2C2C2C"/>
                  </a:solidFill>
                  <a:latin typeface="Pretendard Medium"/>
                  <a:ea typeface="Pretendard Medium"/>
                  <a:cs typeface="Pretendard Medium"/>
                </a:rPr>
                <a:t>Region </a:t>
              </a:r>
              <a:r>
                <a:rPr lang="ko-KR" altLang="en-US" sz="1899" b="0" i="0" u="none" strike="noStrike" dirty="0">
                  <a:solidFill>
                    <a:srgbClr val="2C2C2C"/>
                  </a:solidFill>
                  <a:latin typeface="Pretendard Medium"/>
                  <a:ea typeface="Pretendard Medium"/>
                  <a:cs typeface="Pretendard Medium"/>
                </a:rPr>
                <a:t>삭제</a:t>
              </a:r>
              <a:endParaRPr lang="en-US" sz="1899" b="0" i="0" u="none" strike="noStrike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endParaRPr>
            </a:p>
          </p:txBody>
        </p:sp>
      </p:grpSp>
      <p:graphicFrame>
        <p:nvGraphicFramePr>
          <p:cNvPr id="54" name="표 53">
            <a:extLst>
              <a:ext uri="{FF2B5EF4-FFF2-40B4-BE49-F238E27FC236}">
                <a16:creationId xmlns:a16="http://schemas.microsoft.com/office/drawing/2014/main" id="{48042D32-D10E-2029-6942-52E65B013A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4894089"/>
              </p:ext>
            </p:extLst>
          </p:nvPr>
        </p:nvGraphicFramePr>
        <p:xfrm>
          <a:off x="1099403" y="4706620"/>
          <a:ext cx="12192000" cy="219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4500357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68441159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9861770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79216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변수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의미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524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851070"/>
                  </a:ext>
                </a:extLst>
              </a:tr>
              <a:tr h="291592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222423"/>
                  </a:ext>
                </a:extLst>
              </a:tr>
              <a:tr h="21742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634526"/>
                  </a:ext>
                </a:extLst>
              </a:tr>
              <a:tr h="14325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045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821866"/>
                  </a:ext>
                </a:extLst>
              </a:tr>
            </a:tbl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3D7D15C1-B787-1E9F-D48A-A2079F1C713B}"/>
              </a:ext>
            </a:extLst>
          </p:cNvPr>
          <p:cNvSpPr txBox="1"/>
          <p:nvPr/>
        </p:nvSpPr>
        <p:spPr>
          <a:xfrm>
            <a:off x="1127267" y="8436569"/>
            <a:ext cx="579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형식</a:t>
            </a:r>
            <a:r>
              <a:rPr lang="en-US" altLang="ko-KR" dirty="0"/>
              <a:t>/ </a:t>
            </a:r>
            <a:r>
              <a:rPr lang="ko-KR" altLang="en-US" dirty="0"/>
              <a:t>표기</a:t>
            </a:r>
            <a:r>
              <a:rPr lang="en-US" altLang="ko-KR" dirty="0"/>
              <a:t>/ </a:t>
            </a:r>
            <a:r>
              <a:rPr lang="ko-KR" altLang="en-US" dirty="0"/>
              <a:t>단위 점검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하한값</a:t>
            </a:r>
            <a:r>
              <a:rPr lang="ko-KR" altLang="en-US" dirty="0"/>
              <a:t> </a:t>
            </a:r>
            <a:r>
              <a:rPr lang="en-US" altLang="ko-KR" dirty="0"/>
              <a:t>3 </a:t>
            </a:r>
            <a:r>
              <a:rPr lang="ko-KR" altLang="en-US" dirty="0"/>
              <a:t>인지</a:t>
            </a:r>
          </a:p>
        </p:txBody>
      </p:sp>
    </p:spTree>
    <p:extLst>
      <p:ext uri="{BB962C8B-B14F-4D97-AF65-F5344CB8AC3E}">
        <p14:creationId xmlns:p14="http://schemas.microsoft.com/office/powerpoint/2010/main" val="241300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4696EC-D654-E670-8195-D0F2F083A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70F7FAA-9E10-871F-BBB0-18D97A2AD5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67C3CC1-583B-C5F5-E749-3A96070303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485BBF25-FCA2-68F0-95B2-26000ADE82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14E36630-C803-63D9-8881-09DB2FF1ADC2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02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23B0D3F0-9B36-B494-D8DC-3A8F613251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432300"/>
            <a:ext cx="17056100" cy="5295900"/>
          </a:xfrm>
          <a:prstGeom prst="rect">
            <a:avLst/>
          </a:prstGeom>
        </p:spPr>
      </p:pic>
      <p:grpSp>
        <p:nvGrpSpPr>
          <p:cNvPr id="43" name="그룹 42">
            <a:extLst>
              <a:ext uri="{FF2B5EF4-FFF2-40B4-BE49-F238E27FC236}">
                <a16:creationId xmlns:a16="http://schemas.microsoft.com/office/drawing/2014/main" id="{60B105FB-46F9-F4AD-5154-719ED25E50A9}"/>
              </a:ext>
            </a:extLst>
          </p:cNvPr>
          <p:cNvGrpSpPr/>
          <p:nvPr/>
        </p:nvGrpSpPr>
        <p:grpSpPr>
          <a:xfrm>
            <a:off x="2711450" y="1655455"/>
            <a:ext cx="3098800" cy="2732395"/>
            <a:chOff x="1117600" y="5092700"/>
            <a:chExt cx="3098800" cy="4000500"/>
          </a:xfrm>
        </p:grpSpPr>
        <p:pic>
          <p:nvPicPr>
            <p:cNvPr id="7" name="Picture 7">
              <a:extLst>
                <a:ext uri="{FF2B5EF4-FFF2-40B4-BE49-F238E27FC236}">
                  <a16:creationId xmlns:a16="http://schemas.microsoft.com/office/drawing/2014/main" id="{10520712-8C56-B2A4-4BC7-CE4D8AAAEE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17600" y="5092700"/>
              <a:ext cx="3098800" cy="4000500"/>
            </a:xfrm>
            <a:prstGeom prst="rect">
              <a:avLst/>
            </a:prstGeom>
          </p:spPr>
        </p:pic>
        <p:pic>
          <p:nvPicPr>
            <p:cNvPr id="8" name="Picture 8">
              <a:extLst>
                <a:ext uri="{FF2B5EF4-FFF2-40B4-BE49-F238E27FC236}">
                  <a16:creationId xmlns:a16="http://schemas.microsoft.com/office/drawing/2014/main" id="{FE92ACB7-EAC9-7A4A-DFF1-20A470685F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803400" y="5410200"/>
              <a:ext cx="1739900" cy="482600"/>
            </a:xfrm>
            <a:prstGeom prst="rect">
              <a:avLst/>
            </a:prstGeom>
          </p:spPr>
        </p:pic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33DCE91-FF53-B589-8755-FBF960FBF152}"/>
                </a:ext>
              </a:extLst>
            </p:cNvPr>
            <p:cNvSpPr txBox="1"/>
            <p:nvPr/>
          </p:nvSpPr>
          <p:spPr>
            <a:xfrm>
              <a:off x="2057400" y="5499100"/>
              <a:ext cx="1231900" cy="330200"/>
            </a:xfrm>
            <a:prstGeom prst="rect">
              <a:avLst/>
            </a:prstGeom>
          </p:spPr>
          <p:txBody>
            <a:bodyPr lIns="0" tIns="22225" rIns="0" bIns="22225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1749" b="0" i="0" u="none" strike="noStrike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데이터 크기</a:t>
              </a:r>
              <a:endParaRPr lang="en-US" sz="1749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pic>
          <p:nvPicPr>
            <p:cNvPr id="27" name="Picture 27">
              <a:extLst>
                <a:ext uri="{FF2B5EF4-FFF2-40B4-BE49-F238E27FC236}">
                  <a16:creationId xmlns:a16="http://schemas.microsoft.com/office/drawing/2014/main" id="{FD2FCDEF-DDFF-A33F-FBD3-28B936B1FE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917700" y="6261100"/>
              <a:ext cx="1498600" cy="1511300"/>
            </a:xfrm>
            <a:prstGeom prst="rect">
              <a:avLst/>
            </a:prstGeom>
          </p:spPr>
        </p:pic>
        <p:sp>
          <p:nvSpPr>
            <p:cNvPr id="34" name="TextBox 34">
              <a:extLst>
                <a:ext uri="{FF2B5EF4-FFF2-40B4-BE49-F238E27FC236}">
                  <a16:creationId xmlns:a16="http://schemas.microsoft.com/office/drawing/2014/main" id="{38302E0D-7E03-28DC-7271-3AC5A9E846F3}"/>
                </a:ext>
              </a:extLst>
            </p:cNvPr>
            <p:cNvSpPr txBox="1"/>
            <p:nvPr/>
          </p:nvSpPr>
          <p:spPr>
            <a:xfrm>
              <a:off x="1733550" y="6806763"/>
              <a:ext cx="1866900" cy="368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en-US" sz="1899" b="0" i="0" u="none" strike="noStrike" dirty="0">
                  <a:solidFill>
                    <a:srgbClr val="2C2C2C"/>
                  </a:solidFill>
                  <a:latin typeface="Pretendard Medium"/>
                  <a:ea typeface="Pretendard Medium"/>
                  <a:cs typeface="Pretendard Medium"/>
                </a:rPr>
                <a:t>0 </a:t>
              </a:r>
              <a:r>
                <a:rPr lang="ko-KR" altLang="en-US" sz="1899" b="0" i="0" u="none" strike="noStrike" dirty="0">
                  <a:solidFill>
                    <a:srgbClr val="2C2C2C"/>
                  </a:solidFill>
                  <a:latin typeface="Pretendard Medium"/>
                  <a:ea typeface="Pretendard Medium"/>
                  <a:cs typeface="Pretendard Medium"/>
                </a:rPr>
                <a:t>행</a:t>
              </a:r>
              <a:r>
                <a:rPr lang="en-US" altLang="ko-KR" sz="1899" dirty="0">
                  <a:solidFill>
                    <a:srgbClr val="2C2C2C"/>
                  </a:solidFill>
                  <a:latin typeface="Pretendard Medium"/>
                  <a:ea typeface="Pretendard Medium"/>
                  <a:cs typeface="Pretendard Medium"/>
                </a:rPr>
                <a:t> x 0 </a:t>
              </a:r>
              <a:r>
                <a:rPr lang="ko-KR" altLang="en-US" sz="1899" dirty="0">
                  <a:solidFill>
                    <a:srgbClr val="2C2C2C"/>
                  </a:solidFill>
                  <a:latin typeface="Pretendard Medium"/>
                  <a:ea typeface="Pretendard Medium"/>
                  <a:cs typeface="Pretendard Medium"/>
                </a:rPr>
                <a:t>열</a:t>
              </a:r>
              <a:endParaRPr lang="en-US" sz="1899" b="0" i="0" u="none" strike="noStrike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84B402AF-2774-7807-CF05-B4627CA68FB5}"/>
              </a:ext>
            </a:extLst>
          </p:cNvPr>
          <p:cNvGrpSpPr/>
          <p:nvPr/>
        </p:nvGrpSpPr>
        <p:grpSpPr>
          <a:xfrm>
            <a:off x="5924550" y="1655455"/>
            <a:ext cx="3098800" cy="2732395"/>
            <a:chOff x="4330700" y="5092700"/>
            <a:chExt cx="3098800" cy="4000500"/>
          </a:xfrm>
        </p:grpSpPr>
        <p:pic>
          <p:nvPicPr>
            <p:cNvPr id="10" name="Picture 10">
              <a:extLst>
                <a:ext uri="{FF2B5EF4-FFF2-40B4-BE49-F238E27FC236}">
                  <a16:creationId xmlns:a16="http://schemas.microsoft.com/office/drawing/2014/main" id="{560FD333-4601-CDC4-4DC5-507469E63A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330700" y="5092700"/>
              <a:ext cx="3098800" cy="4000500"/>
            </a:xfrm>
            <a:prstGeom prst="rect">
              <a:avLst/>
            </a:prstGeom>
          </p:spPr>
        </p:pic>
        <p:pic>
          <p:nvPicPr>
            <p:cNvPr id="11" name="Picture 11">
              <a:extLst>
                <a:ext uri="{FF2B5EF4-FFF2-40B4-BE49-F238E27FC236}">
                  <a16:creationId xmlns:a16="http://schemas.microsoft.com/office/drawing/2014/main" id="{2D1023BB-0856-32D0-6A3E-01D5A7DDD5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003800" y="5397500"/>
              <a:ext cx="1739900" cy="482600"/>
            </a:xfrm>
            <a:prstGeom prst="rect">
              <a:avLst/>
            </a:prstGeom>
          </p:spPr>
        </p:pic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F3476F2B-DBA7-3367-F441-8488CFB4A567}"/>
                </a:ext>
              </a:extLst>
            </p:cNvPr>
            <p:cNvSpPr txBox="1"/>
            <p:nvPr/>
          </p:nvSpPr>
          <p:spPr>
            <a:xfrm>
              <a:off x="5092700" y="5486400"/>
              <a:ext cx="1562100" cy="330200"/>
            </a:xfrm>
            <a:prstGeom prst="rect">
              <a:avLst/>
            </a:prstGeom>
          </p:spPr>
          <p:txBody>
            <a:bodyPr lIns="0" tIns="22225" rIns="0" bIns="22225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1749" b="0" i="0" u="none" strike="noStrike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자료형</a:t>
              </a:r>
              <a:endParaRPr lang="en-US" sz="1749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pic>
          <p:nvPicPr>
            <p:cNvPr id="28" name="Picture 28">
              <a:extLst>
                <a:ext uri="{FF2B5EF4-FFF2-40B4-BE49-F238E27FC236}">
                  <a16:creationId xmlns:a16="http://schemas.microsoft.com/office/drawing/2014/main" id="{E3A22C5D-6759-CE13-1672-4479C466AD1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130800" y="6261100"/>
              <a:ext cx="1498600" cy="1511300"/>
            </a:xfrm>
            <a:prstGeom prst="rect">
              <a:avLst/>
            </a:prstGeom>
          </p:spPr>
        </p:pic>
        <p:sp>
          <p:nvSpPr>
            <p:cNvPr id="35" name="TextBox 35">
              <a:extLst>
                <a:ext uri="{FF2B5EF4-FFF2-40B4-BE49-F238E27FC236}">
                  <a16:creationId xmlns:a16="http://schemas.microsoft.com/office/drawing/2014/main" id="{FBE2172E-1F02-BA51-CB2B-BF5B568160FC}"/>
                </a:ext>
              </a:extLst>
            </p:cNvPr>
            <p:cNvSpPr txBox="1"/>
            <p:nvPr/>
          </p:nvSpPr>
          <p:spPr>
            <a:xfrm>
              <a:off x="4400550" y="6724649"/>
              <a:ext cx="2882900" cy="368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ko-KR" altLang="en-US" sz="1899" b="0" i="0" u="none" strike="noStrike" dirty="0">
                  <a:solidFill>
                    <a:srgbClr val="2C2C2C"/>
                  </a:solidFill>
                  <a:latin typeface="Pretendard Medium"/>
                  <a:ea typeface="Pretendard Medium"/>
                  <a:cs typeface="Pretendard Medium"/>
                </a:rPr>
                <a:t>숫자형 </a:t>
              </a:r>
              <a:r>
                <a:rPr lang="en-US" altLang="ko-KR" sz="1899" b="0" i="0" u="none" strike="noStrike" dirty="0">
                  <a:solidFill>
                    <a:srgbClr val="2C2C2C"/>
                  </a:solidFill>
                  <a:latin typeface="Pretendard Medium"/>
                  <a:ea typeface="Pretendard Medium"/>
                  <a:cs typeface="Pretendard Medium"/>
                </a:rPr>
                <a:t>6 + </a:t>
              </a:r>
              <a:r>
                <a:rPr lang="ko-KR" altLang="en-US" sz="1899" b="0" i="0" u="none" strike="noStrike" dirty="0">
                  <a:solidFill>
                    <a:srgbClr val="2C2C2C"/>
                  </a:solidFill>
                  <a:latin typeface="Pretendard Medium"/>
                  <a:ea typeface="Pretendard Medium"/>
                  <a:cs typeface="Pretendard Medium"/>
                </a:rPr>
                <a:t>문자형 </a:t>
              </a:r>
              <a:r>
                <a:rPr lang="en-US" altLang="ko-KR" sz="1899" b="0" i="0" u="none" strike="noStrike" dirty="0">
                  <a:solidFill>
                    <a:srgbClr val="2C2C2C"/>
                  </a:solidFill>
                  <a:latin typeface="Pretendard Medium"/>
                  <a:ea typeface="Pretendard Medium"/>
                  <a:cs typeface="Pretendard Medium"/>
                </a:rPr>
                <a:t>2</a:t>
              </a:r>
              <a:endParaRPr lang="en-US" sz="1899" b="0" i="0" u="none" strike="noStrike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EE860FC4-C226-FA65-DE40-7145F4039958}"/>
              </a:ext>
            </a:extLst>
          </p:cNvPr>
          <p:cNvGrpSpPr/>
          <p:nvPr/>
        </p:nvGrpSpPr>
        <p:grpSpPr>
          <a:xfrm>
            <a:off x="9124950" y="1655455"/>
            <a:ext cx="3098800" cy="2732395"/>
            <a:chOff x="7531100" y="5092700"/>
            <a:chExt cx="3098800" cy="4000500"/>
          </a:xfrm>
        </p:grpSpPr>
        <p:pic>
          <p:nvPicPr>
            <p:cNvPr id="13" name="Picture 13">
              <a:extLst>
                <a:ext uri="{FF2B5EF4-FFF2-40B4-BE49-F238E27FC236}">
                  <a16:creationId xmlns:a16="http://schemas.microsoft.com/office/drawing/2014/main" id="{48E7EDFC-2BFE-4E52-8949-46509CED707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531100" y="5092700"/>
              <a:ext cx="3098800" cy="4000500"/>
            </a:xfrm>
            <a:prstGeom prst="rect">
              <a:avLst/>
            </a:prstGeom>
          </p:spPr>
        </p:pic>
        <p:pic>
          <p:nvPicPr>
            <p:cNvPr id="14" name="Picture 14">
              <a:extLst>
                <a:ext uri="{FF2B5EF4-FFF2-40B4-BE49-F238E27FC236}">
                  <a16:creationId xmlns:a16="http://schemas.microsoft.com/office/drawing/2014/main" id="{1B7A6BF4-EFF2-1B7B-A1DA-324852A8DD3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04200" y="5397500"/>
              <a:ext cx="1739900" cy="482600"/>
            </a:xfrm>
            <a:prstGeom prst="rect">
              <a:avLst/>
            </a:prstGeom>
          </p:spPr>
        </p:pic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19EB2FEA-0E16-C57E-C71E-4D43389EB83A}"/>
                </a:ext>
              </a:extLst>
            </p:cNvPr>
            <p:cNvSpPr txBox="1"/>
            <p:nvPr/>
          </p:nvSpPr>
          <p:spPr>
            <a:xfrm>
              <a:off x="8458200" y="5486400"/>
              <a:ext cx="1231900" cy="330200"/>
            </a:xfrm>
            <a:prstGeom prst="rect">
              <a:avLst/>
            </a:prstGeom>
          </p:spPr>
          <p:txBody>
            <a:bodyPr lIns="0" tIns="22225" rIns="0" bIns="22225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1749" dirty="0" err="1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중복행</a:t>
              </a:r>
              <a:endParaRPr lang="en-US" sz="1749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pic>
          <p:nvPicPr>
            <p:cNvPr id="29" name="Picture 29">
              <a:extLst>
                <a:ext uri="{FF2B5EF4-FFF2-40B4-BE49-F238E27FC236}">
                  <a16:creationId xmlns:a16="http://schemas.microsoft.com/office/drawing/2014/main" id="{66FC11D5-38A0-C47B-D9F1-1E2DF438A3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331200" y="6261100"/>
              <a:ext cx="1498600" cy="1511300"/>
            </a:xfrm>
            <a:prstGeom prst="rect">
              <a:avLst/>
            </a:prstGeom>
          </p:spPr>
        </p:pic>
        <p:sp>
          <p:nvSpPr>
            <p:cNvPr id="36" name="TextBox 36">
              <a:extLst>
                <a:ext uri="{FF2B5EF4-FFF2-40B4-BE49-F238E27FC236}">
                  <a16:creationId xmlns:a16="http://schemas.microsoft.com/office/drawing/2014/main" id="{A573E9A5-1D2A-9C16-4199-517C1D72C87B}"/>
                </a:ext>
              </a:extLst>
            </p:cNvPr>
            <p:cNvSpPr txBox="1"/>
            <p:nvPr/>
          </p:nvSpPr>
          <p:spPr>
            <a:xfrm>
              <a:off x="8229600" y="6806763"/>
              <a:ext cx="1866900" cy="368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en-US" sz="1899" b="0" i="0" u="none" strike="noStrike" dirty="0">
                  <a:solidFill>
                    <a:srgbClr val="2C2C2C"/>
                  </a:solidFill>
                  <a:latin typeface="Pretendard Medium"/>
                  <a:ea typeface="Pretendard Medium"/>
                  <a:cs typeface="Pretendard Medium"/>
                </a:rPr>
                <a:t>0</a:t>
              </a:r>
              <a:r>
                <a:rPr lang="ko-KR" altLang="en-US" sz="1899" dirty="0">
                  <a:solidFill>
                    <a:srgbClr val="2C2C2C"/>
                  </a:solidFill>
                  <a:latin typeface="Pretendard Medium"/>
                  <a:ea typeface="Pretendard Medium"/>
                  <a:cs typeface="Pretendard Medium"/>
                </a:rPr>
                <a:t>건</a:t>
              </a:r>
              <a:endParaRPr lang="en-US" sz="1899" b="0" i="0" u="none" strike="noStrike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endParaRPr>
            </a:p>
          </p:txBody>
        </p:sp>
      </p:grpSp>
      <p:sp>
        <p:nvSpPr>
          <p:cNvPr id="42" name="TextBox 42">
            <a:extLst>
              <a:ext uri="{FF2B5EF4-FFF2-40B4-BE49-F238E27FC236}">
                <a16:creationId xmlns:a16="http://schemas.microsoft.com/office/drawing/2014/main" id="{2195E527-4E42-0072-4404-1FA97A381207}"/>
              </a:ext>
            </a:extLst>
          </p:cNvPr>
          <p:cNvSpPr txBox="1"/>
          <p:nvPr/>
        </p:nvSpPr>
        <p:spPr>
          <a:xfrm>
            <a:off x="5346700" y="571500"/>
            <a:ext cx="75946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499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기술 통계량</a:t>
            </a:r>
            <a:endParaRPr lang="en-US" sz="5499" b="0" i="0" u="none" strike="noStrike" dirty="0">
              <a:solidFill>
                <a:srgbClr val="00074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27F51ADB-0BA9-700B-4B7F-7800836EA67C}"/>
              </a:ext>
            </a:extLst>
          </p:cNvPr>
          <p:cNvGrpSpPr/>
          <p:nvPr/>
        </p:nvGrpSpPr>
        <p:grpSpPr>
          <a:xfrm>
            <a:off x="12503150" y="1655455"/>
            <a:ext cx="3098800" cy="2732395"/>
            <a:chOff x="7531100" y="5092700"/>
            <a:chExt cx="3098800" cy="4000500"/>
          </a:xfrm>
        </p:grpSpPr>
        <p:pic>
          <p:nvPicPr>
            <p:cNvPr id="47" name="Picture 13">
              <a:extLst>
                <a:ext uri="{FF2B5EF4-FFF2-40B4-BE49-F238E27FC236}">
                  <a16:creationId xmlns:a16="http://schemas.microsoft.com/office/drawing/2014/main" id="{7B8875CD-1B69-1EEA-9BA3-D56AEC061B2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531100" y="5092700"/>
              <a:ext cx="3098800" cy="4000500"/>
            </a:xfrm>
            <a:prstGeom prst="rect">
              <a:avLst/>
            </a:prstGeom>
          </p:spPr>
        </p:pic>
        <p:pic>
          <p:nvPicPr>
            <p:cNvPr id="48" name="Picture 14">
              <a:extLst>
                <a:ext uri="{FF2B5EF4-FFF2-40B4-BE49-F238E27FC236}">
                  <a16:creationId xmlns:a16="http://schemas.microsoft.com/office/drawing/2014/main" id="{E0DF3205-8E85-6A7A-725D-14B8EC0FE85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04200" y="5397500"/>
              <a:ext cx="1739900" cy="482600"/>
            </a:xfrm>
            <a:prstGeom prst="rect">
              <a:avLst/>
            </a:prstGeom>
          </p:spPr>
        </p:pic>
        <p:sp>
          <p:nvSpPr>
            <p:cNvPr id="49" name="TextBox 15">
              <a:extLst>
                <a:ext uri="{FF2B5EF4-FFF2-40B4-BE49-F238E27FC236}">
                  <a16:creationId xmlns:a16="http://schemas.microsoft.com/office/drawing/2014/main" id="{4B3D4248-264F-9C87-6262-3D803A5225B9}"/>
                </a:ext>
              </a:extLst>
            </p:cNvPr>
            <p:cNvSpPr txBox="1"/>
            <p:nvPr/>
          </p:nvSpPr>
          <p:spPr>
            <a:xfrm>
              <a:off x="8458200" y="5486400"/>
              <a:ext cx="1231900" cy="330200"/>
            </a:xfrm>
            <a:prstGeom prst="rect">
              <a:avLst/>
            </a:prstGeom>
          </p:spPr>
          <p:txBody>
            <a:bodyPr lIns="0" tIns="22225" rIns="0" bIns="22225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1749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행</a:t>
              </a:r>
              <a:r>
                <a:rPr lang="en-US" altLang="ko-KR" sz="1749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/</a:t>
              </a:r>
              <a:r>
                <a:rPr lang="ko-KR" altLang="en-US" sz="1749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열 이름</a:t>
              </a:r>
              <a:endParaRPr lang="en-US" sz="1749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pic>
          <p:nvPicPr>
            <p:cNvPr id="50" name="Picture 29">
              <a:extLst>
                <a:ext uri="{FF2B5EF4-FFF2-40B4-BE49-F238E27FC236}">
                  <a16:creationId xmlns:a16="http://schemas.microsoft.com/office/drawing/2014/main" id="{61E25403-5B46-6E5E-893A-8291D2FB69B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331200" y="6261100"/>
              <a:ext cx="1498600" cy="1511300"/>
            </a:xfrm>
            <a:prstGeom prst="rect">
              <a:avLst/>
            </a:prstGeom>
          </p:spPr>
        </p:pic>
        <p:sp>
          <p:nvSpPr>
            <p:cNvPr id="52" name="TextBox 36">
              <a:extLst>
                <a:ext uri="{FF2B5EF4-FFF2-40B4-BE49-F238E27FC236}">
                  <a16:creationId xmlns:a16="http://schemas.microsoft.com/office/drawing/2014/main" id="{39AC81FC-3603-EE48-413C-B741099DDE98}"/>
                </a:ext>
              </a:extLst>
            </p:cNvPr>
            <p:cNvSpPr txBox="1"/>
            <p:nvPr/>
          </p:nvSpPr>
          <p:spPr>
            <a:xfrm>
              <a:off x="8170081" y="6806763"/>
              <a:ext cx="1866900" cy="368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en-US" sz="1899" b="0" i="0" u="none" strike="noStrike" dirty="0">
                  <a:solidFill>
                    <a:srgbClr val="2C2C2C"/>
                  </a:solidFill>
                  <a:latin typeface="Pretendard Medium"/>
                  <a:ea typeface="Pretendard Medium"/>
                  <a:cs typeface="Pretendard Medium"/>
                </a:rPr>
                <a:t>Region </a:t>
              </a:r>
              <a:r>
                <a:rPr lang="ko-KR" altLang="en-US" sz="1899" b="0" i="0" u="none" strike="noStrike" dirty="0">
                  <a:solidFill>
                    <a:srgbClr val="2C2C2C"/>
                  </a:solidFill>
                  <a:latin typeface="Pretendard Medium"/>
                  <a:ea typeface="Pretendard Medium"/>
                  <a:cs typeface="Pretendard Medium"/>
                </a:rPr>
                <a:t>삭제</a:t>
              </a:r>
              <a:endParaRPr lang="en-US" sz="1899" b="0" i="0" u="none" strike="noStrike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endParaRPr>
            </a:p>
          </p:txBody>
        </p:sp>
      </p:grpSp>
      <p:graphicFrame>
        <p:nvGraphicFramePr>
          <p:cNvPr id="54" name="표 53">
            <a:extLst>
              <a:ext uri="{FF2B5EF4-FFF2-40B4-BE49-F238E27FC236}">
                <a16:creationId xmlns:a16="http://schemas.microsoft.com/office/drawing/2014/main" id="{E22C2F4E-B42B-4036-3091-0C17162B8A51}"/>
              </a:ext>
            </a:extLst>
          </p:cNvPr>
          <p:cNvGraphicFramePr>
            <a:graphicFrameLocks noGrp="1"/>
          </p:cNvGraphicFramePr>
          <p:nvPr/>
        </p:nvGraphicFramePr>
        <p:xfrm>
          <a:off x="1099403" y="4706620"/>
          <a:ext cx="12192000" cy="219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45003571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68441159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86177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변수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의미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524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851070"/>
                  </a:ext>
                </a:extLst>
              </a:tr>
              <a:tr h="291592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222423"/>
                  </a:ext>
                </a:extLst>
              </a:tr>
              <a:tr h="21742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634526"/>
                  </a:ext>
                </a:extLst>
              </a:tr>
              <a:tr h="14325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045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821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5834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A5BDC8-4F18-6F05-0817-947C46FAC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0AC54DD-3769-14E2-2B3B-086F67710B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246B42D-A311-E874-DF6B-3EDBFDCAB9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20" name="Picture 20">
            <a:extLst>
              <a:ext uri="{FF2B5EF4-FFF2-40B4-BE49-F238E27FC236}">
                <a16:creationId xmlns:a16="http://schemas.microsoft.com/office/drawing/2014/main" id="{C86AA898-3C22-E005-9D28-435F100A13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103C1777-5F67-89DB-9651-CD97FE813D92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b="0" i="0" u="none" strike="noStrike" cap="all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03</a:t>
            </a: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091B8254-19E3-E88B-25BB-970A610CA49C}"/>
              </a:ext>
            </a:extLst>
          </p:cNvPr>
          <p:cNvGrpSpPr/>
          <p:nvPr/>
        </p:nvGrpSpPr>
        <p:grpSpPr>
          <a:xfrm>
            <a:off x="1503944" y="4450659"/>
            <a:ext cx="3608812" cy="4941683"/>
            <a:chOff x="1503944" y="4444309"/>
            <a:chExt cx="3608812" cy="4941683"/>
          </a:xfrm>
        </p:grpSpPr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A9F7E6E3-E2C2-8807-5981-6029DAC2F7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03944" y="4444309"/>
              <a:ext cx="3608812" cy="4941683"/>
            </a:xfrm>
            <a:prstGeom prst="rect">
              <a:avLst/>
            </a:prstGeom>
          </p:spPr>
        </p:pic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74DB237-2342-264D-47A6-1D4B26BEC079}"/>
                </a:ext>
              </a:extLst>
            </p:cNvPr>
            <p:cNvSpPr txBox="1"/>
            <p:nvPr/>
          </p:nvSpPr>
          <p:spPr>
            <a:xfrm>
              <a:off x="1830875" y="5537200"/>
              <a:ext cx="2954950" cy="406400"/>
            </a:xfrm>
            <a:prstGeom prst="rect">
              <a:avLst/>
            </a:prstGeom>
          </p:spPr>
          <p:txBody>
            <a:bodyPr lIns="0" tIns="26670" rIns="0" bIns="2667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100" dirty="0" err="1">
                  <a:solidFill>
                    <a:srgbClr val="00074E"/>
                  </a:solidFill>
                  <a:latin typeface="Pretendard SemiBold"/>
                  <a:ea typeface="Pretendard SemiBold"/>
                  <a:cs typeface="Pretendard SemiBold"/>
                </a:rPr>
                <a:t>단변량</a:t>
              </a:r>
              <a:r>
                <a:rPr lang="ko-KR" altLang="en-US" sz="2100" dirty="0">
                  <a:solidFill>
                    <a:srgbClr val="00074E"/>
                  </a:solidFill>
                  <a:latin typeface="Pretendard SemiBold"/>
                  <a:ea typeface="Pretendard SemiBold"/>
                  <a:cs typeface="Pretendard SemiBold"/>
                </a:rPr>
                <a:t> 분석</a:t>
              </a:r>
              <a:endParaRPr lang="en-US" sz="2100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C1C202E6-D31F-9C73-A0B5-288809CC9E5F}"/>
                </a:ext>
              </a:extLst>
            </p:cNvPr>
            <p:cNvSpPr txBox="1"/>
            <p:nvPr/>
          </p:nvSpPr>
          <p:spPr>
            <a:xfrm>
              <a:off x="1730281" y="6172200"/>
              <a:ext cx="3156139" cy="1028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24499"/>
                </a:lnSpc>
              </a:pPr>
              <a:r>
                <a:rPr lang="en-US" sz="1800" b="0" i="0" u="none" strike="noStrike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 프로젝트의 시작을 알리는 첫 번째</a:t>
              </a:r>
            </a:p>
            <a:p>
              <a:pPr lvl="0" algn="ctr">
                <a:lnSpc>
                  <a:spcPct val="124499"/>
                </a:lnSpc>
              </a:pPr>
              <a:r>
                <a:rPr lang="en-US" sz="1800" b="0" i="0" u="none" strike="noStrike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단계로 기획의 배경이나 추진</a:t>
              </a:r>
            </a:p>
            <a:p>
              <a:pPr lvl="0" algn="ctr">
                <a:lnSpc>
                  <a:spcPct val="124499"/>
                </a:lnSpc>
              </a:pPr>
              <a:r>
                <a:rPr lang="en-US" sz="1800" b="0" i="0" u="none" strike="noStrike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목적을 명확하게 보여줘야 해요.</a:t>
              </a:r>
            </a:p>
          </p:txBody>
        </p:sp>
        <p:pic>
          <p:nvPicPr>
            <p:cNvPr id="22" name="Picture 22">
              <a:extLst>
                <a:ext uri="{FF2B5EF4-FFF2-40B4-BE49-F238E27FC236}">
                  <a16:creationId xmlns:a16="http://schemas.microsoft.com/office/drawing/2014/main" id="{8FD319F9-A7BB-9826-1548-4895913B63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660776" y="4815312"/>
              <a:ext cx="1295149" cy="402376"/>
            </a:xfrm>
            <a:prstGeom prst="rect">
              <a:avLst/>
            </a:prstGeom>
          </p:spPr>
        </p:pic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7A330D86-DC9A-6903-F80D-79C8CF75B081}"/>
                </a:ext>
              </a:extLst>
            </p:cNvPr>
            <p:cNvSpPr txBox="1"/>
            <p:nvPr/>
          </p:nvSpPr>
          <p:spPr>
            <a:xfrm>
              <a:off x="2781300" y="4864100"/>
              <a:ext cx="1066800" cy="304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-US" sz="1599" b="0" i="0" u="none" strike="noStrike">
                  <a:solidFill>
                    <a:srgbClr val="4A5BA3"/>
                  </a:solidFill>
                  <a:latin typeface="Pretendard SemiBold"/>
                  <a:ea typeface="Pretendard SemiBold"/>
                  <a:cs typeface="Pretendard SemiBold"/>
                </a:rPr>
                <a:t>STEP 1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DE733E41-BD8B-3861-DD68-0AC475433BD4}"/>
              </a:ext>
            </a:extLst>
          </p:cNvPr>
          <p:cNvGrpSpPr/>
          <p:nvPr/>
        </p:nvGrpSpPr>
        <p:grpSpPr>
          <a:xfrm>
            <a:off x="7305172" y="4450659"/>
            <a:ext cx="3608812" cy="4941683"/>
            <a:chOff x="5390144" y="4457009"/>
            <a:chExt cx="3608812" cy="4941683"/>
          </a:xfrm>
        </p:grpSpPr>
        <p:pic>
          <p:nvPicPr>
            <p:cNvPr id="5" name="Picture 5">
              <a:extLst>
                <a:ext uri="{FF2B5EF4-FFF2-40B4-BE49-F238E27FC236}">
                  <a16:creationId xmlns:a16="http://schemas.microsoft.com/office/drawing/2014/main" id="{8FFB7142-5E0F-5551-6725-D9CDF4849F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390144" y="4457009"/>
              <a:ext cx="3608812" cy="4941683"/>
            </a:xfrm>
            <a:prstGeom prst="rect">
              <a:avLst/>
            </a:prstGeom>
          </p:spPr>
        </p:pic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922765C4-F255-87EF-C5F7-BEB88D6E5359}"/>
                </a:ext>
              </a:extLst>
            </p:cNvPr>
            <p:cNvSpPr txBox="1"/>
            <p:nvPr/>
          </p:nvSpPr>
          <p:spPr>
            <a:xfrm>
              <a:off x="5616481" y="6172200"/>
              <a:ext cx="3156139" cy="1028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24499"/>
                </a:lnSpc>
              </a:pPr>
              <a:r>
                <a:rPr lang="en-US" sz="1800" b="0" i="0" u="none" strike="noStrike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본격적인 실행에 앞서 현재 상황을 면밀히 진단하고 시장 조사 데이터를 분석하여 기재해 주세요.</a:t>
              </a: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BCF42111-6172-95C6-27A7-2DAB9F88A1C3}"/>
                </a:ext>
              </a:extLst>
            </p:cNvPr>
            <p:cNvSpPr txBox="1"/>
            <p:nvPr/>
          </p:nvSpPr>
          <p:spPr>
            <a:xfrm>
              <a:off x="5704501" y="5537200"/>
              <a:ext cx="2980099" cy="406400"/>
            </a:xfrm>
            <a:prstGeom prst="rect">
              <a:avLst/>
            </a:prstGeom>
          </p:spPr>
          <p:txBody>
            <a:bodyPr lIns="0" tIns="26670" rIns="0" bIns="2667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100" dirty="0" err="1">
                  <a:solidFill>
                    <a:srgbClr val="00074E"/>
                  </a:solidFill>
                  <a:latin typeface="Pretendard SemiBold"/>
                  <a:ea typeface="Pretendard SemiBold"/>
                  <a:cs typeface="Pretendard SemiBold"/>
                </a:rPr>
                <a:t>이</a:t>
              </a:r>
              <a:r>
                <a:rPr lang="ko-KR" altLang="en-US" sz="2100" b="0" i="0" u="none" strike="noStrike" dirty="0" err="1">
                  <a:solidFill>
                    <a:srgbClr val="00074E"/>
                  </a:solidFill>
                  <a:latin typeface="Pretendard SemiBold"/>
                  <a:ea typeface="Pretendard SemiBold"/>
                  <a:cs typeface="Pretendard SemiBold"/>
                </a:rPr>
                <a:t>변량</a:t>
              </a:r>
              <a:r>
                <a:rPr lang="ko-KR" altLang="en-US" sz="2100" b="0" i="0" u="none" strike="noStrike" dirty="0">
                  <a:solidFill>
                    <a:srgbClr val="00074E"/>
                  </a:solidFill>
                  <a:latin typeface="Pretendard SemiBold"/>
                  <a:ea typeface="Pretendard SemiBold"/>
                  <a:cs typeface="Pretendard SemiBold"/>
                </a:rPr>
                <a:t> 분석</a:t>
              </a:r>
              <a:endParaRPr lang="en-US" sz="2100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pic>
          <p:nvPicPr>
            <p:cNvPr id="24" name="Picture 24">
              <a:extLst>
                <a:ext uri="{FF2B5EF4-FFF2-40B4-BE49-F238E27FC236}">
                  <a16:creationId xmlns:a16="http://schemas.microsoft.com/office/drawing/2014/main" id="{392EF17D-5BEE-14F1-ABE1-D0D9748372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553200" y="4813300"/>
              <a:ext cx="1308100" cy="406400"/>
            </a:xfrm>
            <a:prstGeom prst="rect">
              <a:avLst/>
            </a:prstGeom>
          </p:spPr>
        </p:pic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AD0F55AD-77E0-9B93-72DE-9B3E6908F5CF}"/>
                </a:ext>
              </a:extLst>
            </p:cNvPr>
            <p:cNvSpPr txBox="1"/>
            <p:nvPr/>
          </p:nvSpPr>
          <p:spPr>
            <a:xfrm>
              <a:off x="6635059" y="4864100"/>
              <a:ext cx="1131683" cy="304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-US" sz="1599" b="0" i="0" u="none" strike="noStrike">
                  <a:solidFill>
                    <a:srgbClr val="4A5BA3"/>
                  </a:solidFill>
                  <a:latin typeface="Pretendard SemiBold"/>
                  <a:ea typeface="Pretendard SemiBold"/>
                  <a:cs typeface="Pretendard SemiBold"/>
                </a:rPr>
                <a:t>STEP 2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FC49D13-F556-E69B-4CD4-30A4BCD68F85}"/>
              </a:ext>
            </a:extLst>
          </p:cNvPr>
          <p:cNvGrpSpPr/>
          <p:nvPr/>
        </p:nvGrpSpPr>
        <p:grpSpPr>
          <a:xfrm>
            <a:off x="13106400" y="4450659"/>
            <a:ext cx="3608812" cy="4941683"/>
            <a:chOff x="9276344" y="4457009"/>
            <a:chExt cx="3608812" cy="4941683"/>
          </a:xfrm>
        </p:grpSpPr>
        <p:pic>
          <p:nvPicPr>
            <p:cNvPr id="6" name="Picture 6">
              <a:extLst>
                <a:ext uri="{FF2B5EF4-FFF2-40B4-BE49-F238E27FC236}">
                  <a16:creationId xmlns:a16="http://schemas.microsoft.com/office/drawing/2014/main" id="{9C5C0570-87C8-DFF1-5C95-ADBBBE8B34F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76344" y="4457009"/>
              <a:ext cx="3608812" cy="4941683"/>
            </a:xfrm>
            <a:prstGeom prst="rect">
              <a:avLst/>
            </a:prstGeom>
          </p:spPr>
        </p:pic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1E5139AE-4CB1-2E01-05D2-903461F0F1D2}"/>
                </a:ext>
              </a:extLst>
            </p:cNvPr>
            <p:cNvSpPr txBox="1"/>
            <p:nvPr/>
          </p:nvSpPr>
          <p:spPr>
            <a:xfrm>
              <a:off x="9502681" y="6172200"/>
              <a:ext cx="3156139" cy="1028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24499"/>
                </a:lnSpc>
              </a:pP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 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수립된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기획을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바탕으로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제품이나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 </a:t>
              </a:r>
            </a:p>
            <a:p>
              <a:pPr lvl="0" algn="ctr">
                <a:lnSpc>
                  <a:spcPct val="124499"/>
                </a:lnSpc>
              </a:pP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서비스를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제작하고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핵심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기능을</a:t>
              </a:r>
              <a:endParaRPr lang="en-US" sz="1800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endParaRPr>
            </a:p>
            <a:p>
              <a:pPr lvl="0" algn="ctr">
                <a:lnSpc>
                  <a:spcPct val="124499"/>
                </a:lnSpc>
              </a:pP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구현하는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실행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단계입니다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.</a:t>
              </a:r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DCDDB18D-26DE-BAA7-29C6-1F1021E0C591}"/>
                </a:ext>
              </a:extLst>
            </p:cNvPr>
            <p:cNvSpPr txBox="1"/>
            <p:nvPr/>
          </p:nvSpPr>
          <p:spPr>
            <a:xfrm>
              <a:off x="9603401" y="5537200"/>
              <a:ext cx="2980099" cy="406400"/>
            </a:xfrm>
            <a:prstGeom prst="rect">
              <a:avLst/>
            </a:prstGeom>
          </p:spPr>
          <p:txBody>
            <a:bodyPr lIns="0" tIns="26670" rIns="0" bIns="2667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100" b="0" i="0" u="none" strike="noStrike" dirty="0" err="1">
                  <a:solidFill>
                    <a:srgbClr val="00074E"/>
                  </a:solidFill>
                  <a:latin typeface="Pretendard SemiBold"/>
                  <a:ea typeface="Pretendard SemiBold"/>
                  <a:cs typeface="Pretendard SemiBold"/>
                </a:rPr>
                <a:t>다변량</a:t>
              </a:r>
              <a:r>
                <a:rPr lang="ko-KR" altLang="en-US" sz="2100" b="0" i="0" u="none" strike="noStrike" dirty="0">
                  <a:solidFill>
                    <a:srgbClr val="00074E"/>
                  </a:solidFill>
                  <a:latin typeface="Pretendard SemiBold"/>
                  <a:ea typeface="Pretendard SemiBold"/>
                  <a:cs typeface="Pretendard SemiBold"/>
                </a:rPr>
                <a:t> 분석</a:t>
              </a:r>
              <a:endParaRPr lang="en-US" sz="2100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pic>
          <p:nvPicPr>
            <p:cNvPr id="26" name="Picture 26">
              <a:extLst>
                <a:ext uri="{FF2B5EF4-FFF2-40B4-BE49-F238E27FC236}">
                  <a16:creationId xmlns:a16="http://schemas.microsoft.com/office/drawing/2014/main" id="{538C3833-9F21-8C80-DC4E-B331F557AF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45876" y="4815312"/>
              <a:ext cx="1295149" cy="402376"/>
            </a:xfrm>
            <a:prstGeom prst="rect">
              <a:avLst/>
            </a:prstGeom>
          </p:spPr>
        </p:pic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172A52CF-0E4F-1F1B-8D03-125411BBBCA0}"/>
                </a:ext>
              </a:extLst>
            </p:cNvPr>
            <p:cNvSpPr txBox="1"/>
            <p:nvPr/>
          </p:nvSpPr>
          <p:spPr>
            <a:xfrm>
              <a:off x="10477500" y="4864100"/>
              <a:ext cx="1219200" cy="304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-US" sz="1599" b="0" i="0" u="none" strike="noStrike">
                  <a:solidFill>
                    <a:srgbClr val="4A5BA3"/>
                  </a:solidFill>
                  <a:latin typeface="Pretendard SemiBold"/>
                  <a:ea typeface="Pretendard SemiBold"/>
                  <a:cs typeface="Pretendard SemiBold"/>
                </a:rPr>
                <a:t>STEP 3</a:t>
              </a:r>
            </a:p>
          </p:txBody>
        </p:sp>
      </p:grpSp>
      <p:sp>
        <p:nvSpPr>
          <p:cNvPr id="30" name="TextBox 30">
            <a:extLst>
              <a:ext uri="{FF2B5EF4-FFF2-40B4-BE49-F238E27FC236}">
                <a16:creationId xmlns:a16="http://schemas.microsoft.com/office/drawing/2014/main" id="{C131038F-552D-FB4A-2B1E-1EF854218154}"/>
              </a:ext>
            </a:extLst>
          </p:cNvPr>
          <p:cNvSpPr txBox="1"/>
          <p:nvPr/>
        </p:nvSpPr>
        <p:spPr>
          <a:xfrm>
            <a:off x="3022600" y="3060700"/>
            <a:ext cx="12230100" cy="723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프로젝트의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전체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흐름을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한눈에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파악할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수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있도록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구성된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페이지입니다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. </a:t>
            </a:r>
          </a:p>
          <a:p>
            <a:pPr lvl="0" algn="ctr">
              <a:lnSpc>
                <a:spcPct val="124499"/>
              </a:lnSpc>
            </a:pP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복잡한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업무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절차를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단계별로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단순화하여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보여주고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, 각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과정에서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수행해야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할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핵심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과업을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명확히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제시해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보세요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.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C5DF2C7-366E-859E-D293-2D32F99F9006}"/>
              </a:ext>
            </a:extLst>
          </p:cNvPr>
          <p:cNvSpPr txBox="1"/>
          <p:nvPr/>
        </p:nvSpPr>
        <p:spPr>
          <a:xfrm>
            <a:off x="5346700" y="1739900"/>
            <a:ext cx="75946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en-US" sz="5499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EDA</a:t>
            </a:r>
          </a:p>
        </p:txBody>
      </p:sp>
    </p:spTree>
    <p:extLst>
      <p:ext uri="{BB962C8B-B14F-4D97-AF65-F5344CB8AC3E}">
        <p14:creationId xmlns:p14="http://schemas.microsoft.com/office/powerpoint/2010/main" val="170767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EC1DE3-574F-E298-C3D2-7184AB3EB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7834BEA-2E06-433F-D294-B7D851DD9B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408639A4-9EAB-891C-1D59-3EE5A70916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41D5A496-8A7C-DE59-8BB5-EFFF19FB2D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433DD99B-7532-C23D-0EF1-C082C0562023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03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2E3091C1-3908-ED80-2CC3-7A4650EE5C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432300"/>
            <a:ext cx="17056100" cy="5295900"/>
          </a:xfrm>
          <a:prstGeom prst="rect">
            <a:avLst/>
          </a:prstGeom>
        </p:spPr>
      </p:pic>
      <p:sp>
        <p:nvSpPr>
          <p:cNvPr id="42" name="TextBox 42">
            <a:extLst>
              <a:ext uri="{FF2B5EF4-FFF2-40B4-BE49-F238E27FC236}">
                <a16:creationId xmlns:a16="http://schemas.microsoft.com/office/drawing/2014/main" id="{5DA36A9F-DAD9-FC49-B93E-BC656EC182B7}"/>
              </a:ext>
            </a:extLst>
          </p:cNvPr>
          <p:cNvSpPr txBox="1"/>
          <p:nvPr/>
        </p:nvSpPr>
        <p:spPr>
          <a:xfrm>
            <a:off x="5346700" y="571500"/>
            <a:ext cx="75946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499" b="0" i="0" u="none" strike="noStrike" dirty="0" err="1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단변량</a:t>
            </a:r>
            <a:endParaRPr lang="en-US" sz="5499" b="0" i="0" u="none" strike="noStrike" dirty="0">
              <a:solidFill>
                <a:srgbClr val="00074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5588A2-1F52-B167-C553-190D33EA8D31}"/>
              </a:ext>
            </a:extLst>
          </p:cNvPr>
          <p:cNvSpPr txBox="1"/>
          <p:nvPr/>
        </p:nvSpPr>
        <p:spPr>
          <a:xfrm>
            <a:off x="3989413" y="2257093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채널 </a:t>
            </a:r>
            <a:r>
              <a:rPr lang="en-US" altLang="ko-KR" dirty="0"/>
              <a:t>0, 1 </a:t>
            </a:r>
            <a:r>
              <a:rPr lang="ko-KR" altLang="en-US" dirty="0"/>
              <a:t>개수 및 기준선정리</a:t>
            </a:r>
          </a:p>
        </p:txBody>
      </p:sp>
      <p:sp>
        <p:nvSpPr>
          <p:cNvPr id="17" name="원형: 비어 있음 16">
            <a:extLst>
              <a:ext uri="{FF2B5EF4-FFF2-40B4-BE49-F238E27FC236}">
                <a16:creationId xmlns:a16="http://schemas.microsoft.com/office/drawing/2014/main" id="{2B6F5506-4469-E3DB-FF38-E0AD6D8D272A}"/>
              </a:ext>
            </a:extLst>
          </p:cNvPr>
          <p:cNvSpPr/>
          <p:nvPr/>
        </p:nvSpPr>
        <p:spPr>
          <a:xfrm rot="10800000" flipH="1" flipV="1">
            <a:off x="879047" y="1966078"/>
            <a:ext cx="3093306" cy="2857501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여기에 </a:t>
            </a:r>
            <a:r>
              <a:rPr lang="en-US" altLang="ko-KR" dirty="0">
                <a:solidFill>
                  <a:schemeClr val="tx1"/>
                </a:solidFill>
              </a:rPr>
              <a:t>Channel </a:t>
            </a:r>
            <a:r>
              <a:rPr lang="ko-KR" altLang="en-US" dirty="0">
                <a:solidFill>
                  <a:schemeClr val="tx1"/>
                </a:solidFill>
              </a:rPr>
              <a:t>비율</a:t>
            </a:r>
          </a:p>
        </p:txBody>
      </p:sp>
    </p:spTree>
    <p:extLst>
      <p:ext uri="{BB962C8B-B14F-4D97-AF65-F5344CB8AC3E}">
        <p14:creationId xmlns:p14="http://schemas.microsoft.com/office/powerpoint/2010/main" val="3373635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4E2B54-B040-9D83-CA69-B758A268C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9A4C76C-B7B2-CDC5-A700-0E1D279F77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84D83FF1-294C-9CD9-3CD8-0E26A43757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C31A893B-1D85-A9CF-13D4-61D3D4E8BC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B6263F6E-6EE4-D273-8719-074F622C9C1B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03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22901F48-B17A-8F95-663A-CB4B333602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432300"/>
            <a:ext cx="17056100" cy="5295900"/>
          </a:xfrm>
          <a:prstGeom prst="rect">
            <a:avLst/>
          </a:prstGeom>
        </p:spPr>
      </p:pic>
      <p:sp>
        <p:nvSpPr>
          <p:cNvPr id="42" name="TextBox 42">
            <a:extLst>
              <a:ext uri="{FF2B5EF4-FFF2-40B4-BE49-F238E27FC236}">
                <a16:creationId xmlns:a16="http://schemas.microsoft.com/office/drawing/2014/main" id="{90222D5C-3056-9BBD-0F82-5E8C40D47025}"/>
              </a:ext>
            </a:extLst>
          </p:cNvPr>
          <p:cNvSpPr txBox="1"/>
          <p:nvPr/>
        </p:nvSpPr>
        <p:spPr>
          <a:xfrm>
            <a:off x="5346700" y="571500"/>
            <a:ext cx="75946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499" b="0" i="0" u="none" strike="noStrike" dirty="0" err="1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단변량</a:t>
            </a:r>
            <a:endParaRPr lang="en-US" sz="5499" b="0" i="0" u="none" strike="noStrike" dirty="0">
              <a:solidFill>
                <a:srgbClr val="00074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B1A370-4E29-0815-D272-E95AC0C75435}"/>
              </a:ext>
            </a:extLst>
          </p:cNvPr>
          <p:cNvSpPr txBox="1"/>
          <p:nvPr/>
        </p:nvSpPr>
        <p:spPr>
          <a:xfrm>
            <a:off x="1574800" y="2439768"/>
            <a:ext cx="4343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 err="1"/>
              <a:t>그래프그리기</a:t>
            </a:r>
            <a:r>
              <a:rPr lang="ko-KR" altLang="en-US" dirty="0"/>
              <a:t> </a:t>
            </a:r>
            <a:r>
              <a:rPr lang="en-US" altLang="ko-KR" dirty="0"/>
              <a:t>(6</a:t>
            </a:r>
            <a:r>
              <a:rPr lang="ko-KR" altLang="en-US" dirty="0"/>
              <a:t>개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표로 정의 끝내기</a:t>
            </a:r>
            <a:endParaRPr lang="en-US" altLang="ko-KR" dirty="0"/>
          </a:p>
          <a:p>
            <a:r>
              <a:rPr lang="ko-KR" altLang="en-US" dirty="0"/>
              <a:t>표는 </a:t>
            </a:r>
            <a:r>
              <a:rPr lang="en-US" altLang="ko-KR" dirty="0"/>
              <a:t>std/mean/median/min/max/skew/</a:t>
            </a:r>
            <a:r>
              <a:rPr lang="en-US" altLang="ko-KR" dirty="0" err="1"/>
              <a:t>kurt</a:t>
            </a:r>
            <a:endParaRPr lang="en-US" altLang="ko-KR" dirty="0"/>
          </a:p>
          <a:p>
            <a:r>
              <a:rPr lang="ko-KR" altLang="en-US" dirty="0" err="1"/>
              <a:t>표로할거면</a:t>
            </a:r>
            <a:r>
              <a:rPr lang="ko-KR" altLang="en-US" dirty="0"/>
              <a:t> 앞에 종속변수와 합치기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F5B6A1-1A6B-AD2D-F955-26653098C227}"/>
              </a:ext>
            </a:extLst>
          </p:cNvPr>
          <p:cNvSpPr txBox="1"/>
          <p:nvPr/>
        </p:nvSpPr>
        <p:spPr>
          <a:xfrm>
            <a:off x="12435859" y="2439768"/>
            <a:ext cx="4343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그래프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94CB87-02DA-D44B-C34D-5B1D6FDB9352}"/>
              </a:ext>
            </a:extLst>
          </p:cNvPr>
          <p:cNvSpPr txBox="1"/>
          <p:nvPr/>
        </p:nvSpPr>
        <p:spPr>
          <a:xfrm>
            <a:off x="6705600" y="2439768"/>
            <a:ext cx="4343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그래프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ㅇ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0732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6BAFEC-DF01-665C-774D-3212D7159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F6D1666-B7B8-A737-A4B1-72F6654498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2AF93942-6059-0432-B233-7A1B663850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7401CCE6-922F-A02F-BD75-B5CA630EE2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DD3F0DB7-5272-5AED-CE73-3C3420E03A9F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03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3B89DC8E-787F-D7E7-74AC-3E130243FC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432300"/>
            <a:ext cx="17056100" cy="5295900"/>
          </a:xfrm>
          <a:prstGeom prst="rect">
            <a:avLst/>
          </a:prstGeom>
        </p:spPr>
      </p:pic>
      <p:sp>
        <p:nvSpPr>
          <p:cNvPr id="42" name="TextBox 42">
            <a:extLst>
              <a:ext uri="{FF2B5EF4-FFF2-40B4-BE49-F238E27FC236}">
                <a16:creationId xmlns:a16="http://schemas.microsoft.com/office/drawing/2014/main" id="{89BF37BB-9FC0-1FA6-308E-180C415FD5FC}"/>
              </a:ext>
            </a:extLst>
          </p:cNvPr>
          <p:cNvSpPr txBox="1"/>
          <p:nvPr/>
        </p:nvSpPr>
        <p:spPr>
          <a:xfrm>
            <a:off x="5346700" y="571500"/>
            <a:ext cx="75946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499" dirty="0" err="1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이</a:t>
            </a:r>
            <a:r>
              <a:rPr lang="ko-KR" altLang="en-US" sz="5499" b="0" i="0" u="none" strike="noStrike" dirty="0" err="1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변량</a:t>
            </a:r>
            <a:endParaRPr lang="en-US" sz="5499" b="0" i="0" u="none" strike="noStrike" dirty="0">
              <a:solidFill>
                <a:srgbClr val="00074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94BE75-6B7D-990B-2AC9-02B18826D193}"/>
              </a:ext>
            </a:extLst>
          </p:cNvPr>
          <p:cNvSpPr txBox="1"/>
          <p:nvPr/>
        </p:nvSpPr>
        <p:spPr>
          <a:xfrm>
            <a:off x="1384300" y="2199153"/>
            <a:ext cx="4343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이변량은</a:t>
            </a:r>
            <a:r>
              <a:rPr lang="ko-KR" altLang="en-US" dirty="0"/>
              <a:t> 어떻게 진행</a:t>
            </a:r>
            <a:r>
              <a:rPr lang="en-US" altLang="ko-KR" dirty="0"/>
              <a:t>? </a:t>
            </a:r>
            <a:r>
              <a:rPr lang="ko-KR" altLang="en-US" dirty="0"/>
              <a:t>솔직히 모르겠음 </a:t>
            </a:r>
            <a:r>
              <a:rPr lang="ko-KR" altLang="en-US" dirty="0" err="1"/>
              <a:t>제일어려운</a:t>
            </a:r>
            <a:r>
              <a:rPr lang="ko-KR" altLang="en-US" dirty="0"/>
              <a:t> 파트</a:t>
            </a:r>
            <a:br>
              <a:rPr lang="en-US" altLang="ko-KR" dirty="0"/>
            </a:br>
            <a:r>
              <a:rPr lang="en-US" altLang="ko-KR" dirty="0"/>
              <a:t> - boxplot </a:t>
            </a:r>
            <a:r>
              <a:rPr lang="ko-KR" altLang="en-US" dirty="0"/>
              <a:t>채널</a:t>
            </a:r>
            <a:r>
              <a:rPr lang="en-US" altLang="ko-KR" dirty="0"/>
              <a:t>1,2 </a:t>
            </a:r>
            <a:r>
              <a:rPr lang="ko-KR" altLang="en-US" dirty="0" err="1"/>
              <a:t>나뉜거</a:t>
            </a:r>
            <a:r>
              <a:rPr lang="ko-KR" altLang="en-US" dirty="0"/>
              <a:t> 이미지 넣고</a:t>
            </a:r>
            <a:r>
              <a:rPr lang="en-US" altLang="ko-KR" dirty="0"/>
              <a:t>, </a:t>
            </a:r>
            <a:r>
              <a:rPr lang="ko-KR" altLang="en-US" dirty="0"/>
              <a:t>표로 정리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45342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4B91B3-66D1-51EF-3BBE-B4BCF957D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9EF9C69-53CE-A75F-92A6-1A1AFAB371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57AE5FF-A563-08D6-E1F8-42FCA09E66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E85572D7-7551-8F9C-72F7-4438F3F8D1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DEE00AA1-D0FC-C108-9C19-4E98042E50D4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03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D5C61993-1A57-4166-DCE6-0BEF7019F8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432300"/>
            <a:ext cx="17056100" cy="5295900"/>
          </a:xfrm>
          <a:prstGeom prst="rect">
            <a:avLst/>
          </a:prstGeom>
        </p:spPr>
      </p:pic>
      <p:sp>
        <p:nvSpPr>
          <p:cNvPr id="42" name="TextBox 42">
            <a:extLst>
              <a:ext uri="{FF2B5EF4-FFF2-40B4-BE49-F238E27FC236}">
                <a16:creationId xmlns:a16="http://schemas.microsoft.com/office/drawing/2014/main" id="{0224DD6B-EF15-9701-B7D8-B030E5E5F65A}"/>
              </a:ext>
            </a:extLst>
          </p:cNvPr>
          <p:cNvSpPr txBox="1"/>
          <p:nvPr/>
        </p:nvSpPr>
        <p:spPr>
          <a:xfrm>
            <a:off x="5346700" y="571500"/>
            <a:ext cx="75946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499" dirty="0" err="1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다</a:t>
            </a:r>
            <a:r>
              <a:rPr lang="ko-KR" altLang="en-US" sz="5499" b="0" i="0" u="none" strike="noStrike" dirty="0" err="1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변량</a:t>
            </a:r>
            <a:endParaRPr lang="en-US" sz="5499" b="0" i="0" u="none" strike="noStrike" dirty="0">
              <a:solidFill>
                <a:srgbClr val="00074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1C5782-5FDB-88C9-C4F5-A7154A3FB5C3}"/>
              </a:ext>
            </a:extLst>
          </p:cNvPr>
          <p:cNvSpPr txBox="1"/>
          <p:nvPr/>
        </p:nvSpPr>
        <p:spPr>
          <a:xfrm>
            <a:off x="1676400" y="2199153"/>
            <a:ext cx="434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채널별 상관계수</a:t>
            </a:r>
            <a:endParaRPr lang="en-US" altLang="ko-KR" dirty="0"/>
          </a:p>
          <a:p>
            <a:r>
              <a:rPr lang="ko-KR" altLang="en-US" dirty="0" err="1"/>
              <a:t>히트맵넣기</a:t>
            </a:r>
            <a:r>
              <a:rPr lang="en-US" altLang="ko-KR" dirty="0"/>
              <a:t>(2</a:t>
            </a:r>
            <a:r>
              <a:rPr lang="ko-KR" altLang="en-US" dirty="0"/>
              <a:t>종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9790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E8ECE2-6E84-6A92-42D2-01C7FBBBA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586E834-E692-F29A-4380-359A6629AF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31E7FEFC-2D4F-12D6-1270-E65A29297C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174C316B-5A23-5631-2891-925FDB1D7B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D1A52014-5B1F-0F95-FB01-C4031D6DCB50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b="0" i="0" u="none" strike="noStrike" cap="all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03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9EF20CDC-8AD1-6BD2-D5AB-FB404F936A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-5400000">
            <a:off x="5753100" y="-304800"/>
            <a:ext cx="1320800" cy="87884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3138E7ED-1532-E222-3934-D27570C854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-5400000">
            <a:off x="5778500" y="1155700"/>
            <a:ext cx="1320800" cy="87884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B7DEAA60-DC84-4ADD-917A-CFD55D6AC8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-5400000">
            <a:off x="5778500" y="2616200"/>
            <a:ext cx="1320800" cy="87884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87750507-AE72-0558-00A2-1C988F5AC3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-5400000">
            <a:off x="5778500" y="4076700"/>
            <a:ext cx="1320800" cy="87884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73D841A9-ED64-EDB2-2D12-5C21E1A011A9}"/>
              </a:ext>
            </a:extLst>
          </p:cNvPr>
          <p:cNvSpPr txBox="1"/>
          <p:nvPr/>
        </p:nvSpPr>
        <p:spPr>
          <a:xfrm>
            <a:off x="2540000" y="3771900"/>
            <a:ext cx="41783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1. </a:t>
            </a:r>
            <a:r>
              <a:rPr lang="ko-KR" altLang="en-US" sz="2000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로그변환 및 스케일링</a:t>
            </a:r>
            <a:endParaRPr lang="en-US" sz="2000" b="0" i="0" u="none" strike="noStrike" dirty="0">
              <a:solidFill>
                <a:srgbClr val="00074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801614A-7502-BF12-77CD-AAFB3F91B00D}"/>
              </a:ext>
            </a:extLst>
          </p:cNvPr>
          <p:cNvSpPr txBox="1"/>
          <p:nvPr/>
        </p:nvSpPr>
        <p:spPr>
          <a:xfrm>
            <a:off x="2540000" y="4241800"/>
            <a:ext cx="57531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473" lvl="1" indent="-228473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7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주제에 대한 세부내용을 간략하게 입력해주세요.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1523645-5C2F-8050-9842-C8265A0BFEC7}"/>
              </a:ext>
            </a:extLst>
          </p:cNvPr>
          <p:cNvSpPr txBox="1"/>
          <p:nvPr/>
        </p:nvSpPr>
        <p:spPr>
          <a:xfrm>
            <a:off x="2540000" y="5651500"/>
            <a:ext cx="60325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473" lvl="1" indent="-228473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7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주제에</a:t>
            </a:r>
            <a:r>
              <a:rPr lang="en-US" sz="17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7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대한</a:t>
            </a:r>
            <a:r>
              <a:rPr lang="en-US" sz="17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7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세부내용을</a:t>
            </a:r>
            <a:r>
              <a:rPr lang="en-US" sz="17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7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간략하게</a:t>
            </a:r>
            <a:r>
              <a:rPr lang="en-US" sz="17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7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입력해주세요</a:t>
            </a:r>
            <a:r>
              <a:rPr lang="en-US" sz="17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4CA7BFC-B9E6-6102-2324-1005B41B7670}"/>
              </a:ext>
            </a:extLst>
          </p:cNvPr>
          <p:cNvSpPr txBox="1"/>
          <p:nvPr/>
        </p:nvSpPr>
        <p:spPr>
          <a:xfrm>
            <a:off x="2540000" y="5194300"/>
            <a:ext cx="41783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2. PCA (</a:t>
            </a:r>
            <a:r>
              <a:rPr lang="ko-KR" altLang="en-US" sz="2000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차원축소</a:t>
            </a:r>
            <a:r>
              <a:rPr lang="en-US" altLang="ko-KR" sz="2000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endParaRPr lang="en-US" sz="2000" b="0" i="0" u="none" strike="noStrike" dirty="0">
              <a:solidFill>
                <a:srgbClr val="00074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51957F5-796B-B1BC-B0CF-C424A54476FB}"/>
              </a:ext>
            </a:extLst>
          </p:cNvPr>
          <p:cNvSpPr txBox="1"/>
          <p:nvPr/>
        </p:nvSpPr>
        <p:spPr>
          <a:xfrm>
            <a:off x="2540000" y="7150100"/>
            <a:ext cx="59817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473" lvl="1" indent="-228473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7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주제에</a:t>
            </a:r>
            <a:r>
              <a:rPr lang="en-US" sz="17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7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대한</a:t>
            </a:r>
            <a:r>
              <a:rPr lang="en-US" sz="17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7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세부내용을</a:t>
            </a:r>
            <a:r>
              <a:rPr lang="en-US" sz="17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7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간략하게</a:t>
            </a:r>
            <a:r>
              <a:rPr lang="en-US" sz="17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7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입력해주세요</a:t>
            </a:r>
            <a:r>
              <a:rPr lang="en-US" sz="17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.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ECAAB4B-F076-E310-9A5F-A23DCF8ABAF2}"/>
              </a:ext>
            </a:extLst>
          </p:cNvPr>
          <p:cNvSpPr txBox="1"/>
          <p:nvPr/>
        </p:nvSpPr>
        <p:spPr>
          <a:xfrm>
            <a:off x="2540000" y="6680200"/>
            <a:ext cx="41783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3. </a:t>
            </a:r>
            <a:r>
              <a:rPr lang="ko-KR" altLang="en-US" sz="2000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최종 채택 변수</a:t>
            </a:r>
            <a:endParaRPr lang="en-US" sz="2000" b="0" i="0" u="none" strike="noStrike" dirty="0">
              <a:solidFill>
                <a:srgbClr val="00074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F238439-B46F-89B9-95D2-90779A08F936}"/>
              </a:ext>
            </a:extLst>
          </p:cNvPr>
          <p:cNvSpPr txBox="1"/>
          <p:nvPr/>
        </p:nvSpPr>
        <p:spPr>
          <a:xfrm>
            <a:off x="2540000" y="8610600"/>
            <a:ext cx="48260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473" lvl="1" indent="-228473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7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주제에 대한 세부내용을 간략하게 입력해주세요.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2A51822-9AE3-1106-5BA9-388A0F2EA792}"/>
              </a:ext>
            </a:extLst>
          </p:cNvPr>
          <p:cNvSpPr txBox="1"/>
          <p:nvPr/>
        </p:nvSpPr>
        <p:spPr>
          <a:xfrm>
            <a:off x="2540000" y="8140700"/>
            <a:ext cx="41783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키워드에 대해 입력해주세요.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384095C-2002-D08D-948E-E7D9CC354DEC}"/>
              </a:ext>
            </a:extLst>
          </p:cNvPr>
          <p:cNvSpPr txBox="1"/>
          <p:nvPr/>
        </p:nvSpPr>
        <p:spPr>
          <a:xfrm>
            <a:off x="3238500" y="606378"/>
            <a:ext cx="7594600" cy="1003300"/>
          </a:xfrm>
          <a:prstGeom prst="rect">
            <a:avLst/>
          </a:prstGeom>
        </p:spPr>
        <p:txBody>
          <a:bodyPr lIns="0" tIns="69848" rIns="0" bIns="69848" rtlCol="0" anchor="ctr"/>
          <a:lstStyle/>
          <a:p>
            <a:pPr lvl="0" algn="ctr">
              <a:lnSpc>
                <a:spcPct val="99600"/>
              </a:lnSpc>
            </a:pPr>
            <a:r>
              <a:rPr lang="en-US" sz="5499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EDA </a:t>
            </a:r>
            <a:r>
              <a:rPr lang="ko-KR" altLang="en-US" sz="5499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종합 인사이트</a:t>
            </a:r>
            <a:endParaRPr lang="en-US" sz="5499" b="0" i="0" u="none" strike="noStrike" dirty="0">
              <a:solidFill>
                <a:srgbClr val="00074E"/>
              </a:solidFill>
              <a:latin typeface="Pretendard SemiBold"/>
              <a:ea typeface="Pretendard SemiBold"/>
              <a:cs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301604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02D454-97CE-B93E-00C4-AEDF880F1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16734CC-51FD-6870-B22A-8D6B965FFE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5F9974EC-0431-E985-B91E-9EE12A5FEE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20" name="Picture 20">
            <a:extLst>
              <a:ext uri="{FF2B5EF4-FFF2-40B4-BE49-F238E27FC236}">
                <a16:creationId xmlns:a16="http://schemas.microsoft.com/office/drawing/2014/main" id="{0BF06CA2-2C4E-E0B3-F684-B4C15A9260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1F76530A-6429-D596-7262-4EDBADB7EF5E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b="0" i="0" u="none" strike="noStrike" cap="all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04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61AF6DC-A5EA-5E5E-1008-A4702E149107}"/>
              </a:ext>
            </a:extLst>
          </p:cNvPr>
          <p:cNvGrpSpPr/>
          <p:nvPr/>
        </p:nvGrpSpPr>
        <p:grpSpPr>
          <a:xfrm>
            <a:off x="1485900" y="4419600"/>
            <a:ext cx="3644900" cy="4991100"/>
            <a:chOff x="1485900" y="4419600"/>
            <a:chExt cx="3644900" cy="4991100"/>
          </a:xfrm>
        </p:grpSpPr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051E9A7E-C9C7-D2F0-9BED-EE6B600478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85900" y="4419600"/>
              <a:ext cx="3644900" cy="4991100"/>
            </a:xfrm>
            <a:prstGeom prst="rect">
              <a:avLst/>
            </a:prstGeom>
          </p:spPr>
        </p:pic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23A742EF-7440-EC6D-3884-FDC4C83BDD15}"/>
                </a:ext>
              </a:extLst>
            </p:cNvPr>
            <p:cNvSpPr txBox="1"/>
            <p:nvPr/>
          </p:nvSpPr>
          <p:spPr>
            <a:xfrm>
              <a:off x="1816100" y="5537200"/>
              <a:ext cx="2984500" cy="406400"/>
            </a:xfrm>
            <a:prstGeom prst="rect">
              <a:avLst/>
            </a:prstGeom>
          </p:spPr>
          <p:txBody>
            <a:bodyPr lIns="0" tIns="26670" rIns="0" bIns="2667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100" b="0" i="0" u="none" strike="noStrike" dirty="0">
                  <a:solidFill>
                    <a:srgbClr val="00074E"/>
                  </a:solidFill>
                  <a:latin typeface="Pretendard SemiBold"/>
                  <a:ea typeface="Pretendard SemiBold"/>
                  <a:cs typeface="Pretendard SemiBold"/>
                </a:rPr>
                <a:t> </a:t>
              </a:r>
              <a:r>
                <a:rPr lang="ko-KR" altLang="en-US" sz="2100" b="0" i="0" u="none" strike="noStrike" dirty="0">
                  <a:solidFill>
                    <a:srgbClr val="00074E"/>
                  </a:solidFill>
                  <a:latin typeface="Pretendard SemiBold"/>
                  <a:ea typeface="Pretendard SemiBold"/>
                  <a:cs typeface="Pretendard SemiBold"/>
                </a:rPr>
                <a:t>로그변환 </a:t>
              </a:r>
              <a:r>
                <a:rPr lang="en-US" altLang="ko-KR" sz="2100" b="0" i="0" u="none" strike="noStrike" dirty="0">
                  <a:solidFill>
                    <a:srgbClr val="00074E"/>
                  </a:solidFill>
                  <a:latin typeface="Pretendard SemiBold"/>
                  <a:ea typeface="Pretendard SemiBold"/>
                  <a:cs typeface="Pretendard SemiBold"/>
                </a:rPr>
                <a:t>&amp; </a:t>
              </a:r>
              <a:r>
                <a:rPr lang="ko-KR" altLang="en-US" sz="2100" b="0" i="0" u="none" strike="noStrike" dirty="0">
                  <a:solidFill>
                    <a:srgbClr val="00074E"/>
                  </a:solidFill>
                  <a:latin typeface="Pretendard SemiBold"/>
                  <a:ea typeface="Pretendard SemiBold"/>
                  <a:cs typeface="Pretendard SemiBold"/>
                </a:rPr>
                <a:t>스케일링</a:t>
              </a:r>
              <a:endParaRPr lang="en-US" sz="2100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EF5B1B13-C65A-4157-B1F6-6393F1087D4C}"/>
                </a:ext>
              </a:extLst>
            </p:cNvPr>
            <p:cNvSpPr txBox="1"/>
            <p:nvPr/>
          </p:nvSpPr>
          <p:spPr>
            <a:xfrm>
              <a:off x="1714500" y="6172200"/>
              <a:ext cx="3187700" cy="1028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24499"/>
                </a:lnSpc>
              </a:pP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 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프로젝트의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시작을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알리는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첫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번째</a:t>
              </a:r>
              <a:endParaRPr lang="en-US" sz="1800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endParaRPr>
            </a:p>
            <a:p>
              <a:pPr lvl="0" algn="ctr">
                <a:lnSpc>
                  <a:spcPct val="124499"/>
                </a:lnSpc>
              </a:pP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단계로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기획의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배경이나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추진</a:t>
              </a:r>
              <a:endParaRPr lang="en-US" sz="1800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endParaRPr>
            </a:p>
            <a:p>
              <a:pPr lvl="0" algn="ctr">
                <a:lnSpc>
                  <a:spcPct val="124499"/>
                </a:lnSpc>
              </a:pP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목적을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명확하게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보여줘야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해요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.</a:t>
              </a:r>
            </a:p>
          </p:txBody>
        </p:sp>
        <p:pic>
          <p:nvPicPr>
            <p:cNvPr id="22" name="Picture 22">
              <a:extLst>
                <a:ext uri="{FF2B5EF4-FFF2-40B4-BE49-F238E27FC236}">
                  <a16:creationId xmlns:a16="http://schemas.microsoft.com/office/drawing/2014/main" id="{CFC968E0-F3C4-A806-A819-524846364E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654300" y="4813300"/>
              <a:ext cx="1308100" cy="406400"/>
            </a:xfrm>
            <a:prstGeom prst="rect">
              <a:avLst/>
            </a:prstGeom>
          </p:spPr>
        </p:pic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2E50B8A4-0F3E-1B8F-2808-AB129E959414}"/>
                </a:ext>
              </a:extLst>
            </p:cNvPr>
            <p:cNvSpPr txBox="1"/>
            <p:nvPr/>
          </p:nvSpPr>
          <p:spPr>
            <a:xfrm>
              <a:off x="2781300" y="4864100"/>
              <a:ext cx="1066800" cy="304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-US" sz="1599" b="0" i="0" u="none" strike="noStrike">
                  <a:solidFill>
                    <a:srgbClr val="4A5BA3"/>
                  </a:solidFill>
                  <a:latin typeface="Pretendard SemiBold"/>
                  <a:ea typeface="Pretendard SemiBold"/>
                  <a:cs typeface="Pretendard SemiBold"/>
                </a:rPr>
                <a:t>STEP 1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1C0A1FB-4700-3BB9-654B-08F71F0AD163}"/>
              </a:ext>
            </a:extLst>
          </p:cNvPr>
          <p:cNvGrpSpPr/>
          <p:nvPr/>
        </p:nvGrpSpPr>
        <p:grpSpPr>
          <a:xfrm>
            <a:off x="5372100" y="4432300"/>
            <a:ext cx="3644900" cy="4991100"/>
            <a:chOff x="5372100" y="4432300"/>
            <a:chExt cx="3644900" cy="4991100"/>
          </a:xfrm>
        </p:grpSpPr>
        <p:pic>
          <p:nvPicPr>
            <p:cNvPr id="5" name="Picture 5">
              <a:extLst>
                <a:ext uri="{FF2B5EF4-FFF2-40B4-BE49-F238E27FC236}">
                  <a16:creationId xmlns:a16="http://schemas.microsoft.com/office/drawing/2014/main" id="{F022CAA6-2BB5-DB85-58DC-91C2568208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372100" y="4432300"/>
              <a:ext cx="3644900" cy="4991100"/>
            </a:xfrm>
            <a:prstGeom prst="rect">
              <a:avLst/>
            </a:prstGeom>
          </p:spPr>
        </p:pic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D8DB58C0-074E-D5F8-327A-ACB4A73F63D4}"/>
                </a:ext>
              </a:extLst>
            </p:cNvPr>
            <p:cNvSpPr txBox="1"/>
            <p:nvPr/>
          </p:nvSpPr>
          <p:spPr>
            <a:xfrm>
              <a:off x="5600700" y="6172200"/>
              <a:ext cx="3187700" cy="1028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24499"/>
                </a:lnSpc>
              </a:pP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본격적인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실행에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앞서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현재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상황을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면밀히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진단하고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시장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조사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데이터를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분석하여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기재해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주세요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.</a:t>
              </a: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BE9E48DD-1822-5F3E-A25C-65E6701EE985}"/>
                </a:ext>
              </a:extLst>
            </p:cNvPr>
            <p:cNvSpPr txBox="1"/>
            <p:nvPr/>
          </p:nvSpPr>
          <p:spPr>
            <a:xfrm>
              <a:off x="5689600" y="5537200"/>
              <a:ext cx="3009900" cy="406400"/>
            </a:xfrm>
            <a:prstGeom prst="rect">
              <a:avLst/>
            </a:prstGeom>
          </p:spPr>
          <p:txBody>
            <a:bodyPr lIns="0" tIns="26670" rIns="0" bIns="2667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100" dirty="0">
                  <a:solidFill>
                    <a:srgbClr val="00074E"/>
                  </a:solidFill>
                  <a:latin typeface="Pretendard SemiBold"/>
                  <a:ea typeface="Pretendard SemiBold"/>
                  <a:cs typeface="Pretendard SemiBold"/>
                </a:rPr>
                <a:t>PCA (</a:t>
              </a:r>
              <a:r>
                <a:rPr lang="ko-KR" altLang="en-US" sz="2100" dirty="0">
                  <a:solidFill>
                    <a:srgbClr val="00074E"/>
                  </a:solidFill>
                  <a:latin typeface="Pretendard SemiBold"/>
                  <a:ea typeface="Pretendard SemiBold"/>
                  <a:cs typeface="Pretendard SemiBold"/>
                </a:rPr>
                <a:t>차원축소</a:t>
              </a:r>
              <a:r>
                <a:rPr lang="en-US" altLang="ko-KR" sz="2100" dirty="0">
                  <a:solidFill>
                    <a:srgbClr val="00074E"/>
                  </a:solidFill>
                  <a:latin typeface="Pretendard SemiBold"/>
                  <a:ea typeface="Pretendard SemiBold"/>
                  <a:cs typeface="Pretendard SemiBold"/>
                </a:rPr>
                <a:t>)</a:t>
              </a:r>
              <a:endParaRPr lang="en-US" sz="2100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pic>
          <p:nvPicPr>
            <p:cNvPr id="24" name="Picture 24">
              <a:extLst>
                <a:ext uri="{FF2B5EF4-FFF2-40B4-BE49-F238E27FC236}">
                  <a16:creationId xmlns:a16="http://schemas.microsoft.com/office/drawing/2014/main" id="{249210AA-3314-02D0-BEE3-CB8EA09D1B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553200" y="4813300"/>
              <a:ext cx="1308100" cy="406400"/>
            </a:xfrm>
            <a:prstGeom prst="rect">
              <a:avLst/>
            </a:prstGeom>
          </p:spPr>
        </p:pic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679F784-2D12-0E4E-5A07-74EDDC01A1B3}"/>
                </a:ext>
              </a:extLst>
            </p:cNvPr>
            <p:cNvSpPr txBox="1"/>
            <p:nvPr/>
          </p:nvSpPr>
          <p:spPr>
            <a:xfrm>
              <a:off x="6629400" y="4864100"/>
              <a:ext cx="1143000" cy="304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-US" sz="1599" b="0" i="0" u="none" strike="noStrike">
                  <a:solidFill>
                    <a:srgbClr val="4A5BA3"/>
                  </a:solidFill>
                  <a:latin typeface="Pretendard SemiBold"/>
                  <a:ea typeface="Pretendard SemiBold"/>
                  <a:cs typeface="Pretendard SemiBold"/>
                </a:rPr>
                <a:t>STEP 2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32BE34B-E020-AD19-00D3-A50551686C72}"/>
              </a:ext>
            </a:extLst>
          </p:cNvPr>
          <p:cNvGrpSpPr/>
          <p:nvPr/>
        </p:nvGrpSpPr>
        <p:grpSpPr>
          <a:xfrm>
            <a:off x="9258300" y="4432300"/>
            <a:ext cx="3644900" cy="4991100"/>
            <a:chOff x="9258300" y="4432300"/>
            <a:chExt cx="3644900" cy="4991100"/>
          </a:xfrm>
        </p:grpSpPr>
        <p:pic>
          <p:nvPicPr>
            <p:cNvPr id="6" name="Picture 6">
              <a:extLst>
                <a:ext uri="{FF2B5EF4-FFF2-40B4-BE49-F238E27FC236}">
                  <a16:creationId xmlns:a16="http://schemas.microsoft.com/office/drawing/2014/main" id="{9CF84F90-003E-E454-F5DC-6B7128479E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58300" y="4432300"/>
              <a:ext cx="3644900" cy="4991100"/>
            </a:xfrm>
            <a:prstGeom prst="rect">
              <a:avLst/>
            </a:prstGeom>
          </p:spPr>
        </p:pic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33A3D3F-7A19-6349-FEDC-6D23C30444AE}"/>
                </a:ext>
              </a:extLst>
            </p:cNvPr>
            <p:cNvSpPr txBox="1"/>
            <p:nvPr/>
          </p:nvSpPr>
          <p:spPr>
            <a:xfrm>
              <a:off x="9486900" y="6172200"/>
              <a:ext cx="3187700" cy="1028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24499"/>
                </a:lnSpc>
              </a:pP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 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수립된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기획을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바탕으로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제품이나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 </a:t>
              </a:r>
            </a:p>
            <a:p>
              <a:pPr lvl="0" algn="ctr">
                <a:lnSpc>
                  <a:spcPct val="124499"/>
                </a:lnSpc>
              </a:pP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서비스를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제작하고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핵심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기능을</a:t>
              </a:r>
              <a:endParaRPr lang="en-US" sz="1800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endParaRPr>
            </a:p>
            <a:p>
              <a:pPr lvl="0" algn="ctr">
                <a:lnSpc>
                  <a:spcPct val="124499"/>
                </a:lnSpc>
              </a:pP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구현하는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실행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단계입니다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.</a:t>
              </a:r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C46409EC-B3D3-CD3F-DF99-5F59ACD5095F}"/>
                </a:ext>
              </a:extLst>
            </p:cNvPr>
            <p:cNvSpPr txBox="1"/>
            <p:nvPr/>
          </p:nvSpPr>
          <p:spPr>
            <a:xfrm>
              <a:off x="9588500" y="5537200"/>
              <a:ext cx="3009900" cy="406400"/>
            </a:xfrm>
            <a:prstGeom prst="rect">
              <a:avLst/>
            </a:prstGeom>
          </p:spPr>
          <p:txBody>
            <a:bodyPr lIns="0" tIns="26670" rIns="0" bIns="2667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100" dirty="0" err="1">
                  <a:solidFill>
                    <a:srgbClr val="00074E"/>
                  </a:solidFill>
                  <a:latin typeface="Pretendard SemiBold"/>
                  <a:ea typeface="Pretendard SemiBold"/>
                  <a:cs typeface="Pretendard SemiBold"/>
                </a:rPr>
                <a:t>Kmeans</a:t>
              </a:r>
              <a:r>
                <a:rPr lang="en-US" sz="2100" dirty="0">
                  <a:solidFill>
                    <a:srgbClr val="00074E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lang="ko-KR" altLang="en-US" sz="2100" dirty="0">
                  <a:solidFill>
                    <a:srgbClr val="00074E"/>
                  </a:solidFill>
                  <a:latin typeface="Pretendard SemiBold"/>
                  <a:ea typeface="Pretendard SemiBold"/>
                  <a:cs typeface="Pretendard SemiBold"/>
                </a:rPr>
                <a:t>군집분석</a:t>
              </a:r>
              <a:endParaRPr lang="en-US" sz="2100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pic>
          <p:nvPicPr>
            <p:cNvPr id="26" name="Picture 26">
              <a:extLst>
                <a:ext uri="{FF2B5EF4-FFF2-40B4-BE49-F238E27FC236}">
                  <a16:creationId xmlns:a16="http://schemas.microsoft.com/office/drawing/2014/main" id="{1FBEDD91-A6C6-7D4C-A4CC-412D286F36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39400" y="4813300"/>
              <a:ext cx="1308100" cy="406400"/>
            </a:xfrm>
            <a:prstGeom prst="rect">
              <a:avLst/>
            </a:prstGeom>
          </p:spPr>
        </p:pic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6EA0EA5-FDDF-1FEC-F916-A0BD8D382A46}"/>
                </a:ext>
              </a:extLst>
            </p:cNvPr>
            <p:cNvSpPr txBox="1"/>
            <p:nvPr/>
          </p:nvSpPr>
          <p:spPr>
            <a:xfrm>
              <a:off x="10477500" y="4864100"/>
              <a:ext cx="1219200" cy="304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-US" sz="1599" b="0" i="0" u="none" strike="noStrike">
                  <a:solidFill>
                    <a:srgbClr val="4A5BA3"/>
                  </a:solidFill>
                  <a:latin typeface="Pretendard SemiBold"/>
                  <a:ea typeface="Pretendard SemiBold"/>
                  <a:cs typeface="Pretendard SemiBold"/>
                </a:rPr>
                <a:t>STEP 3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54081ADE-D97F-A674-2D57-0AF5F888FBB9}"/>
              </a:ext>
            </a:extLst>
          </p:cNvPr>
          <p:cNvGrpSpPr/>
          <p:nvPr/>
        </p:nvGrpSpPr>
        <p:grpSpPr>
          <a:xfrm>
            <a:off x="13157200" y="4432300"/>
            <a:ext cx="3644900" cy="4991100"/>
            <a:chOff x="13157200" y="4432300"/>
            <a:chExt cx="3644900" cy="4991100"/>
          </a:xfrm>
        </p:grpSpPr>
        <p:pic>
          <p:nvPicPr>
            <p:cNvPr id="7" name="Picture 7">
              <a:extLst>
                <a:ext uri="{FF2B5EF4-FFF2-40B4-BE49-F238E27FC236}">
                  <a16:creationId xmlns:a16="http://schemas.microsoft.com/office/drawing/2014/main" id="{4DEC278F-8736-222D-6906-279425C526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3157200" y="4432300"/>
              <a:ext cx="3644900" cy="4991100"/>
            </a:xfrm>
            <a:prstGeom prst="rect">
              <a:avLst/>
            </a:prstGeom>
          </p:spPr>
        </p:pic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E1747D84-2062-7477-E277-99AA259FD8C9}"/>
                </a:ext>
              </a:extLst>
            </p:cNvPr>
            <p:cNvSpPr txBox="1"/>
            <p:nvPr/>
          </p:nvSpPr>
          <p:spPr>
            <a:xfrm>
              <a:off x="13385800" y="6172200"/>
              <a:ext cx="3187700" cy="1028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24499"/>
                </a:lnSpc>
              </a:pPr>
              <a:r>
                <a:rPr lang="en-US" sz="1800" b="0" i="0" u="none" strike="noStrike" dirty="0" err="1">
                  <a:solidFill>
                    <a:srgbClr val="FFFFFF"/>
                  </a:solidFill>
                  <a:latin typeface="Pretendard Light"/>
                  <a:ea typeface="Pretendard Light"/>
                  <a:cs typeface="Pretendard Light"/>
                </a:rPr>
                <a:t>사용자</a:t>
              </a:r>
              <a:r>
                <a:rPr lang="en-US" sz="1800" b="0" i="0" u="none" strike="noStrike" dirty="0">
                  <a:solidFill>
                    <a:srgbClr val="FFFFFF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FFFFFF"/>
                  </a:solidFill>
                  <a:latin typeface="Pretendard Light"/>
                  <a:ea typeface="Pretendard Light"/>
                  <a:cs typeface="Pretendard Light"/>
                </a:rPr>
                <a:t>피드백을</a:t>
              </a:r>
              <a:r>
                <a:rPr lang="en-US" sz="1800" b="0" i="0" u="none" strike="noStrike" dirty="0">
                  <a:solidFill>
                    <a:srgbClr val="FFFFFF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FFFFFF"/>
                  </a:solidFill>
                  <a:latin typeface="Pretendard Light"/>
                  <a:ea typeface="Pretendard Light"/>
                  <a:cs typeface="Pretendard Light"/>
                </a:rPr>
                <a:t>반영한</a:t>
              </a:r>
              <a:r>
                <a:rPr lang="en-US" sz="1800" b="0" i="0" u="none" strike="noStrike" dirty="0">
                  <a:solidFill>
                    <a:srgbClr val="FFFFFF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FFFFFF"/>
                  </a:solidFill>
                  <a:latin typeface="Pretendard Light"/>
                  <a:ea typeface="Pretendard Light"/>
                  <a:cs typeface="Pretendard Light"/>
                </a:rPr>
                <a:t>업데이트</a:t>
              </a:r>
              <a:endParaRPr lang="en-US" sz="1800" b="0" i="0" u="none" strike="noStrike" dirty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endParaRPr>
            </a:p>
            <a:p>
              <a:pPr lvl="0" algn="ctr">
                <a:lnSpc>
                  <a:spcPct val="124499"/>
                </a:lnSpc>
              </a:pPr>
              <a:r>
                <a:rPr lang="en-US" sz="1800" b="0" i="0" u="none" strike="noStrike" dirty="0" err="1">
                  <a:solidFill>
                    <a:srgbClr val="FFFFFF"/>
                  </a:solidFill>
                  <a:latin typeface="Pretendard Light"/>
                  <a:ea typeface="Pretendard Light"/>
                  <a:cs typeface="Pretendard Light"/>
                </a:rPr>
                <a:t>내역과</a:t>
              </a:r>
              <a:r>
                <a:rPr lang="en-US" sz="1800" b="0" i="0" u="none" strike="noStrike" dirty="0">
                  <a:solidFill>
                    <a:srgbClr val="FFFFFF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FFFFFF"/>
                  </a:solidFill>
                  <a:latin typeface="Pretendard Light"/>
                  <a:ea typeface="Pretendard Light"/>
                  <a:cs typeface="Pretendard Light"/>
                </a:rPr>
                <a:t>성능</a:t>
              </a:r>
              <a:r>
                <a:rPr lang="en-US" sz="1800" b="0" i="0" u="none" strike="noStrike" dirty="0">
                  <a:solidFill>
                    <a:srgbClr val="FFFFFF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FFFFFF"/>
                  </a:solidFill>
                  <a:latin typeface="Pretendard Light"/>
                  <a:ea typeface="Pretendard Light"/>
                  <a:cs typeface="Pretendard Light"/>
                </a:rPr>
                <a:t>최적화</a:t>
              </a:r>
              <a:r>
                <a:rPr lang="en-US" sz="1800" b="0" i="0" u="none" strike="noStrike" dirty="0">
                  <a:solidFill>
                    <a:srgbClr val="FFFFFF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FFFFFF"/>
                  </a:solidFill>
                  <a:latin typeface="Pretendard Light"/>
                  <a:ea typeface="Pretendard Light"/>
                  <a:cs typeface="Pretendard Light"/>
                </a:rPr>
                <a:t>내용을</a:t>
              </a:r>
              <a:r>
                <a:rPr lang="en-US" sz="1800" b="0" i="0" u="none" strike="noStrike" dirty="0">
                  <a:solidFill>
                    <a:srgbClr val="FFFFFF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FFFFFF"/>
                  </a:solidFill>
                  <a:latin typeface="Pretendard Light"/>
                  <a:ea typeface="Pretendard Light"/>
                  <a:cs typeface="Pretendard Light"/>
                </a:rPr>
                <a:t>설명해</a:t>
              </a:r>
              <a:endParaRPr lang="en-US" sz="1800" b="0" i="0" u="none" strike="noStrike" dirty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endParaRPr>
            </a:p>
            <a:p>
              <a:pPr lvl="0" algn="ctr">
                <a:lnSpc>
                  <a:spcPct val="124499"/>
                </a:lnSpc>
              </a:pPr>
              <a:r>
                <a:rPr lang="en-US" sz="1800" b="0" i="0" u="none" strike="noStrike" dirty="0" err="1">
                  <a:solidFill>
                    <a:srgbClr val="FFFFFF"/>
                  </a:solidFill>
                  <a:latin typeface="Pretendard Light"/>
                  <a:ea typeface="Pretendard Light"/>
                  <a:cs typeface="Pretendard Light"/>
                </a:rPr>
                <a:t>개선</a:t>
              </a:r>
              <a:r>
                <a:rPr lang="en-US" sz="1800" b="0" i="0" u="none" strike="noStrike" dirty="0">
                  <a:solidFill>
                    <a:srgbClr val="FFFFFF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FFFFFF"/>
                  </a:solidFill>
                  <a:latin typeface="Pretendard Light"/>
                  <a:ea typeface="Pretendard Light"/>
                  <a:cs typeface="Pretendard Light"/>
                </a:rPr>
                <a:t>의지를</a:t>
              </a:r>
              <a:r>
                <a:rPr lang="en-US" sz="1800" b="0" i="0" u="none" strike="noStrike" dirty="0">
                  <a:solidFill>
                    <a:srgbClr val="FFFFFF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FFFFFF"/>
                  </a:solidFill>
                  <a:latin typeface="Pretendard Light"/>
                  <a:ea typeface="Pretendard Light"/>
                  <a:cs typeface="Pretendard Light"/>
                </a:rPr>
                <a:t>보여줍니다</a:t>
              </a:r>
              <a:r>
                <a:rPr lang="en-US" sz="1800" b="0" i="0" u="none" strike="noStrike" dirty="0">
                  <a:solidFill>
                    <a:srgbClr val="FFFFFF"/>
                  </a:solidFill>
                  <a:latin typeface="Pretendard Light"/>
                  <a:ea typeface="Pretendard Light"/>
                  <a:cs typeface="Pretendard Light"/>
                </a:rPr>
                <a:t>.</a:t>
              </a:r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40483263-A14E-B74D-556D-2CEBAE988385}"/>
                </a:ext>
              </a:extLst>
            </p:cNvPr>
            <p:cNvSpPr txBox="1"/>
            <p:nvPr/>
          </p:nvSpPr>
          <p:spPr>
            <a:xfrm>
              <a:off x="13487400" y="5537200"/>
              <a:ext cx="2971800" cy="406400"/>
            </a:xfrm>
            <a:prstGeom prst="rect">
              <a:avLst/>
            </a:prstGeom>
          </p:spPr>
          <p:txBody>
            <a:bodyPr lIns="0" tIns="26670" rIns="0" bIns="2667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100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페르소나 분석</a:t>
              </a:r>
              <a:endParaRPr lang="en-US" sz="2100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pic>
          <p:nvPicPr>
            <p:cNvPr id="28" name="Picture 28">
              <a:extLst>
                <a:ext uri="{FF2B5EF4-FFF2-40B4-BE49-F238E27FC236}">
                  <a16:creationId xmlns:a16="http://schemas.microsoft.com/office/drawing/2014/main" id="{5E70870A-B82F-4454-5FFE-E2F7F49D77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4325600" y="4813300"/>
              <a:ext cx="1308100" cy="406400"/>
            </a:xfrm>
            <a:prstGeom prst="rect">
              <a:avLst/>
            </a:prstGeom>
          </p:spPr>
        </p:pic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42ED9434-DEE1-A681-0AB1-AEA20CA7DF03}"/>
                </a:ext>
              </a:extLst>
            </p:cNvPr>
            <p:cNvSpPr txBox="1"/>
            <p:nvPr/>
          </p:nvSpPr>
          <p:spPr>
            <a:xfrm>
              <a:off x="14439900" y="4864100"/>
              <a:ext cx="1066800" cy="304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-US" sz="1599" b="0" i="0" u="none" strike="noStrike">
                  <a:solidFill>
                    <a:srgbClr val="4A5BA3"/>
                  </a:solidFill>
                  <a:latin typeface="Pretendard SemiBold"/>
                  <a:ea typeface="Pretendard SemiBold"/>
                  <a:cs typeface="Pretendard SemiBold"/>
                </a:rPr>
                <a:t>STEP 4</a:t>
              </a:r>
            </a:p>
          </p:txBody>
        </p:sp>
      </p:grpSp>
      <p:sp>
        <p:nvSpPr>
          <p:cNvPr id="30" name="TextBox 30">
            <a:extLst>
              <a:ext uri="{FF2B5EF4-FFF2-40B4-BE49-F238E27FC236}">
                <a16:creationId xmlns:a16="http://schemas.microsoft.com/office/drawing/2014/main" id="{8F0FDEA0-8AE9-9998-D3E7-ACED0EFE3B44}"/>
              </a:ext>
            </a:extLst>
          </p:cNvPr>
          <p:cNvSpPr txBox="1"/>
          <p:nvPr/>
        </p:nvSpPr>
        <p:spPr>
          <a:xfrm>
            <a:off x="3022600" y="3060700"/>
            <a:ext cx="12230100" cy="723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프로젝트의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전체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흐름을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한눈에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파악할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수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있도록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구성된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페이지입니다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. </a:t>
            </a:r>
          </a:p>
          <a:p>
            <a:pPr lvl="0" algn="ctr">
              <a:lnSpc>
                <a:spcPct val="124499"/>
              </a:lnSpc>
            </a:pP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복잡한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업무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절차를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단계별로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단순화하여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보여주고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, 각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과정에서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수행해야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할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핵심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과업을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명확히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제시해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보세요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.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3E8CE087-C5F4-2C10-E14F-021E357BFF13}"/>
              </a:ext>
            </a:extLst>
          </p:cNvPr>
          <p:cNvSpPr txBox="1"/>
          <p:nvPr/>
        </p:nvSpPr>
        <p:spPr>
          <a:xfrm>
            <a:off x="5346700" y="1739900"/>
            <a:ext cx="75946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499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군집분석</a:t>
            </a:r>
            <a:endParaRPr lang="en-US" sz="5499" b="0" i="0" u="none" strike="noStrike" dirty="0">
              <a:solidFill>
                <a:srgbClr val="00074E"/>
              </a:solidFill>
              <a:latin typeface="Pretendard SemiBold"/>
              <a:ea typeface="Pretendard SemiBold"/>
              <a:cs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431624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F952F8-BAA6-C258-8A04-9304E9F19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FEC3246-7727-A2F2-1F4F-46C077F6DE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D69E680-D947-7C35-CE0E-98569D5E6E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C73B36AA-B25E-2B4C-76E4-6B2D362319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F8FFA059-3A50-A84C-C9A2-CA241A4768AB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04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B4163A01-03E8-FDC6-F60D-D70DC1B8EF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432300"/>
            <a:ext cx="17056100" cy="5295900"/>
          </a:xfrm>
          <a:prstGeom prst="rect">
            <a:avLst/>
          </a:prstGeom>
        </p:spPr>
      </p:pic>
      <p:sp>
        <p:nvSpPr>
          <p:cNvPr id="42" name="TextBox 42">
            <a:extLst>
              <a:ext uri="{FF2B5EF4-FFF2-40B4-BE49-F238E27FC236}">
                <a16:creationId xmlns:a16="http://schemas.microsoft.com/office/drawing/2014/main" id="{C9B39D7A-E68E-6D19-5532-50DE6EAFCDBB}"/>
              </a:ext>
            </a:extLst>
          </p:cNvPr>
          <p:cNvSpPr txBox="1"/>
          <p:nvPr/>
        </p:nvSpPr>
        <p:spPr>
          <a:xfrm>
            <a:off x="5346700" y="571500"/>
            <a:ext cx="75946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499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로그변환 </a:t>
            </a:r>
            <a:r>
              <a:rPr lang="en-US" altLang="ko-KR" sz="5499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&amp; </a:t>
            </a:r>
            <a:r>
              <a:rPr lang="ko-KR" altLang="en-US" sz="5499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스케일링</a:t>
            </a:r>
            <a:endParaRPr lang="en-US" sz="5499" b="0" i="0" u="none" strike="noStrike" dirty="0">
              <a:solidFill>
                <a:srgbClr val="00074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FBE4FD-A843-73A7-8AA0-E9ED39134D51}"/>
              </a:ext>
            </a:extLst>
          </p:cNvPr>
          <p:cNvSpPr txBox="1"/>
          <p:nvPr/>
        </p:nvSpPr>
        <p:spPr>
          <a:xfrm>
            <a:off x="1676400" y="2199153"/>
            <a:ext cx="434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로그 변환</a:t>
            </a:r>
            <a:r>
              <a:rPr lang="en-US" altLang="ko-KR" dirty="0"/>
              <a:t>, </a:t>
            </a:r>
            <a:r>
              <a:rPr lang="ko-KR" altLang="en-US" dirty="0"/>
              <a:t>스케일링 기통</a:t>
            </a:r>
            <a:endParaRPr lang="en-US" altLang="ko-KR" dirty="0"/>
          </a:p>
          <a:p>
            <a:r>
              <a:rPr lang="en-US" altLang="ko-KR" dirty="0"/>
              <a:t> -&gt; </a:t>
            </a:r>
            <a:r>
              <a:rPr lang="ko-KR" altLang="en-US" dirty="0"/>
              <a:t>초기 기통에서 확인과 전 후 비교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43618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B0ED3F-306B-81C6-86E6-03305752D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9DE5348-D6C4-0A5D-8295-CCCD958688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B213C51F-836D-3BFC-B769-45EE03BC18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A2EFC326-87BB-1C79-7581-7757B5E8CF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B2B9B8BB-F951-12BD-F69B-F315613F452E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04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19B01816-AF7A-9DD6-63FD-5D4D448788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432300"/>
            <a:ext cx="17056100" cy="5295900"/>
          </a:xfrm>
          <a:prstGeom prst="rect">
            <a:avLst/>
          </a:prstGeom>
        </p:spPr>
      </p:pic>
      <p:sp>
        <p:nvSpPr>
          <p:cNvPr id="42" name="TextBox 42">
            <a:extLst>
              <a:ext uri="{FF2B5EF4-FFF2-40B4-BE49-F238E27FC236}">
                <a16:creationId xmlns:a16="http://schemas.microsoft.com/office/drawing/2014/main" id="{2B777580-452F-236C-292B-EEEDCEAD5EFA}"/>
              </a:ext>
            </a:extLst>
          </p:cNvPr>
          <p:cNvSpPr txBox="1"/>
          <p:nvPr/>
        </p:nvSpPr>
        <p:spPr>
          <a:xfrm>
            <a:off x="5346700" y="571500"/>
            <a:ext cx="75946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en-US" sz="5499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PCA(</a:t>
            </a:r>
            <a:r>
              <a:rPr lang="ko-KR" altLang="en-US" sz="5499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차원축소</a:t>
            </a:r>
            <a:r>
              <a:rPr lang="en-US" altLang="ko-KR" sz="5499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endParaRPr lang="en-US" sz="5499" b="0" i="0" u="none" strike="noStrike" dirty="0">
              <a:solidFill>
                <a:srgbClr val="00074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EEBDC3-83BD-DA3F-39A0-2B3DD127E3BE}"/>
              </a:ext>
            </a:extLst>
          </p:cNvPr>
          <p:cNvSpPr txBox="1"/>
          <p:nvPr/>
        </p:nvSpPr>
        <p:spPr>
          <a:xfrm>
            <a:off x="1676400" y="2199153"/>
            <a:ext cx="4343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PC1, 2 </a:t>
            </a:r>
            <a:r>
              <a:rPr lang="ko-KR" altLang="en-US" dirty="0"/>
              <a:t>에 대한 </a:t>
            </a:r>
            <a:r>
              <a:rPr lang="ko-KR" altLang="en-US" dirty="0" err="1"/>
              <a:t>바이플롯</a:t>
            </a:r>
            <a:br>
              <a:rPr lang="en-US" altLang="ko-KR" dirty="0"/>
            </a:br>
            <a:endParaRPr lang="en-US" altLang="ko-KR" dirty="0"/>
          </a:p>
          <a:p>
            <a:r>
              <a:rPr lang="en-US" altLang="ko-KR" dirty="0"/>
              <a:t>PC1, 2, 3 </a:t>
            </a:r>
            <a:r>
              <a:rPr lang="ko-KR" altLang="en-US" dirty="0" err="1"/>
              <a:t>로딩표</a:t>
            </a:r>
            <a:br>
              <a:rPr lang="en-US" altLang="ko-KR" dirty="0"/>
            </a:br>
            <a:endParaRPr lang="en-US" altLang="ko-KR" dirty="0"/>
          </a:p>
          <a:p>
            <a:r>
              <a:rPr lang="en-US" altLang="ko-KR" dirty="0"/>
              <a:t>PC1, 2, 3 </a:t>
            </a:r>
            <a:r>
              <a:rPr lang="ko-KR" altLang="en-US" dirty="0"/>
              <a:t>해석 인사이트 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705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F7DCB0-BF93-375E-C6D2-D0C5EACE1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994253E-CB7B-EB3F-911F-F7F46BC6D2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E22DF88-766B-F29A-D158-46008E1E8A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42CC7BAD-AB63-B281-7148-24D4D44753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48E96514-186E-5375-49F1-B4CC60516D5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04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4583913E-85BD-B5C5-2731-9A6F5ED0E0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432300"/>
            <a:ext cx="17056100" cy="5295900"/>
          </a:xfrm>
          <a:prstGeom prst="rect">
            <a:avLst/>
          </a:prstGeom>
        </p:spPr>
      </p:pic>
      <p:sp>
        <p:nvSpPr>
          <p:cNvPr id="42" name="TextBox 42">
            <a:extLst>
              <a:ext uri="{FF2B5EF4-FFF2-40B4-BE49-F238E27FC236}">
                <a16:creationId xmlns:a16="http://schemas.microsoft.com/office/drawing/2014/main" id="{6EB4C83E-26F7-DB96-C845-F068878D02EB}"/>
              </a:ext>
            </a:extLst>
          </p:cNvPr>
          <p:cNvSpPr txBox="1"/>
          <p:nvPr/>
        </p:nvSpPr>
        <p:spPr>
          <a:xfrm>
            <a:off x="5346700" y="571500"/>
            <a:ext cx="75946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5499" b="0" i="0" u="none" strike="noStrike" dirty="0" err="1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KMeans</a:t>
            </a:r>
            <a:r>
              <a:rPr lang="en-US" altLang="ko-KR" sz="5499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5499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분석</a:t>
            </a:r>
            <a:endParaRPr lang="en-US" sz="5499" b="0" i="0" u="none" strike="noStrike" dirty="0">
              <a:solidFill>
                <a:srgbClr val="00074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0FA143-D16A-4DCC-EBEA-7D14657CFFDE}"/>
              </a:ext>
            </a:extLst>
          </p:cNvPr>
          <p:cNvSpPr txBox="1"/>
          <p:nvPr/>
        </p:nvSpPr>
        <p:spPr>
          <a:xfrm>
            <a:off x="1676400" y="2199153"/>
            <a:ext cx="4343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엘보포인트</a:t>
            </a:r>
            <a:r>
              <a:rPr lang="en-US" altLang="ko-KR" dirty="0"/>
              <a:t>(</a:t>
            </a:r>
            <a:r>
              <a:rPr lang="ko-KR" altLang="en-US" dirty="0"/>
              <a:t>그래프만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/>
              <a:t>실루엣 계수</a:t>
            </a:r>
            <a:r>
              <a:rPr lang="en-US" altLang="ko-KR" dirty="0"/>
              <a:t>(</a:t>
            </a:r>
            <a:r>
              <a:rPr lang="ko-KR" altLang="en-US" dirty="0"/>
              <a:t>표</a:t>
            </a:r>
            <a:r>
              <a:rPr lang="en-US" altLang="ko-KR" dirty="0"/>
              <a:t>!)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/>
              <a:t>최종선정 </a:t>
            </a:r>
            <a:r>
              <a:rPr lang="en-US" altLang="ko-KR" dirty="0"/>
              <a:t>K = 4</a:t>
            </a:r>
          </a:p>
          <a:p>
            <a:endParaRPr lang="en-US" altLang="ko-KR" dirty="0"/>
          </a:p>
          <a:p>
            <a:r>
              <a:rPr lang="en-US" altLang="ko-KR" dirty="0"/>
              <a:t>K = 4, 5 </a:t>
            </a:r>
            <a:r>
              <a:rPr lang="ko-KR" altLang="en-US" dirty="0"/>
              <a:t>중 </a:t>
            </a:r>
            <a:r>
              <a:rPr lang="en-US" altLang="ko-KR" dirty="0"/>
              <a:t>4</a:t>
            </a:r>
            <a:r>
              <a:rPr lang="ko-KR" altLang="en-US" dirty="0"/>
              <a:t>선택 이유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23814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B70BD0-E8C1-6A98-BEF7-711DE561E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B1806FE-F708-57AE-20C3-E702AD12C4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72DB609C-8F1F-879D-6429-3D0761349E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B4A3B9F1-51DA-9E40-E995-918F731BC3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31ABAA0-0D76-D65E-CB5B-291B25A3E6B9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04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621C322C-73A2-A0C0-4386-9E2A347631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432300"/>
            <a:ext cx="17056100" cy="5295900"/>
          </a:xfrm>
          <a:prstGeom prst="rect">
            <a:avLst/>
          </a:prstGeom>
        </p:spPr>
      </p:pic>
      <p:sp>
        <p:nvSpPr>
          <p:cNvPr id="42" name="TextBox 42">
            <a:extLst>
              <a:ext uri="{FF2B5EF4-FFF2-40B4-BE49-F238E27FC236}">
                <a16:creationId xmlns:a16="http://schemas.microsoft.com/office/drawing/2014/main" id="{AD321B37-DC27-4355-EE3B-8BA919AA9353}"/>
              </a:ext>
            </a:extLst>
          </p:cNvPr>
          <p:cNvSpPr txBox="1"/>
          <p:nvPr/>
        </p:nvSpPr>
        <p:spPr>
          <a:xfrm>
            <a:off x="5346700" y="571500"/>
            <a:ext cx="75946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499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페르소나 분석</a:t>
            </a:r>
            <a:endParaRPr lang="en-US" sz="5499" b="0" i="0" u="none" strike="noStrike" dirty="0">
              <a:solidFill>
                <a:srgbClr val="00074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A12E2D-9683-51F9-76F1-A3750BBB4E68}"/>
              </a:ext>
            </a:extLst>
          </p:cNvPr>
          <p:cNvSpPr txBox="1"/>
          <p:nvPr/>
        </p:nvSpPr>
        <p:spPr>
          <a:xfrm>
            <a:off x="1676400" y="2199153"/>
            <a:ext cx="4343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클러스터 </a:t>
            </a:r>
            <a:r>
              <a:rPr lang="en-US" altLang="ko-KR" dirty="0"/>
              <a:t>0 ~ 3</a:t>
            </a:r>
            <a:r>
              <a:rPr lang="ko-KR" altLang="en-US" dirty="0"/>
              <a:t>에 따라 페르소나 부여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각 페르소나별로 설명력 비율</a:t>
            </a:r>
            <a:r>
              <a:rPr lang="en-US" altLang="ko-KR" dirty="0"/>
              <a:t>??? </a:t>
            </a:r>
            <a:r>
              <a:rPr lang="ko-KR" altLang="en-US" dirty="0" err="1"/>
              <a:t>이런거</a:t>
            </a:r>
            <a:r>
              <a:rPr lang="ko-KR" altLang="en-US" dirty="0"/>
              <a:t> </a:t>
            </a:r>
            <a:r>
              <a:rPr lang="ko-KR" altLang="en-US" dirty="0" err="1"/>
              <a:t>있을거예요</a:t>
            </a:r>
            <a:r>
              <a:rPr lang="ko-KR" altLang="en-US" dirty="0"/>
              <a:t> 노트북에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702686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DD8DD5-82AE-F417-C345-6489F2584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CB1BA4A-0531-EC9B-5A97-7FA0D39166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2CFC022C-864D-E3B7-08E2-B9167712E6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20" name="Picture 20">
            <a:extLst>
              <a:ext uri="{FF2B5EF4-FFF2-40B4-BE49-F238E27FC236}">
                <a16:creationId xmlns:a16="http://schemas.microsoft.com/office/drawing/2014/main" id="{F99A7A78-2132-059C-1D4A-3CEC19C97F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3147DDE5-176A-A1D8-2DC1-63E76EF7E79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b="0" i="0" u="none" strike="noStrike" cap="all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05</a:t>
            </a: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B2CAE5C2-3AA9-F221-52F3-614FA1477FE4}"/>
              </a:ext>
            </a:extLst>
          </p:cNvPr>
          <p:cNvGrpSpPr/>
          <p:nvPr/>
        </p:nvGrpSpPr>
        <p:grpSpPr>
          <a:xfrm>
            <a:off x="1503944" y="4450659"/>
            <a:ext cx="3608812" cy="4941683"/>
            <a:chOff x="1503944" y="4444309"/>
            <a:chExt cx="3608812" cy="4941683"/>
          </a:xfrm>
        </p:grpSpPr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84A4FA6C-67F5-33D4-B821-5B919AAE2C1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03944" y="4444309"/>
              <a:ext cx="3608812" cy="4941683"/>
            </a:xfrm>
            <a:prstGeom prst="rect">
              <a:avLst/>
            </a:prstGeom>
          </p:spPr>
        </p:pic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C47547-C9B4-9BCB-EB02-4E919852A1A1}"/>
                </a:ext>
              </a:extLst>
            </p:cNvPr>
            <p:cNvSpPr txBox="1"/>
            <p:nvPr/>
          </p:nvSpPr>
          <p:spPr>
            <a:xfrm>
              <a:off x="1830875" y="5537200"/>
              <a:ext cx="2954950" cy="406400"/>
            </a:xfrm>
            <a:prstGeom prst="rect">
              <a:avLst/>
            </a:prstGeom>
          </p:spPr>
          <p:txBody>
            <a:bodyPr lIns="0" tIns="26670" rIns="0" bIns="2667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100" b="0" i="0" u="none" strike="noStrike" dirty="0" err="1">
                  <a:solidFill>
                    <a:srgbClr val="00074E"/>
                  </a:solidFill>
                  <a:latin typeface="Pretendard SemiBold"/>
                  <a:ea typeface="Pretendard SemiBold"/>
                  <a:cs typeface="Pretendard SemiBold"/>
                </a:rPr>
                <a:t>머신러닝</a:t>
              </a:r>
              <a:endParaRPr lang="en-US" sz="2100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23D6BB82-A337-5836-3A8F-23CB03FAB603}"/>
                </a:ext>
              </a:extLst>
            </p:cNvPr>
            <p:cNvSpPr txBox="1"/>
            <p:nvPr/>
          </p:nvSpPr>
          <p:spPr>
            <a:xfrm>
              <a:off x="1730281" y="6172200"/>
              <a:ext cx="3156139" cy="1028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24499"/>
                </a:lnSpc>
              </a:pPr>
              <a:r>
                <a:rPr lang="en-US" sz="1800" b="0" i="0" u="none" strike="noStrike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 프로젝트의 시작을 알리는 첫 번째</a:t>
              </a:r>
            </a:p>
            <a:p>
              <a:pPr lvl="0" algn="ctr">
                <a:lnSpc>
                  <a:spcPct val="124499"/>
                </a:lnSpc>
              </a:pPr>
              <a:r>
                <a:rPr lang="en-US" sz="1800" b="0" i="0" u="none" strike="noStrike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단계로 기획의 배경이나 추진</a:t>
              </a:r>
            </a:p>
            <a:p>
              <a:pPr lvl="0" algn="ctr">
                <a:lnSpc>
                  <a:spcPct val="124499"/>
                </a:lnSpc>
              </a:pPr>
              <a:r>
                <a:rPr lang="en-US" sz="1800" b="0" i="0" u="none" strike="noStrike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목적을 명확하게 보여줘야 해요.</a:t>
              </a:r>
            </a:p>
          </p:txBody>
        </p:sp>
        <p:pic>
          <p:nvPicPr>
            <p:cNvPr id="22" name="Picture 22">
              <a:extLst>
                <a:ext uri="{FF2B5EF4-FFF2-40B4-BE49-F238E27FC236}">
                  <a16:creationId xmlns:a16="http://schemas.microsoft.com/office/drawing/2014/main" id="{4254EDC4-73C7-123B-94E5-907377A4AF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660776" y="4815312"/>
              <a:ext cx="1295149" cy="402376"/>
            </a:xfrm>
            <a:prstGeom prst="rect">
              <a:avLst/>
            </a:prstGeom>
          </p:spPr>
        </p:pic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0182D233-A0DA-3A92-E145-EAB10B3B23F0}"/>
                </a:ext>
              </a:extLst>
            </p:cNvPr>
            <p:cNvSpPr txBox="1"/>
            <p:nvPr/>
          </p:nvSpPr>
          <p:spPr>
            <a:xfrm>
              <a:off x="2781300" y="4864100"/>
              <a:ext cx="1066800" cy="304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-US" sz="1599" b="0" i="0" u="none" strike="noStrike">
                  <a:solidFill>
                    <a:srgbClr val="4A5BA3"/>
                  </a:solidFill>
                  <a:latin typeface="Pretendard SemiBold"/>
                  <a:ea typeface="Pretendard SemiBold"/>
                  <a:cs typeface="Pretendard SemiBold"/>
                </a:rPr>
                <a:t>STEP 1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90C91E30-CC00-9D7F-712F-F9DE2D84B550}"/>
              </a:ext>
            </a:extLst>
          </p:cNvPr>
          <p:cNvGrpSpPr/>
          <p:nvPr/>
        </p:nvGrpSpPr>
        <p:grpSpPr>
          <a:xfrm>
            <a:off x="7305172" y="4450659"/>
            <a:ext cx="3608812" cy="4941683"/>
            <a:chOff x="5390144" y="4457009"/>
            <a:chExt cx="3608812" cy="4941683"/>
          </a:xfrm>
        </p:grpSpPr>
        <p:pic>
          <p:nvPicPr>
            <p:cNvPr id="5" name="Picture 5">
              <a:extLst>
                <a:ext uri="{FF2B5EF4-FFF2-40B4-BE49-F238E27FC236}">
                  <a16:creationId xmlns:a16="http://schemas.microsoft.com/office/drawing/2014/main" id="{0CFDD7B4-46F9-4049-6AD2-916F9222C0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390144" y="4457009"/>
              <a:ext cx="3608812" cy="4941683"/>
            </a:xfrm>
            <a:prstGeom prst="rect">
              <a:avLst/>
            </a:prstGeom>
          </p:spPr>
        </p:pic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0CE37ABC-28F2-2159-FAC8-63FD3F5C6DA4}"/>
                </a:ext>
              </a:extLst>
            </p:cNvPr>
            <p:cNvSpPr txBox="1"/>
            <p:nvPr/>
          </p:nvSpPr>
          <p:spPr>
            <a:xfrm>
              <a:off x="5616481" y="6172200"/>
              <a:ext cx="3156139" cy="1028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24499"/>
                </a:lnSpc>
              </a:pPr>
              <a:r>
                <a:rPr lang="en-US" sz="1800" b="0" i="0" u="none" strike="noStrike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본격적인 실행에 앞서 현재 상황을 면밀히 진단하고 시장 조사 데이터를 분석하여 기재해 주세요.</a:t>
              </a: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D862C179-04FB-DF6F-C238-2BAD298A02E0}"/>
                </a:ext>
              </a:extLst>
            </p:cNvPr>
            <p:cNvSpPr txBox="1"/>
            <p:nvPr/>
          </p:nvSpPr>
          <p:spPr>
            <a:xfrm>
              <a:off x="5704501" y="5537200"/>
              <a:ext cx="2980099" cy="406400"/>
            </a:xfrm>
            <a:prstGeom prst="rect">
              <a:avLst/>
            </a:prstGeom>
          </p:spPr>
          <p:txBody>
            <a:bodyPr lIns="0" tIns="26670" rIns="0" bIns="2667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100" b="0" i="0" u="none" strike="noStrike" dirty="0">
                  <a:solidFill>
                    <a:srgbClr val="00074E"/>
                  </a:solidFill>
                  <a:latin typeface="Pretendard SemiBold"/>
                  <a:ea typeface="Pretendard SemiBold"/>
                  <a:cs typeface="Pretendard SemiBold"/>
                </a:rPr>
                <a:t>최적의 채널 선정 및 채널 </a:t>
              </a:r>
              <a:r>
                <a:rPr lang="ko-KR" altLang="en-US" sz="2100" b="0" i="0" u="none" strike="noStrike" dirty="0" err="1">
                  <a:solidFill>
                    <a:srgbClr val="00074E"/>
                  </a:solidFill>
                  <a:latin typeface="Pretendard SemiBold"/>
                  <a:ea typeface="Pretendard SemiBold"/>
                  <a:cs typeface="Pretendard SemiBold"/>
                </a:rPr>
                <a:t>오분류</a:t>
              </a:r>
              <a:r>
                <a:rPr lang="ko-KR" altLang="en-US" sz="2100" b="0" i="0" u="none" strike="noStrike" dirty="0">
                  <a:solidFill>
                    <a:srgbClr val="00074E"/>
                  </a:solidFill>
                  <a:latin typeface="Pretendard SemiBold"/>
                  <a:ea typeface="Pretendard SemiBold"/>
                  <a:cs typeface="Pretendard SemiBold"/>
                </a:rPr>
                <a:t> 고객 도출</a:t>
              </a:r>
              <a:endParaRPr lang="en-US" sz="2100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pic>
          <p:nvPicPr>
            <p:cNvPr id="24" name="Picture 24">
              <a:extLst>
                <a:ext uri="{FF2B5EF4-FFF2-40B4-BE49-F238E27FC236}">
                  <a16:creationId xmlns:a16="http://schemas.microsoft.com/office/drawing/2014/main" id="{98E29485-FE38-EDA7-7771-96A4C1FFD16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553200" y="4813300"/>
              <a:ext cx="1308100" cy="406400"/>
            </a:xfrm>
            <a:prstGeom prst="rect">
              <a:avLst/>
            </a:prstGeom>
          </p:spPr>
        </p:pic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53614F22-03C3-5014-C3AA-214EBEEB5E83}"/>
                </a:ext>
              </a:extLst>
            </p:cNvPr>
            <p:cNvSpPr txBox="1"/>
            <p:nvPr/>
          </p:nvSpPr>
          <p:spPr>
            <a:xfrm>
              <a:off x="6635059" y="4864100"/>
              <a:ext cx="1131683" cy="304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-US" sz="1599" b="0" i="0" u="none" strike="noStrike">
                  <a:solidFill>
                    <a:srgbClr val="4A5BA3"/>
                  </a:solidFill>
                  <a:latin typeface="Pretendard SemiBold"/>
                  <a:ea typeface="Pretendard SemiBold"/>
                  <a:cs typeface="Pretendard SemiBold"/>
                </a:rPr>
                <a:t>STEP 2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355674A6-DABD-6C98-E7C7-0328C83A4CC3}"/>
              </a:ext>
            </a:extLst>
          </p:cNvPr>
          <p:cNvGrpSpPr/>
          <p:nvPr/>
        </p:nvGrpSpPr>
        <p:grpSpPr>
          <a:xfrm>
            <a:off x="13106400" y="4450659"/>
            <a:ext cx="3608812" cy="4941683"/>
            <a:chOff x="9276344" y="4457009"/>
            <a:chExt cx="3608812" cy="4941683"/>
          </a:xfrm>
        </p:grpSpPr>
        <p:pic>
          <p:nvPicPr>
            <p:cNvPr id="6" name="Picture 6">
              <a:extLst>
                <a:ext uri="{FF2B5EF4-FFF2-40B4-BE49-F238E27FC236}">
                  <a16:creationId xmlns:a16="http://schemas.microsoft.com/office/drawing/2014/main" id="{3ED57554-3A9A-2543-1DB7-6E9852329A8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76344" y="4457009"/>
              <a:ext cx="3608812" cy="4941683"/>
            </a:xfrm>
            <a:prstGeom prst="rect">
              <a:avLst/>
            </a:prstGeom>
          </p:spPr>
        </p:pic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940C33EF-7176-A5E1-2EAE-BBE59BC2C2E5}"/>
                </a:ext>
              </a:extLst>
            </p:cNvPr>
            <p:cNvSpPr txBox="1"/>
            <p:nvPr/>
          </p:nvSpPr>
          <p:spPr>
            <a:xfrm>
              <a:off x="9502681" y="6172200"/>
              <a:ext cx="3156139" cy="1028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24499"/>
                </a:lnSpc>
              </a:pP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 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수립된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기획을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바탕으로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제품이나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 </a:t>
              </a:r>
            </a:p>
            <a:p>
              <a:pPr lvl="0" algn="ctr">
                <a:lnSpc>
                  <a:spcPct val="124499"/>
                </a:lnSpc>
              </a:pP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서비스를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제작하고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핵심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기능을</a:t>
              </a:r>
              <a:endParaRPr lang="en-US" sz="1800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endParaRPr>
            </a:p>
            <a:p>
              <a:pPr lvl="0" algn="ctr">
                <a:lnSpc>
                  <a:spcPct val="124499"/>
                </a:lnSpc>
              </a:pP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구현하는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실행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 </a:t>
              </a:r>
              <a:r>
                <a:rPr lang="en-US" sz="1800" b="0" i="0" u="none" strike="noStrike" dirty="0" err="1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단계입니다</a:t>
              </a:r>
              <a:r>
                <a:rPr lang="en-US" sz="1800" b="0" i="0" u="none" strike="noStrike" dirty="0">
                  <a:solidFill>
                    <a:srgbClr val="2C2C2C"/>
                  </a:solidFill>
                  <a:latin typeface="Pretendard Light"/>
                  <a:ea typeface="Pretendard Light"/>
                  <a:cs typeface="Pretendard Light"/>
                </a:rPr>
                <a:t>.</a:t>
              </a:r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E776666D-2E4A-BD7E-2B98-FBF591599922}"/>
                </a:ext>
              </a:extLst>
            </p:cNvPr>
            <p:cNvSpPr txBox="1"/>
            <p:nvPr/>
          </p:nvSpPr>
          <p:spPr>
            <a:xfrm>
              <a:off x="9603401" y="5537200"/>
              <a:ext cx="2980099" cy="406400"/>
            </a:xfrm>
            <a:prstGeom prst="rect">
              <a:avLst/>
            </a:prstGeom>
          </p:spPr>
          <p:txBody>
            <a:bodyPr lIns="0" tIns="26670" rIns="0" bIns="2667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100" dirty="0">
                  <a:solidFill>
                    <a:srgbClr val="00074E"/>
                  </a:solidFill>
                  <a:latin typeface="Pretendard SemiBold"/>
                  <a:ea typeface="Pretendard SemiBold"/>
                  <a:cs typeface="Pretendard SemiBold"/>
                </a:rPr>
                <a:t>채널 </a:t>
              </a:r>
              <a:r>
                <a:rPr lang="ko-KR" altLang="en-US" sz="2100" dirty="0" err="1">
                  <a:solidFill>
                    <a:srgbClr val="00074E"/>
                  </a:solidFill>
                  <a:latin typeface="Pretendard SemiBold"/>
                  <a:ea typeface="Pretendard SemiBold"/>
                  <a:cs typeface="Pretendard SemiBold"/>
                </a:rPr>
                <a:t>오분류</a:t>
              </a:r>
              <a:r>
                <a:rPr lang="ko-KR" altLang="en-US" sz="2100" dirty="0">
                  <a:solidFill>
                    <a:srgbClr val="00074E"/>
                  </a:solidFill>
                  <a:latin typeface="Pretendard SemiBold"/>
                  <a:ea typeface="Pretendard SemiBold"/>
                  <a:cs typeface="Pretendard SemiBold"/>
                </a:rPr>
                <a:t> 고객 확인</a:t>
              </a:r>
              <a:endParaRPr lang="en-US" sz="2100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pic>
          <p:nvPicPr>
            <p:cNvPr id="26" name="Picture 26">
              <a:extLst>
                <a:ext uri="{FF2B5EF4-FFF2-40B4-BE49-F238E27FC236}">
                  <a16:creationId xmlns:a16="http://schemas.microsoft.com/office/drawing/2014/main" id="{EBC11D24-EE8E-6324-1A50-1D52AB6C51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45876" y="4815312"/>
              <a:ext cx="1295149" cy="402376"/>
            </a:xfrm>
            <a:prstGeom prst="rect">
              <a:avLst/>
            </a:prstGeom>
          </p:spPr>
        </p:pic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B658F17B-4E47-424B-C5AF-09447B9993DE}"/>
                </a:ext>
              </a:extLst>
            </p:cNvPr>
            <p:cNvSpPr txBox="1"/>
            <p:nvPr/>
          </p:nvSpPr>
          <p:spPr>
            <a:xfrm>
              <a:off x="10477500" y="4864100"/>
              <a:ext cx="1219200" cy="304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-US" sz="1599" b="0" i="0" u="none" strike="noStrike">
                  <a:solidFill>
                    <a:srgbClr val="4A5BA3"/>
                  </a:solidFill>
                  <a:latin typeface="Pretendard SemiBold"/>
                  <a:ea typeface="Pretendard SemiBold"/>
                  <a:cs typeface="Pretendard SemiBold"/>
                </a:rPr>
                <a:t>STEP 3</a:t>
              </a:r>
            </a:p>
          </p:txBody>
        </p:sp>
      </p:grpSp>
      <p:sp>
        <p:nvSpPr>
          <p:cNvPr id="30" name="TextBox 30">
            <a:extLst>
              <a:ext uri="{FF2B5EF4-FFF2-40B4-BE49-F238E27FC236}">
                <a16:creationId xmlns:a16="http://schemas.microsoft.com/office/drawing/2014/main" id="{E51AAAE9-DABA-8606-72F1-B19D739C9244}"/>
              </a:ext>
            </a:extLst>
          </p:cNvPr>
          <p:cNvSpPr txBox="1"/>
          <p:nvPr/>
        </p:nvSpPr>
        <p:spPr>
          <a:xfrm>
            <a:off x="3022600" y="3060700"/>
            <a:ext cx="12230100" cy="723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프로젝트의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전체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흐름을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한눈에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파악할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수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있도록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구성된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페이지입니다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. </a:t>
            </a:r>
          </a:p>
          <a:p>
            <a:pPr lvl="0" algn="ctr">
              <a:lnSpc>
                <a:spcPct val="124499"/>
              </a:lnSpc>
            </a:pP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복잡한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업무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절차를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단계별로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단순화하여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보여주고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, 각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과정에서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수행해야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할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핵심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과업을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명확히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제시해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보세요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.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76F242E5-40B5-9480-F207-88815D507FA8}"/>
              </a:ext>
            </a:extLst>
          </p:cNvPr>
          <p:cNvSpPr txBox="1"/>
          <p:nvPr/>
        </p:nvSpPr>
        <p:spPr>
          <a:xfrm>
            <a:off x="5346700" y="1739900"/>
            <a:ext cx="75946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499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채널 분류모델</a:t>
            </a:r>
            <a:endParaRPr lang="en-US" sz="5499" b="0" i="0" u="none" strike="noStrike" dirty="0">
              <a:solidFill>
                <a:srgbClr val="00074E"/>
              </a:solidFill>
              <a:latin typeface="Pretendard SemiBold"/>
              <a:ea typeface="Pretendard SemiBold"/>
              <a:cs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748314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395BA5-3151-530C-9028-0BE95BC9E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F8F2CD1-74B2-C554-AD23-BC0E758CCA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13E29333-0307-BDA3-953F-D9E6B556AD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4C898480-3483-B096-1D02-E559910BBE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0C5230BF-CC09-7208-46F2-81F3D95C4BA2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05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E081A4-D5F2-6C38-EE40-5B9388B175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432300"/>
            <a:ext cx="17056100" cy="5295900"/>
          </a:xfrm>
          <a:prstGeom prst="rect">
            <a:avLst/>
          </a:prstGeom>
        </p:spPr>
      </p:pic>
      <p:sp>
        <p:nvSpPr>
          <p:cNvPr id="42" name="TextBox 42">
            <a:extLst>
              <a:ext uri="{FF2B5EF4-FFF2-40B4-BE49-F238E27FC236}">
                <a16:creationId xmlns:a16="http://schemas.microsoft.com/office/drawing/2014/main" id="{67D69D8E-19B1-97F8-9665-9B33CA8D9C1C}"/>
              </a:ext>
            </a:extLst>
          </p:cNvPr>
          <p:cNvSpPr txBox="1"/>
          <p:nvPr/>
        </p:nvSpPr>
        <p:spPr>
          <a:xfrm>
            <a:off x="5346700" y="571500"/>
            <a:ext cx="75946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499" b="0" i="0" u="none" strike="noStrike" dirty="0" err="1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머신러닝</a:t>
            </a:r>
            <a:endParaRPr lang="en-US" sz="5499" b="0" i="0" u="none" strike="noStrike" dirty="0">
              <a:solidFill>
                <a:srgbClr val="00074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78020B-AAA7-F05A-7AE4-398505E49BFC}"/>
              </a:ext>
            </a:extLst>
          </p:cNvPr>
          <p:cNvSpPr txBox="1"/>
          <p:nvPr/>
        </p:nvSpPr>
        <p:spPr>
          <a:xfrm>
            <a:off x="1676400" y="2199153"/>
            <a:ext cx="4343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 누수 관련으로 </a:t>
            </a:r>
            <a:r>
              <a:rPr lang="en-US" altLang="ko-KR" dirty="0"/>
              <a:t>Train/Test</a:t>
            </a:r>
            <a:r>
              <a:rPr lang="ko-KR" altLang="en-US" dirty="0"/>
              <a:t>를 군집 분석 전에 </a:t>
            </a:r>
            <a:r>
              <a:rPr lang="en-US" altLang="ko-KR" dirty="0"/>
              <a:t>80:20</a:t>
            </a:r>
            <a:r>
              <a:rPr lang="ko-KR" altLang="en-US" dirty="0"/>
              <a:t>으로 실행한다 설명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머신러닝</a:t>
            </a:r>
            <a:r>
              <a:rPr lang="ko-KR" altLang="en-US" dirty="0"/>
              <a:t> 결과 비교표</a:t>
            </a:r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en-US" altLang="ko-KR" dirty="0"/>
              <a:t>(F1 score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967592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CC5098-6B4F-8EC1-3933-83FACC9DE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F530D64-C918-A353-23C4-253A79868B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8AB4BC1-7E84-4F69-D855-3B1064323E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4F9B79B7-2042-F821-11E0-65299A5874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CE88614E-B4FC-63EA-ADD9-423FAF0CD403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05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D8C7137A-311C-1D0A-0A75-F300714B14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432300"/>
            <a:ext cx="17056100" cy="5295900"/>
          </a:xfrm>
          <a:prstGeom prst="rect">
            <a:avLst/>
          </a:prstGeom>
        </p:spPr>
      </p:pic>
      <p:sp>
        <p:nvSpPr>
          <p:cNvPr id="42" name="TextBox 42">
            <a:extLst>
              <a:ext uri="{FF2B5EF4-FFF2-40B4-BE49-F238E27FC236}">
                <a16:creationId xmlns:a16="http://schemas.microsoft.com/office/drawing/2014/main" id="{C5006F7C-49E1-1390-7611-FAB4BB078D0A}"/>
              </a:ext>
            </a:extLst>
          </p:cNvPr>
          <p:cNvSpPr txBox="1"/>
          <p:nvPr/>
        </p:nvSpPr>
        <p:spPr>
          <a:xfrm>
            <a:off x="4209143" y="571500"/>
            <a:ext cx="125984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000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최적의 모델 선정 및 채널 </a:t>
            </a:r>
            <a:r>
              <a:rPr lang="ko-KR" altLang="en-US" sz="6000" dirty="0" err="1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오분류</a:t>
            </a:r>
            <a:r>
              <a:rPr lang="ko-KR" altLang="en-US" sz="6000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 고객 도출</a:t>
            </a:r>
            <a:endParaRPr lang="en-US" altLang="ko-KR" sz="6000" dirty="0">
              <a:solidFill>
                <a:srgbClr val="00074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B150B4-9AC6-23DF-1558-A9A799CFE5FD}"/>
              </a:ext>
            </a:extLst>
          </p:cNvPr>
          <p:cNvSpPr txBox="1"/>
          <p:nvPr/>
        </p:nvSpPr>
        <p:spPr>
          <a:xfrm>
            <a:off x="1676400" y="2199153"/>
            <a:ext cx="4343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최적의 모델 선정 기준설명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Test</a:t>
            </a:r>
            <a:r>
              <a:rPr lang="ko-KR" altLang="en-US" dirty="0"/>
              <a:t>에 대한 </a:t>
            </a:r>
            <a:r>
              <a:rPr lang="ko-KR" altLang="en-US" dirty="0" err="1"/>
              <a:t>오분류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 </a:t>
            </a:r>
            <a:r>
              <a:rPr lang="ko-KR" altLang="en-US" dirty="0" err="1"/>
              <a:t>정분류</a:t>
            </a:r>
            <a:r>
              <a:rPr lang="en-US" altLang="ko-KR" dirty="0"/>
              <a:t> </a:t>
            </a:r>
            <a:r>
              <a:rPr lang="ko-KR" altLang="en-US" dirty="0"/>
              <a:t>혼동행렬 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채널 </a:t>
            </a:r>
            <a:r>
              <a:rPr lang="ko-KR" altLang="en-US" dirty="0" err="1"/>
              <a:t>오분류</a:t>
            </a:r>
            <a:r>
              <a:rPr lang="ko-KR" altLang="en-US" dirty="0"/>
              <a:t> 확인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586368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B696B5-1DDE-E03F-2ABA-39B8DBE0E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F1D89E2-4706-91CC-9FFB-51402103DA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788650F-9349-599E-3C91-4F4283632E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1CBDB445-F62C-755D-CC9B-4198D8A182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AAAD8847-0B3C-F90E-F9BD-5D2DCB822F3A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05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02F3BFF9-0CD9-FF3E-1DF1-316F459AF6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432300"/>
            <a:ext cx="17056100" cy="5295900"/>
          </a:xfrm>
          <a:prstGeom prst="rect">
            <a:avLst/>
          </a:prstGeom>
        </p:spPr>
      </p:pic>
      <p:sp>
        <p:nvSpPr>
          <p:cNvPr id="42" name="TextBox 42">
            <a:extLst>
              <a:ext uri="{FF2B5EF4-FFF2-40B4-BE49-F238E27FC236}">
                <a16:creationId xmlns:a16="http://schemas.microsoft.com/office/drawing/2014/main" id="{8132772F-FBDD-F980-505E-A7046ABC9F68}"/>
              </a:ext>
            </a:extLst>
          </p:cNvPr>
          <p:cNvSpPr txBox="1"/>
          <p:nvPr/>
        </p:nvSpPr>
        <p:spPr>
          <a:xfrm>
            <a:off x="4209143" y="571500"/>
            <a:ext cx="125984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000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채널 </a:t>
            </a:r>
            <a:r>
              <a:rPr lang="ko-KR" altLang="en-US" sz="6000" dirty="0" err="1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오분류</a:t>
            </a:r>
            <a:r>
              <a:rPr lang="ko-KR" altLang="en-US" sz="6000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 고객 확인</a:t>
            </a:r>
            <a:endParaRPr lang="en-US" altLang="ko-KR" sz="6000" dirty="0">
              <a:solidFill>
                <a:srgbClr val="00074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11E450-F3E4-3302-7022-77F6300BBCC0}"/>
              </a:ext>
            </a:extLst>
          </p:cNvPr>
          <p:cNvSpPr txBox="1"/>
          <p:nvPr/>
        </p:nvSpPr>
        <p:spPr>
          <a:xfrm>
            <a:off x="1676400" y="2199153"/>
            <a:ext cx="434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</a:t>
            </a:r>
            <a:r>
              <a:rPr lang="ko-KR" altLang="en-US" dirty="0"/>
              <a:t>개의 고객에 대한 설명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6557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B0E973-CB2C-78CF-A597-1454ACF0E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B95BB9E-9001-E05F-7591-1152033AD4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5130800"/>
            <a:ext cx="18326100" cy="5207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A7260DE2-E565-5CE1-C408-13238884CA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901700"/>
            <a:ext cx="17068800" cy="73406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EE77DF71-8726-9661-A94B-78974AECAF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376400" y="635000"/>
            <a:ext cx="2844800" cy="15240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D0E331DB-D07B-0D34-704F-E66642E3CF36}"/>
              </a:ext>
            </a:extLst>
          </p:cNvPr>
          <p:cNvSpPr txBox="1"/>
          <p:nvPr/>
        </p:nvSpPr>
        <p:spPr>
          <a:xfrm>
            <a:off x="14757400" y="10160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1799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BUSINESS</a:t>
            </a:r>
          </a:p>
          <a:p>
            <a:pPr lvl="0" algn="ctr">
              <a:lnSpc>
                <a:spcPct val="107899"/>
              </a:lnSpc>
            </a:pPr>
            <a:r>
              <a:rPr lang="en-US" sz="1799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PLAN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FD853678-66A8-112D-6BF1-93AF6F4857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2500" y="5854700"/>
            <a:ext cx="2730500" cy="7493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6FF3EBC4-AFA7-0BCF-3572-A86934132217}"/>
              </a:ext>
            </a:extLst>
          </p:cNvPr>
          <p:cNvSpPr txBox="1"/>
          <p:nvPr/>
        </p:nvSpPr>
        <p:spPr>
          <a:xfrm>
            <a:off x="6235700" y="6045200"/>
            <a:ext cx="2311400" cy="381000"/>
          </a:xfrm>
          <a:prstGeom prst="rect">
            <a:avLst/>
          </a:prstGeom>
        </p:spPr>
        <p:txBody>
          <a:bodyPr lIns="0" tIns="25400" rIns="0" bIns="2540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 dirty="0" err="1">
                <a:solidFill>
                  <a:srgbClr val="00074E"/>
                </a:solidFill>
                <a:latin typeface="Pretendard Medium"/>
                <a:ea typeface="Pretendard Medium"/>
                <a:cs typeface="Pretendard Medium"/>
              </a:rPr>
              <a:t>핵심</a:t>
            </a:r>
            <a:r>
              <a:rPr lang="en-US" sz="2000" b="0" i="0" u="none" strike="noStrike" dirty="0">
                <a:solidFill>
                  <a:srgbClr val="00074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000" b="0" i="0" u="none" strike="noStrike" dirty="0" err="1">
                <a:solidFill>
                  <a:srgbClr val="00074E"/>
                </a:solidFill>
                <a:latin typeface="Pretendard Medium"/>
                <a:ea typeface="Pretendard Medium"/>
                <a:cs typeface="Pretendard Medium"/>
              </a:rPr>
              <a:t>키워드</a:t>
            </a:r>
            <a:r>
              <a:rPr lang="en-US" sz="2000" b="0" i="0" u="none" strike="noStrike" dirty="0">
                <a:solidFill>
                  <a:srgbClr val="00074E"/>
                </a:solidFill>
                <a:latin typeface="Pretendard Medium"/>
                <a:ea typeface="Pretendard Medium"/>
                <a:cs typeface="Pretendard Medium"/>
              </a:rPr>
              <a:t> A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C90C35C5-29DE-83A3-1901-263EDFEDB5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26500" y="5854700"/>
            <a:ext cx="2730500" cy="7493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A4EF09A1-F746-76FB-3BC4-3B3DA9BE471E}"/>
              </a:ext>
            </a:extLst>
          </p:cNvPr>
          <p:cNvSpPr txBox="1"/>
          <p:nvPr/>
        </p:nvSpPr>
        <p:spPr>
          <a:xfrm>
            <a:off x="9029700" y="6045200"/>
            <a:ext cx="2311400" cy="381000"/>
          </a:xfrm>
          <a:prstGeom prst="rect">
            <a:avLst/>
          </a:prstGeom>
        </p:spPr>
        <p:txBody>
          <a:bodyPr lIns="0" tIns="25400" rIns="0" bIns="2540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>
                <a:solidFill>
                  <a:srgbClr val="00074E"/>
                </a:solidFill>
                <a:latin typeface="Pretendard Medium"/>
                <a:ea typeface="Pretendard Medium"/>
                <a:cs typeface="Pretendard Medium"/>
              </a:rPr>
              <a:t>핵심 키워드 B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3DE06084-88B9-2ACC-2C73-8D39F515F5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20500" y="5854700"/>
            <a:ext cx="2730500" cy="7493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1EF677A2-C964-1568-DBE4-11855680EFAB}"/>
              </a:ext>
            </a:extLst>
          </p:cNvPr>
          <p:cNvSpPr txBox="1"/>
          <p:nvPr/>
        </p:nvSpPr>
        <p:spPr>
          <a:xfrm>
            <a:off x="11823700" y="6045200"/>
            <a:ext cx="2311400" cy="381000"/>
          </a:xfrm>
          <a:prstGeom prst="rect">
            <a:avLst/>
          </a:prstGeom>
        </p:spPr>
        <p:txBody>
          <a:bodyPr lIns="0" tIns="25400" rIns="0" bIns="2540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>
                <a:solidFill>
                  <a:srgbClr val="00074E"/>
                </a:solidFill>
                <a:latin typeface="Pretendard Medium"/>
                <a:ea typeface="Pretendard Medium"/>
                <a:cs typeface="Pretendard Medium"/>
              </a:rPr>
              <a:t>핵심 키워드 C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12E3D65-449E-10E9-DB33-00DA759D58E1}"/>
              </a:ext>
            </a:extLst>
          </p:cNvPr>
          <p:cNvSpPr txBox="1"/>
          <p:nvPr/>
        </p:nvSpPr>
        <p:spPr>
          <a:xfrm>
            <a:off x="6032500" y="2673350"/>
            <a:ext cx="6781800" cy="215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5999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마케팅 전략</a:t>
            </a:r>
            <a:endParaRPr lang="en-US" sz="5999" b="0" i="0" u="none" strike="noStrike" dirty="0">
              <a:solidFill>
                <a:srgbClr val="00074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CB184B3-A57E-ACA6-E222-D2E6E3FE8335}"/>
              </a:ext>
            </a:extLst>
          </p:cNvPr>
          <p:cNvSpPr txBox="1"/>
          <p:nvPr/>
        </p:nvSpPr>
        <p:spPr>
          <a:xfrm>
            <a:off x="3124200" y="3251200"/>
            <a:ext cx="2882900" cy="1003300"/>
          </a:xfrm>
          <a:prstGeom prst="rect">
            <a:avLst/>
          </a:prstGeom>
        </p:spPr>
        <p:txBody>
          <a:bodyPr lIns="0" tIns="69848" rIns="0" bIns="69848" rtlCol="0" anchor="ctr"/>
          <a:lstStyle/>
          <a:p>
            <a:pPr lvl="0" algn="l">
              <a:lnSpc>
                <a:spcPct val="99600"/>
              </a:lnSpc>
            </a:pPr>
            <a:r>
              <a:rPr lang="en-US" sz="5499" b="0" i="0" u="none" strike="noStrike" dirty="0">
                <a:solidFill>
                  <a:srgbClr val="4A5BA3"/>
                </a:solidFill>
                <a:latin typeface="Pretendard SemiBold"/>
                <a:ea typeface="Pretendard SemiBold"/>
                <a:cs typeface="Pretendard SemiBold"/>
              </a:rPr>
              <a:t>PART 1.</a:t>
            </a:r>
          </a:p>
        </p:txBody>
      </p:sp>
    </p:spTree>
    <p:extLst>
      <p:ext uri="{BB962C8B-B14F-4D97-AF65-F5344CB8AC3E}">
        <p14:creationId xmlns:p14="http://schemas.microsoft.com/office/powerpoint/2010/main" val="12617158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086EF6-AB0B-223D-52CA-174988769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309F882-6D77-5ADD-EAAE-BAFDC9E33A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E8EB87BA-D440-F266-4348-1AF6964069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FEFF17E8-242F-BBAA-A975-A8E0F8EBC1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1D122210-BD2E-1B43-3B3A-6C4DC81E789A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05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82AE6D0D-8B8E-BAA2-4851-8CFB63FE15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432300"/>
            <a:ext cx="17056100" cy="5295900"/>
          </a:xfrm>
          <a:prstGeom prst="rect">
            <a:avLst/>
          </a:prstGeom>
        </p:spPr>
      </p:pic>
      <p:sp>
        <p:nvSpPr>
          <p:cNvPr id="42" name="TextBox 42">
            <a:extLst>
              <a:ext uri="{FF2B5EF4-FFF2-40B4-BE49-F238E27FC236}">
                <a16:creationId xmlns:a16="http://schemas.microsoft.com/office/drawing/2014/main" id="{7C436494-0DB7-29BA-97F2-423FCD07720E}"/>
              </a:ext>
            </a:extLst>
          </p:cNvPr>
          <p:cNvSpPr txBox="1"/>
          <p:nvPr/>
        </p:nvSpPr>
        <p:spPr>
          <a:xfrm>
            <a:off x="4209143" y="571500"/>
            <a:ext cx="125984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6000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1~4</a:t>
            </a:r>
            <a:r>
              <a:rPr lang="ko-KR" altLang="en-US" sz="6000" dirty="0" err="1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번고객</a:t>
            </a:r>
            <a:r>
              <a:rPr lang="ko-KR" altLang="en-US" sz="6000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 슬라이드마다 하나씩</a:t>
            </a:r>
            <a:endParaRPr lang="en-US" altLang="ko-KR" sz="6000" dirty="0">
              <a:solidFill>
                <a:srgbClr val="00074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B72664-0559-9647-0B29-E24F0D03737A}"/>
              </a:ext>
            </a:extLst>
          </p:cNvPr>
          <p:cNvSpPr txBox="1"/>
          <p:nvPr/>
        </p:nvSpPr>
        <p:spPr>
          <a:xfrm>
            <a:off x="1676400" y="2199153"/>
            <a:ext cx="434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번고객하고 페르소나분석한 평균값하고 대조한 그래프 그리고 마케팅으로 설명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360278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7AE256-4651-AD74-01D7-4CE6D42B1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E3E1608-EC3E-D907-6C68-A05FAAADDD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7250516-2661-00A7-4A8C-9A6753075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E51CAF84-F61F-C935-01AB-DC5D3FA5F3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3A44CE86-6A6E-B0BC-B7B1-2517FA22B482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05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10A279FD-FB17-50FF-0EA1-3CC2A3DC4A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432300"/>
            <a:ext cx="17056100" cy="5295900"/>
          </a:xfrm>
          <a:prstGeom prst="rect">
            <a:avLst/>
          </a:prstGeom>
        </p:spPr>
      </p:pic>
      <p:sp>
        <p:nvSpPr>
          <p:cNvPr id="42" name="TextBox 42">
            <a:extLst>
              <a:ext uri="{FF2B5EF4-FFF2-40B4-BE49-F238E27FC236}">
                <a16:creationId xmlns:a16="http://schemas.microsoft.com/office/drawing/2014/main" id="{E798E7B5-FF0E-5A92-BA21-5C03CA6C091E}"/>
              </a:ext>
            </a:extLst>
          </p:cNvPr>
          <p:cNvSpPr txBox="1"/>
          <p:nvPr/>
        </p:nvSpPr>
        <p:spPr>
          <a:xfrm>
            <a:off x="4209143" y="571500"/>
            <a:ext cx="125984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000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한계점</a:t>
            </a:r>
            <a:endParaRPr lang="en-US" altLang="ko-KR" sz="6000" dirty="0">
              <a:solidFill>
                <a:srgbClr val="00074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80B309-89A7-C367-616E-2D2D31D208CB}"/>
              </a:ext>
            </a:extLst>
          </p:cNvPr>
          <p:cNvSpPr txBox="1"/>
          <p:nvPr/>
        </p:nvSpPr>
        <p:spPr>
          <a:xfrm>
            <a:off x="1676400" y="2199153"/>
            <a:ext cx="434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Train/Test</a:t>
            </a:r>
            <a:r>
              <a:rPr lang="ko-KR" altLang="en-US" dirty="0"/>
              <a:t>로 나누는 표본이 부족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795760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73EA70-9DA2-F261-70EA-49BA89165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B7C9CC8-F941-E8D1-8777-B6B9E61B6B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5130800"/>
            <a:ext cx="18326100" cy="5207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8AB39B16-FABA-0025-93B5-9DE4EEC61F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688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550ADDE0-6957-4B9F-4089-48D42B7772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31900" y="406400"/>
            <a:ext cx="2844800" cy="15240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70C784CB-E20B-BA3D-F097-B423871BAC80}"/>
              </a:ext>
            </a:extLst>
          </p:cNvPr>
          <p:cNvSpPr txBox="1"/>
          <p:nvPr/>
        </p:nvSpPr>
        <p:spPr>
          <a:xfrm>
            <a:off x="14312900" y="787400"/>
            <a:ext cx="2095500" cy="673100"/>
          </a:xfrm>
          <a:prstGeom prst="rect">
            <a:avLst/>
          </a:prstGeom>
        </p:spPr>
        <p:txBody>
          <a:bodyPr lIns="0" tIns="12065" rIns="0" bIns="12065" rtlCol="0" anchor="ctr"/>
          <a:lstStyle/>
          <a:p>
            <a:pPr lvl="0" algn="ctr">
              <a:lnSpc>
                <a:spcPct val="107899"/>
              </a:lnSpc>
            </a:pPr>
            <a:r>
              <a:rPr lang="en-US" sz="1899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BUSINESS</a:t>
            </a:r>
          </a:p>
          <a:p>
            <a:pPr lvl="0" algn="ctr">
              <a:lnSpc>
                <a:spcPct val="107899"/>
              </a:lnSpc>
            </a:pPr>
            <a:r>
              <a:rPr lang="en-US" sz="1899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PLAN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C3B3002F-4CB5-E0C9-F4C8-153BD2FC29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7400" y="7200900"/>
            <a:ext cx="1689100" cy="4953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7DAF049E-A70D-1E3E-9BF8-52E55C75D58A}"/>
              </a:ext>
            </a:extLst>
          </p:cNvPr>
          <p:cNvSpPr txBox="1"/>
          <p:nvPr/>
        </p:nvSpPr>
        <p:spPr>
          <a:xfrm>
            <a:off x="8585200" y="7289800"/>
            <a:ext cx="1320800" cy="304800"/>
          </a:xfrm>
          <a:prstGeom prst="rect">
            <a:avLst/>
          </a:prstGeom>
        </p:spPr>
        <p:txBody>
          <a:bodyPr lIns="0" tIns="20372" rIns="0" bIns="20372" rtlCol="0" anchor="ctr"/>
          <a:lstStyle/>
          <a:p>
            <a:pPr lvl="0" algn="ctr">
              <a:lnSpc>
                <a:spcPct val="99600"/>
              </a:lnSpc>
            </a:pPr>
            <a:r>
              <a:rPr lang="en-US" sz="1604" b="0" i="0" u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</a:rPr>
              <a:t>Manager.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6ED45CA-D014-307D-5EE3-D94D7AF58FA4}"/>
              </a:ext>
            </a:extLst>
          </p:cNvPr>
          <p:cNvSpPr txBox="1"/>
          <p:nvPr/>
        </p:nvSpPr>
        <p:spPr>
          <a:xfrm>
            <a:off x="10363200" y="7264400"/>
            <a:ext cx="2146300" cy="3683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l">
              <a:lnSpc>
                <a:spcPct val="99600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oppins Regular"/>
                <a:ea typeface="Poppins Regular"/>
                <a:cs typeface="Poppins Regular"/>
              </a:rPr>
              <a:t>Kim Miri</a:t>
            </a:r>
          </a:p>
        </p:txBody>
      </p:sp>
      <p:pic>
        <p:nvPicPr>
          <p:cNvPr id="11" name="Picture 11">
            <a:extLst>
              <a:ext uri="{FF2B5EF4-FFF2-40B4-BE49-F238E27FC236}">
                <a16:creationId xmlns:a16="http://schemas.microsoft.com/office/drawing/2014/main" id="{930B50B6-20DE-EF88-AFAA-EAEE1541B9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07400" y="7835900"/>
            <a:ext cx="1689100" cy="495300"/>
          </a:xfrm>
          <a:prstGeom prst="rect">
            <a:avLst/>
          </a:prstGeom>
        </p:spPr>
      </p:pic>
      <p:sp>
        <p:nvSpPr>
          <p:cNvPr id="12" name="TextBox 12">
            <a:extLst>
              <a:ext uri="{FF2B5EF4-FFF2-40B4-BE49-F238E27FC236}">
                <a16:creationId xmlns:a16="http://schemas.microsoft.com/office/drawing/2014/main" id="{CC84DC3F-AA23-4586-8A45-42596CF1826F}"/>
              </a:ext>
            </a:extLst>
          </p:cNvPr>
          <p:cNvSpPr txBox="1"/>
          <p:nvPr/>
        </p:nvSpPr>
        <p:spPr>
          <a:xfrm>
            <a:off x="8585200" y="7937500"/>
            <a:ext cx="1320800" cy="304800"/>
          </a:xfrm>
          <a:prstGeom prst="rect">
            <a:avLst/>
          </a:prstGeom>
        </p:spPr>
        <p:txBody>
          <a:bodyPr lIns="0" tIns="20372" rIns="0" bIns="20372" rtlCol="0" anchor="ctr"/>
          <a:lstStyle/>
          <a:p>
            <a:pPr lvl="0" algn="ctr">
              <a:lnSpc>
                <a:spcPct val="99600"/>
              </a:lnSpc>
            </a:pPr>
            <a:r>
              <a:rPr lang="en-US" sz="1604" b="0" i="0" u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</a:rPr>
              <a:t>Tel.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E612776-6D92-7EAD-7779-4E6FD80A4127}"/>
              </a:ext>
            </a:extLst>
          </p:cNvPr>
          <p:cNvSpPr txBox="1"/>
          <p:nvPr/>
        </p:nvSpPr>
        <p:spPr>
          <a:xfrm>
            <a:off x="10363200" y="7899400"/>
            <a:ext cx="3479800" cy="3683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l">
              <a:lnSpc>
                <a:spcPct val="99600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oppins Regular"/>
                <a:ea typeface="Poppins Regular"/>
                <a:cs typeface="Poppins Regular"/>
              </a:rPr>
              <a:t>000.0000.0000</a:t>
            </a:r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943AF9A6-6368-6C0A-166E-A09D265DBB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7400" y="8483600"/>
            <a:ext cx="1689100" cy="495300"/>
          </a:xfrm>
          <a:prstGeom prst="rect">
            <a:avLst/>
          </a:prstGeom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8304D473-CE24-9E08-B2EE-4134D85047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8100" y="2044700"/>
            <a:ext cx="6197600" cy="6197600"/>
          </a:xfrm>
          <a:prstGeom prst="rect">
            <a:avLst/>
          </a:prstGeom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75F04D46-C100-A951-08F5-6F2892985CE3}"/>
              </a:ext>
            </a:extLst>
          </p:cNvPr>
          <p:cNvSpPr txBox="1"/>
          <p:nvPr/>
        </p:nvSpPr>
        <p:spPr>
          <a:xfrm>
            <a:off x="8585200" y="8572500"/>
            <a:ext cx="1320800" cy="304800"/>
          </a:xfrm>
          <a:prstGeom prst="rect">
            <a:avLst/>
          </a:prstGeom>
        </p:spPr>
        <p:txBody>
          <a:bodyPr lIns="0" tIns="20372" rIns="0" bIns="20372" rtlCol="0" anchor="ctr"/>
          <a:lstStyle/>
          <a:p>
            <a:pPr lvl="0" algn="ctr">
              <a:lnSpc>
                <a:spcPct val="99600"/>
              </a:lnSpc>
            </a:pPr>
            <a:r>
              <a:rPr lang="en-US" sz="1604" b="0" i="0" u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</a:rPr>
              <a:t>E-Mail.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EE8C1E1-E854-D5B9-76CF-E9B9681E26AC}"/>
              </a:ext>
            </a:extLst>
          </p:cNvPr>
          <p:cNvSpPr txBox="1"/>
          <p:nvPr/>
        </p:nvSpPr>
        <p:spPr>
          <a:xfrm>
            <a:off x="10363200" y="8547100"/>
            <a:ext cx="3149600" cy="3683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l">
              <a:lnSpc>
                <a:spcPct val="99600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oppins Regular"/>
                <a:ea typeface="Poppins Regular"/>
                <a:cs typeface="Poppins Regular"/>
              </a:rPr>
              <a:t>miri@miricompany.com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74E2AB0-ABB3-2017-ED7F-3F93B73A7DC4}"/>
              </a:ext>
            </a:extLst>
          </p:cNvPr>
          <p:cNvSpPr txBox="1"/>
          <p:nvPr/>
        </p:nvSpPr>
        <p:spPr>
          <a:xfrm>
            <a:off x="8445500" y="5334000"/>
            <a:ext cx="66167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20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이상으로 설명을 마치며, 끝까지 검토해 주셔서 감사드립니다.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F47AE9DC-C476-88C2-523E-154B6B819A48}"/>
              </a:ext>
            </a:extLst>
          </p:cNvPr>
          <p:cNvSpPr txBox="1"/>
          <p:nvPr/>
        </p:nvSpPr>
        <p:spPr>
          <a:xfrm>
            <a:off x="8407400" y="3467100"/>
            <a:ext cx="7581900" cy="182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0134" b="0" i="0" u="none" strike="noStrike">
                <a:solidFill>
                  <a:srgbClr val="00074E"/>
                </a:solidFill>
                <a:latin typeface="Poppins Medium"/>
                <a:ea typeface="Poppins Medium"/>
                <a:cs typeface="Poppins Medium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3269925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CHAPTER</a:t>
            </a:r>
          </a:p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02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432300"/>
            <a:ext cx="17056100" cy="5295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7600" y="5092700"/>
            <a:ext cx="3098800" cy="4000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03400" y="5410200"/>
            <a:ext cx="1739900" cy="4826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057400" y="5499100"/>
            <a:ext cx="1231900" cy="330200"/>
          </a:xfrm>
          <a:prstGeom prst="rect">
            <a:avLst/>
          </a:prstGeom>
        </p:spPr>
        <p:txBody>
          <a:bodyPr lIns="0" tIns="22225" rIns="0" bIns="22225" rtlCol="0" anchor="ctr"/>
          <a:lstStyle/>
          <a:p>
            <a:pPr lvl="0" algn="ctr">
              <a:lnSpc>
                <a:spcPct val="99600"/>
              </a:lnSpc>
            </a:pPr>
            <a:r>
              <a:rPr lang="en-US" sz="1749" b="0" i="0" u="none" strike="noStrike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프로젝트명</a:t>
            </a:r>
            <a:endParaRPr lang="en-US" sz="1749" b="0" i="0" u="none" strike="noStrike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30700" y="5092700"/>
            <a:ext cx="3098800" cy="4000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03800" y="5397500"/>
            <a:ext cx="1739900" cy="4826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5092700" y="5486400"/>
            <a:ext cx="1562100" cy="330200"/>
          </a:xfrm>
          <a:prstGeom prst="rect">
            <a:avLst/>
          </a:prstGeom>
        </p:spPr>
        <p:txBody>
          <a:bodyPr lIns="0" tIns="22225" rIns="0" bIns="22225" rtlCol="0" anchor="ctr"/>
          <a:lstStyle/>
          <a:p>
            <a:pPr lvl="0" algn="ctr">
              <a:lnSpc>
                <a:spcPct val="99600"/>
              </a:lnSpc>
            </a:pPr>
            <a:r>
              <a:rPr lang="en-US" sz="1749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수행기간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31100" y="5092700"/>
            <a:ext cx="3098800" cy="4000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04200" y="5397500"/>
            <a:ext cx="1739900" cy="4826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8458200" y="5486400"/>
            <a:ext cx="1231900" cy="330200"/>
          </a:xfrm>
          <a:prstGeom prst="rect">
            <a:avLst/>
          </a:prstGeom>
        </p:spPr>
        <p:txBody>
          <a:bodyPr lIns="0" tIns="22225" rIns="0" bIns="22225" rtlCol="0" anchor="ctr"/>
          <a:lstStyle/>
          <a:p>
            <a:pPr lvl="0" algn="ctr">
              <a:lnSpc>
                <a:spcPct val="99600"/>
              </a:lnSpc>
            </a:pPr>
            <a:r>
              <a:rPr lang="en-US" sz="1749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주관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95000" y="5092700"/>
            <a:ext cx="6362700" cy="939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010900" y="5321300"/>
            <a:ext cx="1244600" cy="4826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1188700" y="5410200"/>
            <a:ext cx="889000" cy="330200"/>
          </a:xfrm>
          <a:prstGeom prst="rect">
            <a:avLst/>
          </a:prstGeom>
        </p:spPr>
        <p:txBody>
          <a:bodyPr lIns="0" tIns="22225" rIns="0" bIns="22225" rtlCol="0" anchor="ctr"/>
          <a:lstStyle/>
          <a:p>
            <a:pPr lvl="0" algn="ctr">
              <a:lnSpc>
                <a:spcPct val="99600"/>
              </a:lnSpc>
            </a:pPr>
            <a:r>
              <a:rPr lang="en-US" sz="1749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목표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95000" y="6108700"/>
            <a:ext cx="6362700" cy="9398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010900" y="6337300"/>
            <a:ext cx="1244600" cy="4826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1188700" y="6426200"/>
            <a:ext cx="889000" cy="330200"/>
          </a:xfrm>
          <a:prstGeom prst="rect">
            <a:avLst/>
          </a:prstGeom>
        </p:spPr>
        <p:txBody>
          <a:bodyPr lIns="0" tIns="22225" rIns="0" bIns="22225" rtlCol="0" anchor="ctr"/>
          <a:lstStyle/>
          <a:p>
            <a:pPr lvl="0" algn="ctr">
              <a:lnSpc>
                <a:spcPct val="99600"/>
              </a:lnSpc>
            </a:pPr>
            <a:r>
              <a:rPr lang="en-US" sz="1749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예산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95000" y="7137400"/>
            <a:ext cx="6362700" cy="9398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010900" y="7366000"/>
            <a:ext cx="1244600" cy="4826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1188700" y="7442200"/>
            <a:ext cx="889000" cy="330200"/>
          </a:xfrm>
          <a:prstGeom prst="rect">
            <a:avLst/>
          </a:prstGeom>
        </p:spPr>
        <p:txBody>
          <a:bodyPr lIns="0" tIns="22225" rIns="0" bIns="22225" rtlCol="0" anchor="ctr"/>
          <a:lstStyle/>
          <a:p>
            <a:pPr lvl="0" algn="ctr">
              <a:lnSpc>
                <a:spcPct val="99600"/>
              </a:lnSpc>
            </a:pPr>
            <a:r>
              <a:rPr lang="en-US" sz="1749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기대효과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95000" y="8153400"/>
            <a:ext cx="6362700" cy="9398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010900" y="8382000"/>
            <a:ext cx="1244600" cy="4826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17700" y="6261100"/>
            <a:ext cx="1498600" cy="15113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30800" y="6261100"/>
            <a:ext cx="1498600" cy="15113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31200" y="6261100"/>
            <a:ext cx="1498600" cy="15113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86000" y="6616700"/>
            <a:ext cx="787400" cy="7874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486400" y="6629400"/>
            <a:ext cx="787400" cy="7874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686800" y="6616700"/>
            <a:ext cx="787400" cy="787400"/>
          </a:xfrm>
          <a:prstGeom prst="rect">
            <a:avLst/>
          </a:prstGeom>
        </p:spPr>
      </p:pic>
      <p:sp>
        <p:nvSpPr>
          <p:cNvPr id="33" name="TextBox 33"/>
          <p:cNvSpPr txBox="1"/>
          <p:nvPr/>
        </p:nvSpPr>
        <p:spPr>
          <a:xfrm>
            <a:off x="11188700" y="8470900"/>
            <a:ext cx="889000" cy="330200"/>
          </a:xfrm>
          <a:prstGeom prst="rect">
            <a:avLst/>
          </a:prstGeom>
        </p:spPr>
        <p:txBody>
          <a:bodyPr lIns="0" tIns="22225" rIns="0" bIns="22225" rtlCol="0" anchor="ctr"/>
          <a:lstStyle/>
          <a:p>
            <a:pPr lvl="0" algn="ctr">
              <a:lnSpc>
                <a:spcPct val="99600"/>
              </a:lnSpc>
            </a:pPr>
            <a:r>
              <a:rPr lang="en-US" sz="1749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참여인력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739900" y="8166100"/>
            <a:ext cx="18669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899" b="0" i="0" u="none" strike="noStrike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미리프로젝트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432300" y="8166100"/>
            <a:ext cx="28829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899" b="0" i="0" u="none" strike="noStrike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20XX.00.00~ 00.00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140700" y="8166100"/>
            <a:ext cx="18669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899" b="0" i="0" u="none" strike="noStrike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미리컴퍼니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534900" y="5384800"/>
            <a:ext cx="40005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1899" b="0" i="0" u="none" strike="noStrike">
                <a:solidFill>
                  <a:srgbClr val="2C2C2C"/>
                </a:solidFill>
                <a:latin typeface="Pretendard Regular"/>
                <a:ea typeface="Pretendard Regular"/>
                <a:cs typeface="Pretendard Regular"/>
              </a:rPr>
              <a:t>프로젝트의 목표 한 줄 요약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534900" y="6400800"/>
            <a:ext cx="40005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1899" b="0" i="0" u="none" strike="noStrike">
                <a:solidFill>
                  <a:srgbClr val="2C2C2C"/>
                </a:solidFill>
                <a:latin typeface="Pretendard Regular"/>
                <a:ea typeface="Pretendard Regular"/>
                <a:cs typeface="Pretendard Regular"/>
              </a:rPr>
              <a:t>0억원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534900" y="7429500"/>
            <a:ext cx="40005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1899" b="0" i="0" u="none" strike="noStrike">
                <a:solidFill>
                  <a:srgbClr val="2C2C2C"/>
                </a:solidFill>
                <a:latin typeface="Pretendard Regular"/>
                <a:ea typeface="Pretendard Regular"/>
                <a:cs typeface="Pretendard Regular"/>
              </a:rPr>
              <a:t>매출 00% 증가 ㅣ MAU 00% 증가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534900" y="8445500"/>
            <a:ext cx="40005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1899" b="0" i="0" u="none" strike="noStrike">
                <a:solidFill>
                  <a:srgbClr val="2C2C2C"/>
                </a:solidFill>
                <a:latin typeface="Pretendard Regular"/>
                <a:ea typeface="Pretendard Regular"/>
                <a:cs typeface="Pretendard Regular"/>
              </a:rPr>
              <a:t>0팀 (0명) 참여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022600" y="3060700"/>
            <a:ext cx="12230100" cy="723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이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프로젝트가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왜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시작되었으며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,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최종적으로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달성하고자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하는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바가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무엇인지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명확히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적어주세요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.</a:t>
            </a:r>
          </a:p>
          <a:p>
            <a:pPr lvl="0" algn="ctr">
              <a:lnSpc>
                <a:spcPct val="124499"/>
              </a:lnSpc>
            </a:pP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해당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프레젠테이션을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보는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이해관계자들에게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프로젝트의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전체적인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규모와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범위를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빠르게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인지시키는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용도로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899" b="0" i="0" u="none" strike="noStrike" dirty="0" err="1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활용하세요</a:t>
            </a:r>
            <a:r>
              <a:rPr lang="en-US" sz="1899" b="0" i="0" u="none" strike="noStrike" dirty="0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. 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346700" y="1739900"/>
            <a:ext cx="75946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499" b="0" i="0" u="none" strike="noStrike" dirty="0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데이터 수집 및 품질점검</a:t>
            </a:r>
            <a:endParaRPr lang="en-US" sz="5499" b="0" i="0" u="none" strike="noStrike" dirty="0">
              <a:solidFill>
                <a:srgbClr val="00074E"/>
              </a:solidFill>
              <a:latin typeface="Pretendard SemiBold"/>
              <a:ea typeface="Pretendard SemiBold"/>
              <a:cs typeface="Pretendard SemiBol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Chapter</a:t>
            </a:r>
          </a:p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03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71600" y="4432300"/>
            <a:ext cx="7645400" cy="4826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81900" y="7785100"/>
            <a:ext cx="1206500" cy="1206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97800" y="8013700"/>
            <a:ext cx="762000" cy="762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03400" y="4800600"/>
            <a:ext cx="1460500" cy="4826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981200" y="4889500"/>
            <a:ext cx="1104900" cy="330200"/>
          </a:xfrm>
          <a:prstGeom prst="rect">
            <a:avLst/>
          </a:prstGeom>
        </p:spPr>
        <p:txBody>
          <a:bodyPr lIns="0" tIns="22225" rIns="0" bIns="22225" rtlCol="0" anchor="ctr"/>
          <a:lstStyle/>
          <a:p>
            <a:pPr lvl="0" algn="ctr">
              <a:lnSpc>
                <a:spcPct val="99600"/>
              </a:lnSpc>
            </a:pPr>
            <a:r>
              <a:rPr lang="en-US" sz="1749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 주요 특징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03400" y="5613400"/>
            <a:ext cx="5461000" cy="419100"/>
          </a:xfrm>
          <a:prstGeom prst="rect">
            <a:avLst/>
          </a:prstGeom>
        </p:spPr>
        <p:txBody>
          <a:bodyPr lIns="0" tIns="27940" rIns="0" bIns="27940" rtlCol="0" anchor="ctr"/>
          <a:lstStyle/>
          <a:p>
            <a:pPr lvl="0" algn="l">
              <a:lnSpc>
                <a:spcPct val="99600"/>
              </a:lnSpc>
            </a:pPr>
            <a:r>
              <a:rPr lang="en-US" sz="2199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 핵심 내용을 가로로 나열해 강조하세요.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03400" y="6375400"/>
            <a:ext cx="7035800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가로 배열의 핵심은 균형미입니다. 각 항목의 텍스트 분량을 비슷하게</a:t>
            </a:r>
          </a:p>
          <a:p>
            <a:pPr lvl="0" algn="l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맞춰주세요. 들쭉날쭉한 길이보다는 가지런히 정돈된 텍스트가 신뢰도를</a:t>
            </a:r>
          </a:p>
          <a:p>
            <a:pPr lvl="0" algn="l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높입니다. 디자인의 완성도와 정보 전달력을 동시에 잡아보세요.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03400" y="7988300"/>
            <a:ext cx="46228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00" lvl="1" indent="-228600" algn="l">
              <a:lnSpc>
                <a:spcPct val="166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대등한 정보를 객관적으로 나열하세요.</a:t>
            </a:r>
          </a:p>
          <a:p>
            <a:pPr marL="228600" lvl="1" indent="-228600" algn="l">
              <a:lnSpc>
                <a:spcPct val="166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핵심 내용을 요약하여 보여주기 좋아요.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83700" y="4432300"/>
            <a:ext cx="7645400" cy="4826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494000" y="7785100"/>
            <a:ext cx="1206500" cy="1206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722600" y="8013700"/>
            <a:ext cx="762000" cy="762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728200" y="4800600"/>
            <a:ext cx="1460500" cy="4826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9906000" y="4889500"/>
            <a:ext cx="1104900" cy="330200"/>
          </a:xfrm>
          <a:prstGeom prst="rect">
            <a:avLst/>
          </a:prstGeom>
        </p:spPr>
        <p:txBody>
          <a:bodyPr lIns="0" tIns="22225" rIns="0" bIns="22225" rtlCol="0" anchor="ctr"/>
          <a:lstStyle/>
          <a:p>
            <a:pPr lvl="0" algn="ctr">
              <a:lnSpc>
                <a:spcPct val="99600"/>
              </a:lnSpc>
            </a:pPr>
            <a:r>
              <a:rPr lang="en-US" sz="1749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핵심 역량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728200" y="5613400"/>
            <a:ext cx="5461000" cy="419100"/>
          </a:xfrm>
          <a:prstGeom prst="rect">
            <a:avLst/>
          </a:prstGeom>
        </p:spPr>
        <p:txBody>
          <a:bodyPr lIns="0" tIns="27940" rIns="0" bIns="27940" rtlCol="0" anchor="ctr"/>
          <a:lstStyle/>
          <a:p>
            <a:pPr lvl="0" algn="l">
              <a:lnSpc>
                <a:spcPct val="99600"/>
              </a:lnSpc>
            </a:pPr>
            <a:r>
              <a:rPr lang="en-US" sz="2199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각 항목의 중요도가 동일할 때 적합합니다.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28200" y="6375400"/>
            <a:ext cx="7035800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기획 배경부터 결론까지, 각 단계가 끊어지지 않고 자연스럽게 연결되도록 배치해 보세요. 인과 관계나 논리적인 순서를 시각화하여 설득력을 높이는 전략적인 레이아웃입니다. 업무의 타임라인을 보여주기에도 적합합니다.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28200" y="7988300"/>
            <a:ext cx="46228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00" lvl="1" indent="-228600" algn="l">
              <a:lnSpc>
                <a:spcPct val="166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텍스트 분량을 맞춰 균형을 잡으세요.</a:t>
            </a:r>
          </a:p>
          <a:p>
            <a:pPr marL="228600" lvl="1" indent="-228600" algn="l">
              <a:lnSpc>
                <a:spcPct val="166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전체 맥락을 파악하기 쉬운 구성입니다.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022600" y="3060700"/>
            <a:ext cx="12230100" cy="723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8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여러 항목을 공평하게 다루고 싶다면 이 배치를 선택하세요. 가로로 나란히 놓인 정보들은</a:t>
            </a:r>
          </a:p>
          <a:p>
            <a:pPr lvl="0" algn="ctr">
              <a:lnSpc>
                <a:spcPct val="124499"/>
              </a:lnSpc>
            </a:pPr>
            <a:r>
              <a:rPr lang="en-US" sz="18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어느 하나가 튀지 않고 대등해 보입니다. 각 항목의 특징을 객관적으로 대조해야 할 때 유용합니다.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346700" y="1739900"/>
            <a:ext cx="75946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en-US" sz="5499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가로 배열 페이지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Chapter</a:t>
            </a:r>
          </a:p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04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-5400000">
            <a:off x="11176000" y="-177800"/>
            <a:ext cx="1092200" cy="9474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4546600" y="1739900"/>
            <a:ext cx="1092200" cy="5638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87600" y="4114800"/>
            <a:ext cx="901700" cy="901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65400" y="4292600"/>
            <a:ext cx="546100" cy="5461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3517900" y="4381500"/>
            <a:ext cx="42926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중요 정보는 맨 위로 배치하세요.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16900" y="4381500"/>
            <a:ext cx="77216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중요한 정보를 최상단에 배치해 위계를 잡으면 독자의 시선이 자연스럽게 흐릅니다.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-5400000">
            <a:off x="11188700" y="1155700"/>
            <a:ext cx="1092200" cy="9474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>
            <a:off x="4546600" y="3073400"/>
            <a:ext cx="1092200" cy="5638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00300" y="5448300"/>
            <a:ext cx="901700" cy="9017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3517900" y="5715000"/>
            <a:ext cx="43053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옆에 디테일한 설명을 더해요.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16900" y="5727700"/>
            <a:ext cx="78486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키워드만으로는 부족할 때 상세한 설명을 덧붙이면 이해가 쉬워집니다.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-5400000">
            <a:off x="11188700" y="2489200"/>
            <a:ext cx="1092200" cy="9474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5400000">
            <a:off x="4546600" y="4406900"/>
            <a:ext cx="1092200" cy="5638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00300" y="6781800"/>
            <a:ext cx="901700" cy="9017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3517900" y="7048500"/>
            <a:ext cx="43688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텍스트만으로 읽는 이를 설득해 보세요.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216900" y="7061200"/>
            <a:ext cx="78486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채우기보다 적절한 여백을 두어야 정보가 눈에 잘 들어오고 세련되어 보입니다.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-5400000">
            <a:off x="11188700" y="3822700"/>
            <a:ext cx="1092200" cy="94742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>
            <a:off x="4546600" y="5740400"/>
            <a:ext cx="1092200" cy="56388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00300" y="8115300"/>
            <a:ext cx="901700" cy="9017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65400" y="5626100"/>
            <a:ext cx="546100" cy="5461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565400" y="6959600"/>
            <a:ext cx="546100" cy="5461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565400" y="8293100"/>
            <a:ext cx="546100" cy="5588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3517900" y="8382000"/>
            <a:ext cx="43053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박스 크기를 일정하게 맞춰 정돈해요.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216900" y="8394700"/>
            <a:ext cx="77470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단락을 나누어 배치하고 핵심 메시지로 시선을 사로잡으세요.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632200" y="3022600"/>
            <a:ext cx="110236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899" b="0" i="0" u="none" strike="noStrike">
                <a:solidFill>
                  <a:srgbClr val="2C2C2C"/>
                </a:solidFill>
                <a:latin typeface="Pretendard Regular"/>
                <a:ea typeface="Pretendard Regular"/>
                <a:cs typeface="Pretendard Regular"/>
              </a:rPr>
              <a:t>각 항목에 대한 상세한 설명을 덧붙이기 좋습니다. 논리적 흐름이나 순서를 보여줄 때 효과적입니다.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346700" y="1739900"/>
            <a:ext cx="7594600" cy="1003300"/>
          </a:xfrm>
          <a:prstGeom prst="rect">
            <a:avLst/>
          </a:prstGeom>
        </p:spPr>
        <p:txBody>
          <a:bodyPr lIns="0" tIns="69848" rIns="0" bIns="69848" rtlCol="0" anchor="ctr"/>
          <a:lstStyle/>
          <a:p>
            <a:pPr lvl="0" algn="ctr">
              <a:lnSpc>
                <a:spcPct val="99600"/>
              </a:lnSpc>
            </a:pPr>
            <a:r>
              <a:rPr lang="en-US" sz="5499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 리스트형 배열 페이지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Chapter</a:t>
            </a:r>
          </a:p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05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49400" y="3556000"/>
            <a:ext cx="4851400" cy="5549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9400" y="3530600"/>
            <a:ext cx="4851400" cy="2984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29000" y="3530600"/>
            <a:ext cx="1092200" cy="5969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3517900" y="3568700"/>
            <a:ext cx="914400" cy="406400"/>
          </a:xfrm>
          <a:prstGeom prst="rect">
            <a:avLst/>
          </a:prstGeom>
        </p:spPr>
        <p:txBody>
          <a:bodyPr lIns="0" tIns="26669" rIns="0" bIns="26669" rtlCol="0" anchor="ctr"/>
          <a:lstStyle/>
          <a:p>
            <a:pPr lvl="0" algn="ctr">
              <a:lnSpc>
                <a:spcPct val="99600"/>
              </a:lnSpc>
            </a:pPr>
            <a:r>
              <a:rPr lang="en-US" sz="2099" b="0" i="0" u="none" strike="noStrike" spc="100">
                <a:solidFill>
                  <a:srgbClr val="7381BF"/>
                </a:solidFill>
                <a:latin typeface="Poppins Medium"/>
                <a:ea typeface="Poppins Medium"/>
                <a:cs typeface="Poppins Medium"/>
              </a:rPr>
              <a:t>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7200" y="7493000"/>
            <a:ext cx="4483100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7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주제와 관련된 사진을 넣고 핵심 내용을</a:t>
            </a:r>
          </a:p>
          <a:p>
            <a:pPr lvl="0" algn="ctr">
              <a:lnSpc>
                <a:spcPct val="124499"/>
              </a:lnSpc>
            </a:pPr>
            <a:r>
              <a:rPr lang="en-US" sz="17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요약해 적어보세요. 시각 자료를 활용하면</a:t>
            </a:r>
          </a:p>
          <a:p>
            <a:pPr lvl="0" algn="ctr">
              <a:lnSpc>
                <a:spcPct val="124499"/>
              </a:lnSpc>
            </a:pPr>
            <a:r>
              <a:rPr lang="en-US" sz="17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이해도를 높일 수 있습니다.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92300" y="6832600"/>
            <a:ext cx="41783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099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 신뢰를 주는 증거 사진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94500" y="3556000"/>
            <a:ext cx="4851400" cy="5549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4500" y="3530600"/>
            <a:ext cx="4851400" cy="2984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61400" y="3530600"/>
            <a:ext cx="1092200" cy="5969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8750300" y="3568700"/>
            <a:ext cx="914400" cy="406400"/>
          </a:xfrm>
          <a:prstGeom prst="rect">
            <a:avLst/>
          </a:prstGeom>
        </p:spPr>
        <p:txBody>
          <a:bodyPr lIns="0" tIns="26669" rIns="0" bIns="26669" rtlCol="0" anchor="ctr"/>
          <a:lstStyle/>
          <a:p>
            <a:pPr lvl="0" algn="ctr">
              <a:lnSpc>
                <a:spcPct val="99600"/>
              </a:lnSpc>
            </a:pPr>
            <a:r>
              <a:rPr lang="en-US" sz="2099" b="0" i="0" u="none" strike="noStrike" spc="100">
                <a:solidFill>
                  <a:srgbClr val="7381BF"/>
                </a:solidFill>
                <a:latin typeface="Poppins Medium"/>
                <a:ea typeface="Poppins Medium"/>
                <a:cs typeface="Poppins Medium"/>
              </a:rPr>
              <a:t>B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72300" y="7493000"/>
            <a:ext cx="4483100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7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비포 앤 애프터 비교나 기획부터 결과까지의</a:t>
            </a:r>
          </a:p>
          <a:p>
            <a:pPr lvl="0" algn="ctr">
              <a:lnSpc>
                <a:spcPct val="124499"/>
              </a:lnSpc>
            </a:pPr>
            <a:r>
              <a:rPr lang="en-US" sz="17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과정을보여주세요. 좌우 배치는 자연스러운</a:t>
            </a:r>
          </a:p>
          <a:p>
            <a:pPr lvl="0" algn="ctr">
              <a:lnSpc>
                <a:spcPct val="124499"/>
              </a:lnSpc>
            </a:pPr>
            <a:r>
              <a:rPr lang="en-US" sz="17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스토리텔링을 만듭니다.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24700" y="6832600"/>
            <a:ext cx="41910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099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한 눈에 들어오는 배치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026900" y="3556000"/>
            <a:ext cx="4851400" cy="5549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026900" y="3530600"/>
            <a:ext cx="4851400" cy="2984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906500" y="3530600"/>
            <a:ext cx="1092200" cy="5969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3995400" y="3568700"/>
            <a:ext cx="914400" cy="406400"/>
          </a:xfrm>
          <a:prstGeom prst="rect">
            <a:avLst/>
          </a:prstGeom>
        </p:spPr>
        <p:txBody>
          <a:bodyPr lIns="0" tIns="26669" rIns="0" bIns="26669" rtlCol="0" anchor="ctr"/>
          <a:lstStyle/>
          <a:p>
            <a:pPr lvl="0" algn="ctr">
              <a:lnSpc>
                <a:spcPct val="99600"/>
              </a:lnSpc>
            </a:pPr>
            <a:r>
              <a:rPr lang="en-US" sz="2099" b="0" i="0" u="none" strike="noStrike" spc="100">
                <a:solidFill>
                  <a:srgbClr val="4A5BA3"/>
                </a:solidFill>
                <a:latin typeface="Poppins Medium"/>
                <a:ea typeface="Poppins Medium"/>
                <a:cs typeface="Poppins Medium"/>
              </a:rPr>
              <a:t>C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204700" y="7493000"/>
            <a:ext cx="4483100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799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텍스트가 설명하고 이미지가 증명하는 구조는</a:t>
            </a:r>
          </a:p>
          <a:p>
            <a:pPr lvl="0" algn="ctr">
              <a:lnSpc>
                <a:spcPct val="124499"/>
              </a:lnSpc>
            </a:pPr>
            <a:r>
              <a:rPr lang="en-US" sz="1799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읽는 사람에게 믿음을 줍니다. </a:t>
            </a:r>
          </a:p>
          <a:p>
            <a:pPr lvl="0" algn="ctr">
              <a:lnSpc>
                <a:spcPct val="124499"/>
              </a:lnSpc>
            </a:pPr>
            <a:r>
              <a:rPr lang="en-US" sz="1799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한 장의 사진으로 신뢰를 얻으세요.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369800" y="6832600"/>
            <a:ext cx="41783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099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 설명은 짧고 명확하게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346700" y="1739900"/>
            <a:ext cx="7594600" cy="1003300"/>
          </a:xfrm>
          <a:prstGeom prst="rect">
            <a:avLst/>
          </a:prstGeom>
        </p:spPr>
        <p:txBody>
          <a:bodyPr lIns="0" tIns="69848" rIns="0" bIns="69848" rtlCol="0" anchor="ctr"/>
          <a:lstStyle/>
          <a:p>
            <a:pPr lvl="0" algn="ctr">
              <a:lnSpc>
                <a:spcPct val="99600"/>
              </a:lnSpc>
            </a:pPr>
            <a:r>
              <a:rPr lang="en-US" sz="5499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사진이 있는 3단 페이지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Chapter</a:t>
            </a:r>
          </a:p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06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3100" y="3416300"/>
            <a:ext cx="3924300" cy="2197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3000" y="3416300"/>
            <a:ext cx="3924300" cy="21971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0502900" y="4368800"/>
            <a:ext cx="56769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8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숫자를 크게 배치하여 정보를 직관적으로 전달하는 레이아웃</a:t>
            </a:r>
          </a:p>
          <a:p>
            <a:pPr lvl="0" algn="l">
              <a:lnSpc>
                <a:spcPct val="124499"/>
              </a:lnSpc>
            </a:pPr>
            <a:r>
              <a:rPr lang="en-US" sz="18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입니다. 긴 설명보다 명확한 수치 하나가 내용을 빠르게 이해</a:t>
            </a:r>
          </a:p>
          <a:p>
            <a:pPr lvl="0" algn="l">
              <a:lnSpc>
                <a:spcPct val="124499"/>
              </a:lnSpc>
            </a:pPr>
            <a:r>
              <a:rPr lang="en-US" sz="18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시킵니다. 핵심 결과나 지표를 강조할 때 사용하세요.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02900" y="3530600"/>
            <a:ext cx="5461000" cy="419100"/>
          </a:xfrm>
          <a:prstGeom prst="rect">
            <a:avLst/>
          </a:prstGeom>
        </p:spPr>
        <p:txBody>
          <a:bodyPr lIns="0" tIns="27940" rIns="0" bIns="27940" rtlCol="0" anchor="ctr"/>
          <a:lstStyle/>
          <a:p>
            <a:pPr lvl="0" algn="l">
              <a:lnSpc>
                <a:spcPct val="99600"/>
              </a:lnSpc>
            </a:pPr>
            <a:r>
              <a:rPr lang="en-US" sz="2199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숫자가 주인공인 페이지입니다.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2984500" y="7848600"/>
            <a:ext cx="2400300" cy="38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6273800" y="7848600"/>
            <a:ext cx="2400300" cy="38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9550400" y="7848600"/>
            <a:ext cx="2400300" cy="38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12839700" y="7848600"/>
            <a:ext cx="2400300" cy="38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82800" y="6413500"/>
            <a:ext cx="990600" cy="990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59400" y="6413500"/>
            <a:ext cx="990600" cy="990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23300" y="6413500"/>
            <a:ext cx="990600" cy="990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874500" y="6413500"/>
            <a:ext cx="990600" cy="990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214600" y="6413500"/>
            <a:ext cx="990600" cy="9906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371600" y="7454900"/>
            <a:ext cx="2425700" cy="1066800"/>
          </a:xfrm>
          <a:prstGeom prst="rect">
            <a:avLst/>
          </a:prstGeom>
        </p:spPr>
        <p:txBody>
          <a:bodyPr lIns="0" tIns="73660" rIns="0" bIns="73660" rtlCol="0" anchor="ctr"/>
          <a:lstStyle/>
          <a:p>
            <a:pPr lvl="0" algn="ctr">
              <a:lnSpc>
                <a:spcPct val="99600"/>
              </a:lnSpc>
            </a:pPr>
            <a:r>
              <a:rPr lang="en-US" sz="5799" b="0" i="0" u="none" strike="noStrike">
                <a:solidFill>
                  <a:srgbClr val="7381BF"/>
                </a:solidFill>
                <a:latin typeface="Poppins SemiBold"/>
                <a:ea typeface="Poppins SemiBold"/>
                <a:cs typeface="Poppins SemiBold"/>
              </a:rPr>
              <a:t>00</a:t>
            </a:r>
            <a:r>
              <a:rPr lang="en-US" sz="3500" b="0" i="0" u="none" strike="noStrike">
                <a:solidFill>
                  <a:srgbClr val="7381BF"/>
                </a:solidFill>
                <a:latin typeface="Poppins SemiBold"/>
                <a:ea typeface="Poppins SemiBold"/>
                <a:cs typeface="Poppins SemiBold"/>
              </a:rPr>
              <a:t>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356100" y="7454900"/>
            <a:ext cx="2984500" cy="1066800"/>
          </a:xfrm>
          <a:prstGeom prst="rect">
            <a:avLst/>
          </a:prstGeom>
        </p:spPr>
        <p:txBody>
          <a:bodyPr lIns="0" tIns="73660" rIns="0" bIns="73660" rtlCol="0" anchor="ctr"/>
          <a:lstStyle/>
          <a:p>
            <a:pPr lvl="0" algn="ctr">
              <a:lnSpc>
                <a:spcPct val="99600"/>
              </a:lnSpc>
            </a:pPr>
            <a:r>
              <a:rPr lang="en-US" sz="5799" b="0" i="0" u="none" strike="noStrike">
                <a:solidFill>
                  <a:srgbClr val="7381BF"/>
                </a:solidFill>
                <a:latin typeface="Poppins SemiBold"/>
                <a:ea typeface="Poppins SemiBold"/>
                <a:cs typeface="Poppins SemiBold"/>
              </a:rPr>
              <a:t>+00</a:t>
            </a:r>
            <a:r>
              <a:rPr lang="en-US" sz="3500" b="0" i="0" u="none" strike="noStrike">
                <a:solidFill>
                  <a:srgbClr val="7381BF"/>
                </a:solidFill>
                <a:latin typeface="Poppins SemiBold"/>
                <a:ea typeface="Poppins SemiBold"/>
                <a:cs typeface="Poppins SemiBold"/>
              </a:rPr>
              <a:t>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343400" y="8636000"/>
            <a:ext cx="3009900" cy="3429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전년 대비 성장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32700" y="7454900"/>
            <a:ext cx="2984500" cy="1066800"/>
          </a:xfrm>
          <a:prstGeom prst="rect">
            <a:avLst/>
          </a:prstGeom>
        </p:spPr>
        <p:txBody>
          <a:bodyPr lIns="0" tIns="73660" rIns="0" bIns="73660" rtlCol="0" anchor="ctr"/>
          <a:lstStyle/>
          <a:p>
            <a:pPr lvl="0" algn="ctr">
              <a:lnSpc>
                <a:spcPct val="99600"/>
              </a:lnSpc>
            </a:pPr>
            <a:r>
              <a:rPr lang="en-US" sz="5799" b="0" i="0" u="none" strike="noStrike">
                <a:solidFill>
                  <a:srgbClr val="7381BF"/>
                </a:solidFill>
                <a:latin typeface="Poppins SemiBold"/>
                <a:ea typeface="Poppins SemiBold"/>
                <a:cs typeface="Poppins SemiBold"/>
              </a:rPr>
              <a:t>00</a:t>
            </a:r>
            <a:r>
              <a:rPr lang="en-US" sz="3500" b="0" i="0" u="none" strike="noStrike">
                <a:solidFill>
                  <a:srgbClr val="7381BF"/>
                </a:solidFill>
                <a:latin typeface="Poppins SemiBold"/>
                <a:ea typeface="Poppins SemiBold"/>
                <a:cs typeface="Poppins SemiBold"/>
              </a:rPr>
              <a:t>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620000" y="8636000"/>
            <a:ext cx="3009900" cy="3429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시장 점유율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871200" y="7454900"/>
            <a:ext cx="2984500" cy="1066800"/>
          </a:xfrm>
          <a:prstGeom prst="rect">
            <a:avLst/>
          </a:prstGeom>
        </p:spPr>
        <p:txBody>
          <a:bodyPr lIns="0" tIns="73660" rIns="0" bIns="73660" rtlCol="0" anchor="ctr"/>
          <a:lstStyle/>
          <a:p>
            <a:pPr lvl="0" algn="ctr">
              <a:lnSpc>
                <a:spcPct val="99600"/>
              </a:lnSpc>
            </a:pPr>
            <a:r>
              <a:rPr lang="en-US" sz="5799" b="0" i="0" u="none" strike="noStrike">
                <a:solidFill>
                  <a:srgbClr val="4A5BA3"/>
                </a:solidFill>
                <a:latin typeface="Poppins SemiBold"/>
                <a:ea typeface="Poppins SemiBold"/>
                <a:cs typeface="Poppins SemiBold"/>
              </a:rPr>
              <a:t>000</a:t>
            </a:r>
            <a:r>
              <a:rPr lang="en-US" sz="3500" b="0" i="0" u="none" strike="noStrike">
                <a:solidFill>
                  <a:srgbClr val="4A5BA3"/>
                </a:solidFill>
                <a:latin typeface="Poppins SemiBold"/>
                <a:ea typeface="Poppins SemiBold"/>
                <a:cs typeface="Poppins SemiBold"/>
              </a:rPr>
              <a:t>%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858500" y="8636000"/>
            <a:ext cx="3009900" cy="3429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목표 달성률 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211300" y="7454900"/>
            <a:ext cx="2984500" cy="1066800"/>
          </a:xfrm>
          <a:prstGeom prst="rect">
            <a:avLst/>
          </a:prstGeom>
        </p:spPr>
        <p:txBody>
          <a:bodyPr lIns="0" tIns="73660" rIns="0" bIns="73660" rtlCol="0" anchor="ctr"/>
          <a:lstStyle/>
          <a:p>
            <a:pPr lvl="0" algn="ctr">
              <a:lnSpc>
                <a:spcPct val="99600"/>
              </a:lnSpc>
            </a:pPr>
            <a:r>
              <a:rPr lang="en-US" sz="5799" b="0" i="0" u="none" strike="noStrike">
                <a:solidFill>
                  <a:srgbClr val="4A5BA3"/>
                </a:solidFill>
                <a:latin typeface="Poppins SemiBold"/>
                <a:ea typeface="Poppins SemiBold"/>
                <a:cs typeface="Poppins SemiBold"/>
              </a:rPr>
              <a:t>00.0</a:t>
            </a:r>
            <a:r>
              <a:rPr lang="en-US" sz="3500" b="0" i="0" u="none" strike="noStrike">
                <a:solidFill>
                  <a:srgbClr val="4A5BA3"/>
                </a:solidFill>
                <a:latin typeface="Poppins SemiBold"/>
                <a:ea typeface="Poppins SemiBold"/>
                <a:cs typeface="Poppins SemiBold"/>
              </a:rPr>
              <a:t>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198600" y="8636000"/>
            <a:ext cx="3009900" cy="3429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고객 만족도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79500" y="8636000"/>
            <a:ext cx="3009900" cy="3429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성과 달성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60600" y="6591300"/>
            <a:ext cx="635000" cy="6350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37200" y="6591300"/>
            <a:ext cx="635000" cy="6477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801100" y="6591300"/>
            <a:ext cx="635000" cy="6350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052300" y="6591300"/>
            <a:ext cx="635000" cy="6350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5392400" y="6591300"/>
            <a:ext cx="635000" cy="6477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346700" y="1739900"/>
            <a:ext cx="7594600" cy="1003300"/>
          </a:xfrm>
          <a:prstGeom prst="rect">
            <a:avLst/>
          </a:prstGeom>
        </p:spPr>
        <p:txBody>
          <a:bodyPr lIns="0" tIns="69848" rIns="0" bIns="69848" rtlCol="0" anchor="ctr"/>
          <a:lstStyle/>
          <a:p>
            <a:pPr lvl="0" algn="ctr">
              <a:lnSpc>
                <a:spcPct val="99600"/>
              </a:lnSpc>
            </a:pPr>
            <a:r>
              <a:rPr lang="en-US" sz="5499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 한 눈에 보는 주요 수치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Chapter</a:t>
            </a:r>
          </a:p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07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-5400000">
            <a:off x="5778500" y="-304800"/>
            <a:ext cx="1320800" cy="8788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-5400000">
            <a:off x="5778500" y="1155700"/>
            <a:ext cx="1320800" cy="8788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-5400000">
            <a:off x="5778500" y="2616200"/>
            <a:ext cx="1320800" cy="8788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-5400000">
            <a:off x="5778500" y="4076700"/>
            <a:ext cx="1320800" cy="87884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540000" y="3771900"/>
            <a:ext cx="41783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키워드에 대해 입력해주세요.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40000" y="4241800"/>
            <a:ext cx="57531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473" lvl="1" indent="-228473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7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주제에 대한 세부내용을 간략하게 입력해주세요.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40000" y="5651500"/>
            <a:ext cx="60325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473" lvl="1" indent="-228473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7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주제에 대한 세부내용을 간략하게 입력해주세요.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40000" y="5194300"/>
            <a:ext cx="41783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키워드에 대해 입력해주세요.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40000" y="7150100"/>
            <a:ext cx="59817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473" lvl="1" indent="-228473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7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주제에 대한 세부내용을 간략하게 입력해주세요.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40000" y="6680200"/>
            <a:ext cx="41783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키워드에 대해 입력해주세요.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540000" y="8610600"/>
            <a:ext cx="48260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473" lvl="1" indent="-228473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7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주제에 대한 세부내용을 간략하게 입력해주세요.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540000" y="8140700"/>
            <a:ext cx="41783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키워드에 대해 입력해주세요.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938000" y="4000500"/>
            <a:ext cx="4533900" cy="4533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331700" y="4406900"/>
            <a:ext cx="3733800" cy="37338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741400" y="5473700"/>
            <a:ext cx="927100" cy="9271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>
            <a:off x="9118600" y="5854700"/>
            <a:ext cx="4508500" cy="9398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3766800" y="4927600"/>
            <a:ext cx="876300" cy="419100"/>
          </a:xfrm>
          <a:prstGeom prst="rect">
            <a:avLst/>
          </a:prstGeom>
        </p:spPr>
        <p:txBody>
          <a:bodyPr lIns="0" tIns="27940" rIns="0" bIns="27940" rtlCol="0" anchor="ctr"/>
          <a:lstStyle/>
          <a:p>
            <a:pPr lvl="0" algn="ctr">
              <a:lnSpc>
                <a:spcPct val="99600"/>
              </a:lnSpc>
            </a:pPr>
            <a:r>
              <a:rPr lang="en-US" sz="2199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Goal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687300" y="6591300"/>
            <a:ext cx="3048000" cy="774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099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 목표 키워드를</a:t>
            </a:r>
          </a:p>
          <a:p>
            <a:pPr lvl="0" algn="ctr">
              <a:lnSpc>
                <a:spcPct val="116199"/>
              </a:lnSpc>
            </a:pPr>
            <a:r>
              <a:rPr lang="en-US" sz="2099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입력해주세요.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909300" y="5524500"/>
            <a:ext cx="609600" cy="381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896600" y="6985000"/>
            <a:ext cx="609600" cy="381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5346700" y="1739900"/>
            <a:ext cx="7594600" cy="1003300"/>
          </a:xfrm>
          <a:prstGeom prst="rect">
            <a:avLst/>
          </a:prstGeom>
        </p:spPr>
        <p:txBody>
          <a:bodyPr lIns="0" tIns="69848" rIns="0" bIns="69848" rtlCol="0" anchor="ctr"/>
          <a:lstStyle/>
          <a:p>
            <a:pPr lvl="0" algn="ctr">
              <a:lnSpc>
                <a:spcPct val="99600"/>
              </a:lnSpc>
            </a:pPr>
            <a:r>
              <a:rPr lang="en-US" sz="5499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4단 키워드 페이지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Chapter</a:t>
            </a:r>
          </a:p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08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8100" y="7404100"/>
            <a:ext cx="13030200" cy="1765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10200" y="6083300"/>
            <a:ext cx="11468100" cy="1765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72300" y="4749800"/>
            <a:ext cx="9906000" cy="1765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34400" y="3429000"/>
            <a:ext cx="8356600" cy="1765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96500" y="2108200"/>
            <a:ext cx="6794500" cy="1765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608300" y="1041400"/>
            <a:ext cx="863600" cy="1130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849600" y="7632700"/>
            <a:ext cx="749300" cy="749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849600" y="3632200"/>
            <a:ext cx="749300" cy="749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5849600" y="4940300"/>
            <a:ext cx="749300" cy="749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5849600" y="6375400"/>
            <a:ext cx="749300" cy="7493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5849600" y="2336800"/>
            <a:ext cx="749300" cy="7493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216400" y="8343900"/>
            <a:ext cx="1219200" cy="4826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4394200" y="8407400"/>
            <a:ext cx="8509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953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주의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778500" y="7010400"/>
            <a:ext cx="1219200" cy="4826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5956300" y="7073900"/>
            <a:ext cx="8509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953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흥미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340600" y="5676900"/>
            <a:ext cx="1219200" cy="4826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7518400" y="5727700"/>
            <a:ext cx="8509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953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검색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902700" y="4343400"/>
            <a:ext cx="1219200" cy="4826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9080500" y="4394200"/>
            <a:ext cx="8509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953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공유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502900" y="2997200"/>
            <a:ext cx="1219200" cy="4826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10693400" y="3060700"/>
            <a:ext cx="8509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953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구매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575300" y="8394700"/>
            <a:ext cx="94996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2005" b="0" i="0" u="none" strike="noStrike">
                <a:solidFill>
                  <a:srgbClr val="2C2C2C"/>
                </a:solidFill>
                <a:latin typeface="Pretendard Regular"/>
                <a:ea typeface="Pretendard Regular"/>
                <a:cs typeface="Pretendard Regular"/>
              </a:rPr>
              <a:t>키워드를 아래에서 위로 쌓아 올리는 흐름은 정보의 논리적 안정감을 증명하는 구조입니다.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150100" y="7061200"/>
            <a:ext cx="79248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2005" b="0" i="0" u="none" strike="noStrike">
                <a:solidFill>
                  <a:srgbClr val="2C2C2C"/>
                </a:solidFill>
                <a:latin typeface="Pretendard Regular"/>
                <a:ea typeface="Pretendard Regular"/>
                <a:cs typeface="Pretendard Regular"/>
              </a:rPr>
              <a:t>기초가 있어야 목표에 도달할 수 있다는 메시지를 강력하게 전달하세요.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712200" y="5727700"/>
            <a:ext cx="64770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2005" b="0" i="0" u="none" strike="noStrike">
                <a:solidFill>
                  <a:srgbClr val="2C2C2C"/>
                </a:solidFill>
                <a:latin typeface="Pretendard Regular"/>
                <a:ea typeface="Pretendard Regular"/>
                <a:cs typeface="Pretendard Regular"/>
              </a:rPr>
              <a:t>핵심 키워드 아래 탄탄한 기초를 강조해요.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99700" y="4394200"/>
            <a:ext cx="52070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2005" b="0" i="0" u="none" strike="noStrike">
                <a:solidFill>
                  <a:srgbClr val="2C2C2C"/>
                </a:solidFill>
                <a:latin typeface="Pretendard Regular"/>
                <a:ea typeface="Pretendard Regular"/>
                <a:cs typeface="Pretendard Regular"/>
              </a:rPr>
              <a:t>계층 구조로 단계별 성장을 보여줘요.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874500" y="3060700"/>
            <a:ext cx="34798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2005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 하단은 기초, 상단은 핵심입니다.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22400" y="4203700"/>
            <a:ext cx="59690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8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넓은 하단부는 탄탄한 기초를 상징하고 좁은 상단부는</a:t>
            </a:r>
          </a:p>
          <a:p>
            <a:pPr lvl="0" algn="l">
              <a:lnSpc>
                <a:spcPct val="124499"/>
              </a:lnSpc>
            </a:pPr>
            <a:r>
              <a:rPr lang="en-US" sz="18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핵심 목표를 상징합니다. 층별로 키워드를 배치하여 위계를</a:t>
            </a:r>
          </a:p>
          <a:p>
            <a:pPr lvl="0" algn="l">
              <a:lnSpc>
                <a:spcPct val="124499"/>
              </a:lnSpc>
            </a:pPr>
            <a:r>
              <a:rPr lang="en-US" sz="18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명확하게 시각화하세요.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22400" y="2857500"/>
            <a:ext cx="7594600" cy="1003300"/>
          </a:xfrm>
          <a:prstGeom prst="rect">
            <a:avLst/>
          </a:prstGeom>
        </p:spPr>
        <p:txBody>
          <a:bodyPr lIns="0" tIns="69848" rIns="0" bIns="69848" rtlCol="0" anchor="ctr"/>
          <a:lstStyle/>
          <a:p>
            <a:pPr lvl="0" algn="l">
              <a:lnSpc>
                <a:spcPct val="99600"/>
              </a:lnSpc>
            </a:pPr>
            <a:r>
              <a:rPr lang="en-US" sz="5499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핵심 가치 체계도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7400" y="749300"/>
            <a:ext cx="17056100" cy="9182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35100" y="406400"/>
            <a:ext cx="2641600" cy="1333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44018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Chapter</a:t>
            </a:r>
          </a:p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09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700" y="749300"/>
            <a:ext cx="6451600" cy="6248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1600" y="3200400"/>
            <a:ext cx="685800" cy="469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11391900" y="7277100"/>
            <a:ext cx="977900" cy="25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8648700" y="5689600"/>
            <a:ext cx="64516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2C2C2C"/>
                </a:solidFill>
                <a:latin typeface="Poppins Light"/>
                <a:ea typeface="Poppins Light"/>
                <a:cs typeface="Poppins Light"/>
              </a:rPr>
              <a:t>With just a few well-placed text and photos, </a:t>
            </a:r>
          </a:p>
          <a:p>
            <a:pPr lvl="0" algn="ctr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2C2C2C"/>
                </a:solidFill>
                <a:latin typeface="Poppins Light"/>
                <a:ea typeface="Poppins Light"/>
                <a:cs typeface="Poppins Light"/>
              </a:rPr>
              <a:t>it looks like a well-crafted presentation.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21700" y="8039100"/>
            <a:ext cx="6692900" cy="609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15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읽는 이의 마음에 깊이 남을 핵심 메시지를 적는 공간입니다.</a:t>
            </a:r>
          </a:p>
          <a:p>
            <a:pPr lvl="0" algn="ctr">
              <a:lnSpc>
                <a:spcPct val="124499"/>
              </a:lnSpc>
            </a:pPr>
            <a:r>
              <a:rPr lang="en-US" sz="15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내용이 전환될 때 감성적인 이미지를 사용하여 분위기를 환기시켜 보세요.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16900" y="3987800"/>
            <a:ext cx="7315200" cy="1384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811" b="0" i="0" u="none" strike="noStrike">
                <a:solidFill>
                  <a:srgbClr val="2C2C2C"/>
                </a:solidFill>
                <a:latin typeface="Pretendard SemiBold"/>
                <a:ea typeface="Pretendard SemiBold"/>
                <a:cs typeface="Pretendard SemiBold"/>
              </a:rPr>
              <a:t>텍스트와 사진만 잘 배치해도</a:t>
            </a:r>
          </a:p>
          <a:p>
            <a:pPr lvl="0" algn="ctr">
              <a:lnSpc>
                <a:spcPct val="116199"/>
              </a:lnSpc>
            </a:pPr>
            <a:r>
              <a:rPr lang="en-US" sz="3811" b="0" i="0" u="none" strike="noStrike">
                <a:solidFill>
                  <a:srgbClr val="2C2C2C"/>
                </a:solidFill>
                <a:latin typeface="Pretendard SemiBold"/>
                <a:ea typeface="Pretendard SemiBold"/>
                <a:cs typeface="Pretendard SemiBold"/>
              </a:rPr>
              <a:t>잘 만든 프레젠테이션처럼 보인다.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5900" y="4419600"/>
            <a:ext cx="3644900" cy="499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72100" y="4432300"/>
            <a:ext cx="3644900" cy="499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58300" y="4432300"/>
            <a:ext cx="3644900" cy="499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157200" y="4432300"/>
            <a:ext cx="3644900" cy="499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1000" y="7899400"/>
            <a:ext cx="787400" cy="787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592300" y="7899400"/>
            <a:ext cx="787400" cy="787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07200" y="7899400"/>
            <a:ext cx="787400" cy="787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693400" y="7899400"/>
            <a:ext cx="787400" cy="7874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816100" y="5537200"/>
            <a:ext cx="2984500" cy="406400"/>
          </a:xfrm>
          <a:prstGeom prst="rect">
            <a:avLst/>
          </a:prstGeom>
        </p:spPr>
        <p:txBody>
          <a:bodyPr lIns="0" tIns="26670" rIns="0" bIns="26670" rtlCol="0" anchor="ctr"/>
          <a:lstStyle/>
          <a:p>
            <a:pPr lvl="0" algn="ctr">
              <a:lnSpc>
                <a:spcPct val="99600"/>
              </a:lnSpc>
            </a:pPr>
            <a:r>
              <a:rPr lang="en-US" sz="2100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 기획단계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14500" y="6172200"/>
            <a:ext cx="3187700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 프로젝트의 시작을 알리는 첫 번째</a:t>
            </a:r>
          </a:p>
          <a:p>
            <a:pPr lvl="0" algn="ctr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단계로 기획의 배경이나 추진</a:t>
            </a:r>
          </a:p>
          <a:p>
            <a:pPr lvl="0" algn="ctr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목적을 명확하게 보여줘야 해요.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00700" y="6172200"/>
            <a:ext cx="3187700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본격적인 실행에 앞서 현재 상황을 면밀히 진단하고 시장 조사 데이터를 분석하여 기재해 주세요.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86900" y="6172200"/>
            <a:ext cx="3187700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 수립된 기획을 바탕으로 제품이나 </a:t>
            </a:r>
          </a:p>
          <a:p>
            <a:pPr lvl="0" algn="ctr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서비스를 제작하고 핵심 기능을</a:t>
            </a:r>
          </a:p>
          <a:p>
            <a:pPr lvl="0" algn="ctr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구현하는 실행 단계입니다.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385800" y="6172200"/>
            <a:ext cx="3187700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사용자 피드백을 반영한 업데이트</a:t>
            </a:r>
          </a:p>
          <a:p>
            <a:pPr lvl="0" algn="ctr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내역과 성능 최적화 내용을 설명해</a:t>
            </a:r>
          </a:p>
          <a:p>
            <a:pPr lvl="0" algn="ctr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개선 의지를 보여줍니다.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689600" y="5537200"/>
            <a:ext cx="3009900" cy="406400"/>
          </a:xfrm>
          <a:prstGeom prst="rect">
            <a:avLst/>
          </a:prstGeom>
        </p:spPr>
        <p:txBody>
          <a:bodyPr lIns="0" tIns="26670" rIns="0" bIns="26670" rtlCol="0" anchor="ctr"/>
          <a:lstStyle/>
          <a:p>
            <a:pPr lvl="0" algn="ctr">
              <a:lnSpc>
                <a:spcPct val="99600"/>
              </a:lnSpc>
            </a:pPr>
            <a:r>
              <a:rPr lang="en-US" sz="2100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분석단계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88500" y="5537200"/>
            <a:ext cx="3009900" cy="406400"/>
          </a:xfrm>
          <a:prstGeom prst="rect">
            <a:avLst/>
          </a:prstGeom>
        </p:spPr>
        <p:txBody>
          <a:bodyPr lIns="0" tIns="26670" rIns="0" bIns="26670" rtlCol="0" anchor="ctr"/>
          <a:lstStyle/>
          <a:p>
            <a:pPr lvl="0" algn="ctr">
              <a:lnSpc>
                <a:spcPct val="99600"/>
              </a:lnSpc>
            </a:pPr>
            <a:r>
              <a:rPr lang="en-US" sz="2100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실행단계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487400" y="5537200"/>
            <a:ext cx="2971800" cy="406400"/>
          </a:xfrm>
          <a:prstGeom prst="rect">
            <a:avLst/>
          </a:prstGeom>
        </p:spPr>
        <p:txBody>
          <a:bodyPr lIns="0" tIns="26670" rIns="0" bIns="26670" rtlCol="0" anchor="ctr"/>
          <a:lstStyle/>
          <a:p>
            <a:pPr lvl="0" algn="ctr">
              <a:lnSpc>
                <a:spcPct val="99600"/>
              </a:lnSpc>
            </a:pPr>
            <a:r>
              <a:rPr lang="en-US" sz="2100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개선단계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Chapter</a:t>
            </a:r>
          </a:p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10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54300" y="4813300"/>
            <a:ext cx="1308100" cy="4064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2781300" y="4864100"/>
            <a:ext cx="10668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599" b="0" i="0" u="none" strike="noStrike">
                <a:solidFill>
                  <a:srgbClr val="4A5BA3"/>
                </a:solidFill>
                <a:latin typeface="Pretendard SemiBold"/>
                <a:ea typeface="Pretendard SemiBold"/>
                <a:cs typeface="Pretendard SemiBold"/>
              </a:rPr>
              <a:t>STEP 1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53200" y="4813300"/>
            <a:ext cx="1308100" cy="4064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6629400" y="4864100"/>
            <a:ext cx="11430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599" b="0" i="0" u="none" strike="noStrike">
                <a:solidFill>
                  <a:srgbClr val="4A5BA3"/>
                </a:solidFill>
                <a:latin typeface="Pretendard SemiBold"/>
                <a:ea typeface="Pretendard SemiBold"/>
                <a:cs typeface="Pretendard SemiBold"/>
              </a:rPr>
              <a:t>STEP 2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439400" y="4813300"/>
            <a:ext cx="1308100" cy="4064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0477500" y="4864100"/>
            <a:ext cx="1219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599" b="0" i="0" u="none" strike="noStrike">
                <a:solidFill>
                  <a:srgbClr val="4A5BA3"/>
                </a:solidFill>
                <a:latin typeface="Pretendard SemiBold"/>
                <a:ea typeface="Pretendard SemiBold"/>
                <a:cs typeface="Pretendard SemiBold"/>
              </a:rPr>
              <a:t>STEP 3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325600" y="4813300"/>
            <a:ext cx="1308100" cy="4064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14439900" y="4864100"/>
            <a:ext cx="10668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599" b="0" i="0" u="none" strike="noStrike">
                <a:solidFill>
                  <a:srgbClr val="4A5BA3"/>
                </a:solidFill>
                <a:latin typeface="Pretendard SemiBold"/>
                <a:ea typeface="Pretendard SemiBold"/>
                <a:cs typeface="Pretendard SemiBold"/>
              </a:rPr>
              <a:t>STEP 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022600" y="3060700"/>
            <a:ext cx="12230100" cy="723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8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프로젝트의 전체 흐름을 한눈에 파악할 수 있도록 구성된 페이지입니다. </a:t>
            </a:r>
          </a:p>
          <a:p>
            <a:pPr lvl="0" algn="ctr">
              <a:lnSpc>
                <a:spcPct val="124499"/>
              </a:lnSpc>
            </a:pPr>
            <a:r>
              <a:rPr lang="en-US" sz="18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복잡한 업무 절차를 단계별로 단순화하여 보여주고, 각 과정에서 수행해야 할 핵심 과업을 명확히 제시해 보세요.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346700" y="1739900"/>
            <a:ext cx="75946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en-US" sz="5499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프로세스 레이아웃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Chapter</a:t>
            </a:r>
          </a:p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11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21500" y="1092200"/>
            <a:ext cx="5016500" cy="406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1500" y="1079500"/>
            <a:ext cx="5016500" cy="3340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86600" y="1079500"/>
            <a:ext cx="812800" cy="4445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7226300" y="1066800"/>
            <a:ext cx="520700" cy="3683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>
                <a:solidFill>
                  <a:srgbClr val="4A5BA3"/>
                </a:solidFill>
                <a:latin typeface="Poppins SemiBold"/>
                <a:ea typeface="Poppins SemiBold"/>
                <a:cs typeface="Poppins SemiBold"/>
              </a:rPr>
              <a:t>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88200" y="4597400"/>
            <a:ext cx="4470400" cy="3429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텍스트 무게를 줄이고 이미지를 더하세요.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179300" y="1092200"/>
            <a:ext cx="5016500" cy="4064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79300" y="1079500"/>
            <a:ext cx="5016500" cy="3340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344400" y="1079500"/>
            <a:ext cx="812800" cy="4445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2484100" y="1092200"/>
            <a:ext cx="520700" cy="3683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>
                <a:solidFill>
                  <a:srgbClr val="4A5BA3"/>
                </a:solidFill>
                <a:latin typeface="Poppins SemiBold"/>
                <a:ea typeface="Poppins SemiBold"/>
                <a:cs typeface="Poppins SemiBold"/>
              </a:rPr>
              <a:t>B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446000" y="4597400"/>
            <a:ext cx="4470400" cy="3429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이미지로 내용을 직관적으로 전달해 보세요.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21500" y="5359400"/>
            <a:ext cx="5016500" cy="4064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21500" y="5334000"/>
            <a:ext cx="5016500" cy="3340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086600" y="5346700"/>
            <a:ext cx="812800" cy="4445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7226300" y="5359400"/>
            <a:ext cx="520700" cy="3683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>
                <a:solidFill>
                  <a:srgbClr val="4A5BA3"/>
                </a:solidFill>
                <a:latin typeface="Poppins SemiBold"/>
                <a:ea typeface="Poppins SemiBold"/>
                <a:cs typeface="Poppins SemiBold"/>
              </a:rPr>
              <a:t>C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188200" y="8864600"/>
            <a:ext cx="4470400" cy="3429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 사진 아래 핵심 요약으로 이해를 돕습니다.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179300" y="5359400"/>
            <a:ext cx="5016500" cy="40640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179300" y="5334000"/>
            <a:ext cx="5016500" cy="33401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344400" y="5346700"/>
            <a:ext cx="812800" cy="4445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2484100" y="5359400"/>
            <a:ext cx="520700" cy="3683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>
                <a:solidFill>
                  <a:srgbClr val="4A5BA3"/>
                </a:solidFill>
                <a:latin typeface="Poppins SemiBold"/>
                <a:ea typeface="Poppins SemiBold"/>
                <a:cs typeface="Poppins SemiBold"/>
              </a:rPr>
              <a:t>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446000" y="8864600"/>
            <a:ext cx="4470400" cy="3429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 관련 이미지를 넣고 하단에 설명을 적어보세요.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22400" y="5168900"/>
            <a:ext cx="4686300" cy="1447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8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제품, 현장, 인물 등 실물을 보여줘야 할 때 활용하세요. 현장 이미지를 사용하면 신뢰도가 올라갑니다. 텍스트보다는 이미지가 먼저 눈에 들어오도록 구성하는 것이 포인트입니다.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22400" y="3873500"/>
            <a:ext cx="5283200" cy="1003300"/>
          </a:xfrm>
          <a:prstGeom prst="rect">
            <a:avLst/>
          </a:prstGeom>
        </p:spPr>
        <p:txBody>
          <a:bodyPr lIns="0" tIns="69848" rIns="0" bIns="69848" rtlCol="0" anchor="ctr"/>
          <a:lstStyle/>
          <a:p>
            <a:pPr lvl="0" algn="l">
              <a:lnSpc>
                <a:spcPct val="99600"/>
              </a:lnSpc>
            </a:pPr>
            <a:r>
              <a:rPr lang="en-US" sz="5499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비주얼 자료 소개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Chapter</a:t>
            </a:r>
          </a:p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12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09700" y="4775200"/>
            <a:ext cx="4089400" cy="4356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5000" y="4775200"/>
            <a:ext cx="4089400" cy="4356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71100" y="5003800"/>
            <a:ext cx="1828800" cy="1714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271500" y="5842000"/>
            <a:ext cx="1054100" cy="546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09300" y="6299200"/>
            <a:ext cx="1130300" cy="977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731500" y="7124700"/>
            <a:ext cx="1422400" cy="977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899900" y="6210300"/>
            <a:ext cx="889000" cy="1625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98300" y="7772400"/>
            <a:ext cx="825500" cy="1117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331700" y="7023100"/>
            <a:ext cx="1320800" cy="1003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331700" y="7607300"/>
            <a:ext cx="1435100" cy="1244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462000" y="6896100"/>
            <a:ext cx="2044700" cy="2120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4097000" y="6743700"/>
            <a:ext cx="1879600" cy="1714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5036800" y="6438900"/>
            <a:ext cx="1524000" cy="1828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493500" y="5283200"/>
            <a:ext cx="1828800" cy="1460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3017500" y="6248400"/>
            <a:ext cx="1155700" cy="8763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4097000" y="5829300"/>
            <a:ext cx="1079500" cy="9779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4947900" y="5778500"/>
            <a:ext cx="863600" cy="10922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60000">
            <a:off x="15189200" y="4749800"/>
            <a:ext cx="749300" cy="11049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4351000" y="5067300"/>
            <a:ext cx="901700" cy="10160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3182600" y="4368800"/>
            <a:ext cx="1181100" cy="15621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2382500" y="5041900"/>
            <a:ext cx="1003300" cy="10795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2014200" y="3822700"/>
            <a:ext cx="1384300" cy="18034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3741400" y="3314700"/>
            <a:ext cx="1054100" cy="15875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4757400" y="3022600"/>
            <a:ext cx="1104900" cy="18669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2598400" y="6616700"/>
            <a:ext cx="520700" cy="4191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5849600" y="5753100"/>
            <a:ext cx="1104900" cy="12827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3550900" y="4318000"/>
            <a:ext cx="1625600" cy="13589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4160500" y="3035300"/>
            <a:ext cx="787400" cy="14478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1714500" y="6883400"/>
            <a:ext cx="3492500" cy="381000"/>
          </a:xfrm>
          <a:prstGeom prst="rect">
            <a:avLst/>
          </a:prstGeom>
        </p:spPr>
        <p:txBody>
          <a:bodyPr lIns="0" tIns="25400" rIns="0" bIns="2540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전략적 요충지를 표시해요.</a:t>
            </a: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730500" y="5118100"/>
            <a:ext cx="1460500" cy="48260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2908300" y="5207000"/>
            <a:ext cx="1104900" cy="330200"/>
          </a:xfrm>
          <a:prstGeom prst="rect">
            <a:avLst/>
          </a:prstGeom>
        </p:spPr>
        <p:txBody>
          <a:bodyPr lIns="0" tIns="22225" rIns="0" bIns="22225" rtlCol="0" anchor="ctr"/>
          <a:lstStyle/>
          <a:p>
            <a:pPr lvl="0" algn="ctr">
              <a:lnSpc>
                <a:spcPct val="99600"/>
              </a:lnSpc>
            </a:pPr>
            <a:r>
              <a:rPr lang="en-US" sz="1749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주요 특징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930400" y="7632700"/>
            <a:ext cx="3111500" cy="1130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00" lvl="1" indent="-2286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공간적 이해를 돕는 레이아웃</a:t>
            </a:r>
          </a:p>
          <a:p>
            <a:pPr marL="228600" lvl="1" indent="-2286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핵심 내용을 요약하여 보여주기</a:t>
            </a:r>
          </a:p>
          <a:p>
            <a:pPr marL="228600" lvl="1" indent="-2286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위치 표시를 통한시장을 분석 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007100" y="6883400"/>
            <a:ext cx="3492500" cy="381000"/>
          </a:xfrm>
          <a:prstGeom prst="rect">
            <a:avLst/>
          </a:prstGeom>
        </p:spPr>
        <p:txBody>
          <a:bodyPr lIns="0" tIns="25400" rIns="0" bIns="2540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주요 거점을 콕 집어봐요.</a:t>
            </a:r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7023100" y="5118100"/>
            <a:ext cx="1460500" cy="482600"/>
          </a:xfrm>
          <a:prstGeom prst="rect">
            <a:avLst/>
          </a:prstGeom>
        </p:spPr>
      </p:pic>
      <p:sp>
        <p:nvSpPr>
          <p:cNvPr id="40" name="TextBox 40"/>
          <p:cNvSpPr txBox="1"/>
          <p:nvPr/>
        </p:nvSpPr>
        <p:spPr>
          <a:xfrm>
            <a:off x="7200900" y="5207000"/>
            <a:ext cx="1104900" cy="330200"/>
          </a:xfrm>
          <a:prstGeom prst="rect">
            <a:avLst/>
          </a:prstGeom>
        </p:spPr>
        <p:txBody>
          <a:bodyPr lIns="0" tIns="22225" rIns="0" bIns="22225" rtlCol="0" anchor="ctr"/>
          <a:lstStyle/>
          <a:p>
            <a:pPr lvl="0" algn="ctr">
              <a:lnSpc>
                <a:spcPct val="99600"/>
              </a:lnSpc>
            </a:pPr>
            <a:r>
              <a:rPr lang="en-US" sz="1749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주요 특징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235700" y="7620000"/>
            <a:ext cx="3111500" cy="1130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00" lvl="1" indent="-2286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공간적 이해를 돕는 레이아웃</a:t>
            </a:r>
          </a:p>
          <a:p>
            <a:pPr marL="228600" lvl="1" indent="-2286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핵심 내용을 요약하여 보여주기</a:t>
            </a:r>
          </a:p>
          <a:p>
            <a:pPr marL="228600" lvl="1" indent="-2286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위치 표시를 통한시장을 분석 </a:t>
            </a: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820400" y="2374900"/>
            <a:ext cx="5321300" cy="3429000"/>
          </a:xfrm>
          <a:prstGeom prst="rect">
            <a:avLst/>
          </a:prstGeom>
        </p:spPr>
      </p:pic>
      <p:sp>
        <p:nvSpPr>
          <p:cNvPr id="43" name="TextBox 43"/>
          <p:cNvSpPr txBox="1"/>
          <p:nvPr/>
        </p:nvSpPr>
        <p:spPr>
          <a:xfrm>
            <a:off x="16230600" y="2235200"/>
            <a:ext cx="10414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1645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키워드 6</a:t>
            </a:r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1455400" y="2743200"/>
            <a:ext cx="4699000" cy="4597400"/>
          </a:xfrm>
          <a:prstGeom prst="rect">
            <a:avLst/>
          </a:prstGeom>
        </p:spPr>
      </p:pic>
      <p:sp>
        <p:nvSpPr>
          <p:cNvPr id="45" name="TextBox 45"/>
          <p:cNvSpPr txBox="1"/>
          <p:nvPr/>
        </p:nvSpPr>
        <p:spPr>
          <a:xfrm>
            <a:off x="16230600" y="2603500"/>
            <a:ext cx="10414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1645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키워드 5</a:t>
            </a:r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2763500" y="3111500"/>
            <a:ext cx="3378200" cy="1384300"/>
          </a:xfrm>
          <a:prstGeom prst="rect">
            <a:avLst/>
          </a:prstGeom>
        </p:spPr>
      </p:pic>
      <p:sp>
        <p:nvSpPr>
          <p:cNvPr id="47" name="TextBox 47"/>
          <p:cNvSpPr txBox="1"/>
          <p:nvPr/>
        </p:nvSpPr>
        <p:spPr>
          <a:xfrm>
            <a:off x="16230600" y="2971800"/>
            <a:ext cx="10414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1645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키워드 4</a:t>
            </a:r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4770100" y="3467100"/>
            <a:ext cx="1358900" cy="3911600"/>
          </a:xfrm>
          <a:prstGeom prst="rect">
            <a:avLst/>
          </a:prstGeom>
        </p:spPr>
      </p:pic>
      <p:sp>
        <p:nvSpPr>
          <p:cNvPr id="49" name="TextBox 49"/>
          <p:cNvSpPr txBox="1"/>
          <p:nvPr/>
        </p:nvSpPr>
        <p:spPr>
          <a:xfrm>
            <a:off x="16230600" y="3340100"/>
            <a:ext cx="10414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1645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키워드 3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6230600" y="3708400"/>
            <a:ext cx="10414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1645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키워드 1</a:t>
            </a:r>
          </a:p>
        </p:txBody>
      </p:sp>
      <p:pic>
        <p:nvPicPr>
          <p:cNvPr id="51" name="Picture 51"/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5214600" y="3822700"/>
            <a:ext cx="927100" cy="558800"/>
          </a:xfrm>
          <a:prstGeom prst="rect">
            <a:avLst/>
          </a:prstGeom>
        </p:spPr>
      </p:pic>
      <p:sp>
        <p:nvSpPr>
          <p:cNvPr id="52" name="TextBox 52"/>
          <p:cNvSpPr txBox="1"/>
          <p:nvPr/>
        </p:nvSpPr>
        <p:spPr>
          <a:xfrm>
            <a:off x="16230600" y="4076700"/>
            <a:ext cx="10414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1645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키워드 1</a:t>
            </a:r>
          </a:p>
        </p:txBody>
      </p:sp>
      <p:pic>
        <p:nvPicPr>
          <p:cNvPr id="53" name="Picture 53"/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 rot="5400000">
            <a:off x="15062200" y="5181600"/>
            <a:ext cx="2120900" cy="889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0731500" y="5664200"/>
            <a:ext cx="254000" cy="36830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0795000" y="5715000"/>
            <a:ext cx="152400" cy="15240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2649200" y="4305300"/>
            <a:ext cx="254000" cy="368300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2700000" y="4356100"/>
            <a:ext cx="152400" cy="152400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5113000" y="4229100"/>
            <a:ext cx="254000" cy="368300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5163800" y="4279900"/>
            <a:ext cx="152400" cy="15240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5989300" y="6172200"/>
            <a:ext cx="254000" cy="368300"/>
          </a:xfrm>
          <a:prstGeom prst="rect">
            <a:avLst/>
          </a:prstGeom>
        </p:spPr>
      </p:pic>
      <p:pic>
        <p:nvPicPr>
          <p:cNvPr id="61" name="Picture 6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6052800" y="6223000"/>
            <a:ext cx="152400" cy="152400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4681200" y="7200900"/>
            <a:ext cx="254000" cy="368300"/>
          </a:xfrm>
          <a:prstGeom prst="rect">
            <a:avLst/>
          </a:prstGeom>
        </p:spPr>
      </p:pic>
      <p:pic>
        <p:nvPicPr>
          <p:cNvPr id="63" name="Picture 6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4732000" y="7251700"/>
            <a:ext cx="152400" cy="152400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1341100" y="7137400"/>
            <a:ext cx="254000" cy="368300"/>
          </a:xfrm>
          <a:prstGeom prst="rect">
            <a:avLst/>
          </a:prstGeom>
        </p:spPr>
      </p:pic>
      <p:pic>
        <p:nvPicPr>
          <p:cNvPr id="65" name="Picture 6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1391900" y="7188200"/>
            <a:ext cx="152400" cy="152400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3086100" y="5905500"/>
            <a:ext cx="736600" cy="736600"/>
          </a:xfrm>
          <a:prstGeom prst="rect">
            <a:avLst/>
          </a:prstGeom>
        </p:spPr>
      </p:pic>
      <p:pic>
        <p:nvPicPr>
          <p:cNvPr id="67" name="Picture 6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7391400" y="5905500"/>
            <a:ext cx="736600" cy="736600"/>
          </a:xfrm>
          <a:prstGeom prst="rect">
            <a:avLst/>
          </a:prstGeom>
        </p:spPr>
      </p:pic>
      <p:sp>
        <p:nvSpPr>
          <p:cNvPr id="68" name="TextBox 68"/>
          <p:cNvSpPr txBox="1"/>
          <p:nvPr/>
        </p:nvSpPr>
        <p:spPr>
          <a:xfrm>
            <a:off x="1422400" y="3644900"/>
            <a:ext cx="5676900" cy="723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8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텍스트와 숫자로만 이뤄진 자료를 지도 위에 시각화하면</a:t>
            </a:r>
          </a:p>
          <a:p>
            <a:pPr lvl="0" algn="l">
              <a:lnSpc>
                <a:spcPct val="124499"/>
              </a:lnSpc>
            </a:pPr>
            <a:r>
              <a:rPr lang="en-US" sz="18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한눈에 들어오지 않던 지역 간의 차이를 알 수 있습니다.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422400" y="2438400"/>
            <a:ext cx="5092700" cy="1003300"/>
          </a:xfrm>
          <a:prstGeom prst="rect">
            <a:avLst/>
          </a:prstGeom>
        </p:spPr>
        <p:txBody>
          <a:bodyPr lIns="0" tIns="69848" rIns="0" bIns="69848" rtlCol="0" anchor="ctr"/>
          <a:lstStyle/>
          <a:p>
            <a:pPr lvl="0" algn="l">
              <a:lnSpc>
                <a:spcPct val="99600"/>
              </a:lnSpc>
            </a:pPr>
            <a:r>
              <a:rPr lang="en-US" sz="5499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주요 거점 소개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933700" y="3835400"/>
            <a:ext cx="41656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999" b="0" i="0" u="none" strike="noStrike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To Be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50600" y="3835400"/>
            <a:ext cx="41656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999" b="0" i="0" u="none" strike="noStrike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As - Is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alphaModFix amt="6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3500" y="4864100"/>
            <a:ext cx="2882900" cy="3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alphaModFix amt="1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4508500" y="2374900"/>
            <a:ext cx="1016000" cy="4978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-5400000">
            <a:off x="12738100" y="2374900"/>
            <a:ext cx="1016000" cy="4978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933700" y="4686300"/>
            <a:ext cx="41656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899" b="0" i="0" u="none" strike="noStrike">
                <a:solidFill>
                  <a:srgbClr val="2C2C2C"/>
                </a:solidFill>
                <a:latin typeface="Pretendard Regular"/>
                <a:ea typeface="Pretendard Regular"/>
                <a:cs typeface="Pretendard Regular"/>
              </a:rPr>
              <a:t>키워드1에 대해 입력해주세요.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163300" y="4686300"/>
            <a:ext cx="41656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899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키워드1에 대해 입력해주세요.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alphaModFix amt="6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96200" y="6007100"/>
            <a:ext cx="2882900" cy="38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>
            <a:alphaModFix amt="1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4508500" y="3568700"/>
            <a:ext cx="1016000" cy="4978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-5400000">
            <a:off x="12738100" y="3568700"/>
            <a:ext cx="1016000" cy="49784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2933700" y="5867400"/>
            <a:ext cx="41656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899" b="0" i="0" u="none" strike="noStrike">
                <a:solidFill>
                  <a:srgbClr val="2C2C2C"/>
                </a:solidFill>
                <a:latin typeface="Pretendard Regular"/>
                <a:ea typeface="Pretendard Regular"/>
                <a:cs typeface="Pretendard Regular"/>
              </a:rPr>
              <a:t>키워드2에 대해 입력해주세요.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163300" y="5867400"/>
            <a:ext cx="41656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899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키워드2에 대해 입력해주세요.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alphaModFix amt="6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96200" y="7213600"/>
            <a:ext cx="2882900" cy="38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>
            <a:alphaModFix amt="1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4508500" y="4749800"/>
            <a:ext cx="1016000" cy="49784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-5400000">
            <a:off x="12738100" y="4749800"/>
            <a:ext cx="1016000" cy="4978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2933700" y="7061200"/>
            <a:ext cx="41656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899" b="0" i="0" u="none" strike="noStrike">
                <a:solidFill>
                  <a:srgbClr val="2C2C2C"/>
                </a:solidFill>
                <a:latin typeface="Pretendard Regular"/>
                <a:ea typeface="Pretendard Regular"/>
                <a:cs typeface="Pretendard Regular"/>
              </a:rPr>
              <a:t>키워드3에 대해 입력해주세요.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163300" y="7061200"/>
            <a:ext cx="41656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899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키워드3에 대해 입력해주세요.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23200" y="4457700"/>
            <a:ext cx="2628900" cy="31623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27200" y="8242300"/>
            <a:ext cx="14833600" cy="9779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08200" y="8521700"/>
            <a:ext cx="1308100" cy="4191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3670300" y="8547100"/>
            <a:ext cx="124079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비교군과 대조군의 차이를 표나 리스트로 정리해 보세요. 각 옵션의 특징을 한 눈에 비교함으로써 빠른 결정을 돕습니다.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73300" y="8572500"/>
            <a:ext cx="9525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Insight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Chapter</a:t>
            </a:r>
          </a:p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13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632200" y="3022600"/>
            <a:ext cx="110236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899" b="0" i="0" u="none" strike="noStrike">
                <a:solidFill>
                  <a:srgbClr val="2C2C2C"/>
                </a:solidFill>
                <a:latin typeface="Pretendard Regular"/>
                <a:ea typeface="Pretendard Regular"/>
                <a:cs typeface="Pretendard Regular"/>
              </a:rPr>
              <a:t>개선 전 상황을 객관적으로 기술하여 문제점이 무엇이었는지 명확하게 보여주세요.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346700" y="1739900"/>
            <a:ext cx="7594600" cy="1003300"/>
          </a:xfrm>
          <a:prstGeom prst="rect">
            <a:avLst/>
          </a:prstGeom>
        </p:spPr>
        <p:txBody>
          <a:bodyPr lIns="0" tIns="69848" rIns="0" bIns="69848" rtlCol="0" anchor="ctr"/>
          <a:lstStyle/>
          <a:p>
            <a:pPr lvl="0" algn="ctr">
              <a:lnSpc>
                <a:spcPct val="99600"/>
              </a:lnSpc>
            </a:pPr>
            <a:r>
              <a:rPr lang="en-US" sz="5499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2가지 비교 레이아웃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5130800"/>
            <a:ext cx="18326100" cy="520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901700"/>
            <a:ext cx="17068800" cy="7340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376400" y="635000"/>
            <a:ext cx="2844800" cy="1524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4757400" y="10160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1799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BUSINESS</a:t>
            </a:r>
          </a:p>
          <a:p>
            <a:pPr lvl="0" algn="ctr">
              <a:lnSpc>
                <a:spcPct val="107899"/>
              </a:lnSpc>
            </a:pPr>
            <a:r>
              <a:rPr lang="en-US" sz="1799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PLAN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2500" y="5854700"/>
            <a:ext cx="2730500" cy="7493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235700" y="6045200"/>
            <a:ext cx="2311400" cy="381000"/>
          </a:xfrm>
          <a:prstGeom prst="rect">
            <a:avLst/>
          </a:prstGeom>
        </p:spPr>
        <p:txBody>
          <a:bodyPr lIns="0" tIns="25400" rIns="0" bIns="2540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>
                <a:solidFill>
                  <a:srgbClr val="00074E"/>
                </a:solidFill>
                <a:latin typeface="Pretendard Medium"/>
                <a:ea typeface="Pretendard Medium"/>
                <a:cs typeface="Pretendard Medium"/>
              </a:rPr>
              <a:t>핵심 키워드 A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26500" y="5854700"/>
            <a:ext cx="2730500" cy="7493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9029700" y="6045200"/>
            <a:ext cx="2311400" cy="381000"/>
          </a:xfrm>
          <a:prstGeom prst="rect">
            <a:avLst/>
          </a:prstGeom>
        </p:spPr>
        <p:txBody>
          <a:bodyPr lIns="0" tIns="25400" rIns="0" bIns="2540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>
                <a:solidFill>
                  <a:srgbClr val="00074E"/>
                </a:solidFill>
                <a:latin typeface="Pretendard Medium"/>
                <a:ea typeface="Pretendard Medium"/>
                <a:cs typeface="Pretendard Medium"/>
              </a:rPr>
              <a:t>핵심 키워드 B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20500" y="5854700"/>
            <a:ext cx="2730500" cy="7493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823700" y="6045200"/>
            <a:ext cx="2311400" cy="381000"/>
          </a:xfrm>
          <a:prstGeom prst="rect">
            <a:avLst/>
          </a:prstGeom>
        </p:spPr>
        <p:txBody>
          <a:bodyPr lIns="0" tIns="25400" rIns="0" bIns="2540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>
                <a:solidFill>
                  <a:srgbClr val="00074E"/>
                </a:solidFill>
                <a:latin typeface="Pretendard Medium"/>
                <a:ea typeface="Pretendard Medium"/>
                <a:cs typeface="Pretendard Medium"/>
              </a:rPr>
              <a:t>핵심 키워드 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989300" y="8039100"/>
            <a:ext cx="1714500" cy="292100"/>
          </a:xfrm>
          <a:prstGeom prst="rect">
            <a:avLst/>
          </a:prstGeom>
        </p:spPr>
        <p:txBody>
          <a:bodyPr lIns="0" tIns="9525" rIns="0" bIns="9525" rtlCol="0" anchor="ctr"/>
          <a:lstStyle/>
          <a:p>
            <a:pPr lvl="0" algn="r">
              <a:lnSpc>
                <a:spcPct val="107899"/>
              </a:lnSpc>
            </a:pPr>
            <a:r>
              <a:rPr lang="en-US" sz="1499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MIRI COMPANY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764000" y="7404100"/>
            <a:ext cx="469900" cy="4318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6032500" y="3276600"/>
            <a:ext cx="6781800" cy="215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5999" b="0" i="0" u="none" strike="noStrike">
                <a:solidFill>
                  <a:srgbClr val="00074E"/>
                </a:solidFill>
                <a:latin typeface="Pretendard Light"/>
                <a:ea typeface="Pretendard Light"/>
                <a:cs typeface="Pretendard Light"/>
              </a:rPr>
              <a:t>이곳에 이어질 내용의 </a:t>
            </a:r>
          </a:p>
          <a:p>
            <a:pPr lvl="0" algn="l">
              <a:lnSpc>
                <a:spcPct val="116199"/>
              </a:lnSpc>
            </a:pPr>
            <a:r>
              <a:rPr lang="en-US" sz="5999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주제를 입력해 보세요.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60700" y="3327400"/>
            <a:ext cx="2882900" cy="1003300"/>
          </a:xfrm>
          <a:prstGeom prst="rect">
            <a:avLst/>
          </a:prstGeom>
        </p:spPr>
        <p:txBody>
          <a:bodyPr lIns="0" tIns="69848" rIns="0" bIns="69848" rtlCol="0" anchor="ctr"/>
          <a:lstStyle/>
          <a:p>
            <a:pPr lvl="0" algn="l">
              <a:lnSpc>
                <a:spcPct val="99600"/>
              </a:lnSpc>
            </a:pPr>
            <a:r>
              <a:rPr lang="en-US" sz="5499" b="0" i="0" u="none" strike="noStrike">
                <a:solidFill>
                  <a:srgbClr val="4A5BA3"/>
                </a:solidFill>
                <a:latin typeface="Pretendard SemiBold"/>
                <a:ea typeface="Pretendard SemiBold"/>
                <a:cs typeface="Pretendard SemiBold"/>
              </a:rPr>
              <a:t>PART 2.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Chapter</a:t>
            </a:r>
          </a:p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14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80000">
            <a:off x="4445000" y="5854700"/>
            <a:ext cx="1016000" cy="3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27500" y="6705600"/>
            <a:ext cx="1016000" cy="3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-1980000">
            <a:off x="12979400" y="5854700"/>
            <a:ext cx="1016000" cy="3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220700" y="6705600"/>
            <a:ext cx="1016000" cy="3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160000">
            <a:off x="6299200" y="4864100"/>
            <a:ext cx="1016000" cy="38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60000">
            <a:off x="7416800" y="4229100"/>
            <a:ext cx="1016000" cy="38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60000">
            <a:off x="10007600" y="4292600"/>
            <a:ext cx="1016000" cy="38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-2160000">
            <a:off x="10883900" y="4864100"/>
            <a:ext cx="1016000" cy="381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825500" y="8623300"/>
            <a:ext cx="48768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24499"/>
              </a:lnSpc>
            </a:pPr>
            <a:r>
              <a:rPr lang="en-US" sz="1888" b="0" i="0" u="none" strike="noStrike">
                <a:solidFill>
                  <a:srgbClr val="2C2C2C"/>
                </a:solidFill>
                <a:latin typeface="Pretendard Regular"/>
                <a:ea typeface="Pretendard Regular"/>
                <a:cs typeface="Pretendard Regular"/>
              </a:rPr>
              <a:t>정해진 틀 없이 키워드를 연결하다 보면 기발한</a:t>
            </a:r>
          </a:p>
          <a:p>
            <a:pPr lvl="0" algn="r">
              <a:lnSpc>
                <a:spcPct val="124499"/>
              </a:lnSpc>
            </a:pPr>
            <a:r>
              <a:rPr lang="en-US" sz="1888" b="0" i="0" u="none" strike="noStrike">
                <a:solidFill>
                  <a:srgbClr val="2C2C2C"/>
                </a:solidFill>
                <a:latin typeface="Pretendard Regular"/>
                <a:ea typeface="Pretendard Regular"/>
                <a:cs typeface="Pretendard Regular"/>
              </a:rPr>
              <a:t>아이디어가 떠오르는 창의적인 레이아웃입니다.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98400" y="8470900"/>
            <a:ext cx="48641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888" b="0" i="0" u="none" strike="noStrike">
                <a:solidFill>
                  <a:srgbClr val="2C2C2C"/>
                </a:solidFill>
                <a:latin typeface="Pretendard Regular"/>
                <a:ea typeface="Pretendard Regular"/>
                <a:cs typeface="Pretendard Regular"/>
              </a:rPr>
              <a:t>프로젝트의 큰 그림을 중앙에 두고 실행을 위한</a:t>
            </a:r>
          </a:p>
          <a:p>
            <a:pPr lvl="0" algn="l">
              <a:lnSpc>
                <a:spcPct val="124499"/>
              </a:lnSpc>
            </a:pPr>
            <a:r>
              <a:rPr lang="en-US" sz="1888" b="0" i="0" u="none" strike="noStrike">
                <a:solidFill>
                  <a:srgbClr val="2C2C2C"/>
                </a:solidFill>
                <a:latin typeface="Pretendard Regular"/>
                <a:ea typeface="Pretendard Regular"/>
                <a:cs typeface="Pretendard Regular"/>
              </a:rPr>
              <a:t>구체적인 방법들을 주변 가지에 배치해 보세요.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972300" y="3352800"/>
            <a:ext cx="1638300" cy="5461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7188200" y="3441700"/>
            <a:ext cx="1193800" cy="381000"/>
          </a:xfrm>
          <a:prstGeom prst="rect">
            <a:avLst/>
          </a:prstGeom>
        </p:spPr>
        <p:txBody>
          <a:bodyPr lIns="0" tIns="25311" rIns="0" bIns="25311" rtlCol="0" anchor="ctr"/>
          <a:lstStyle/>
          <a:p>
            <a:pPr lvl="0" algn="ctr">
              <a:lnSpc>
                <a:spcPct val="99600"/>
              </a:lnSpc>
            </a:pPr>
            <a:r>
              <a:rPr lang="en-US" sz="1992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제품 정보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512300" y="3352800"/>
            <a:ext cx="1968500" cy="5461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9906000" y="3441700"/>
            <a:ext cx="1193800" cy="381000"/>
          </a:xfrm>
          <a:prstGeom prst="rect">
            <a:avLst/>
          </a:prstGeom>
        </p:spPr>
        <p:txBody>
          <a:bodyPr lIns="0" tIns="25311" rIns="0" bIns="25311" rtlCol="0" anchor="ctr"/>
          <a:lstStyle/>
          <a:p>
            <a:pPr lvl="0" algn="ctr">
              <a:lnSpc>
                <a:spcPct val="99600"/>
              </a:lnSpc>
            </a:pPr>
            <a:r>
              <a:rPr lang="en-US" sz="1992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고객 지원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984500" y="5321300"/>
            <a:ext cx="1638300" cy="5461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3200400" y="5410200"/>
            <a:ext cx="1193800" cy="381000"/>
          </a:xfrm>
          <a:prstGeom prst="rect">
            <a:avLst/>
          </a:prstGeom>
        </p:spPr>
        <p:txBody>
          <a:bodyPr lIns="0" tIns="25311" rIns="0" bIns="25311" rtlCol="0" anchor="ctr"/>
          <a:lstStyle/>
          <a:p>
            <a:pPr lvl="0" algn="ctr">
              <a:lnSpc>
                <a:spcPct val="99600"/>
              </a:lnSpc>
            </a:pPr>
            <a:r>
              <a:rPr lang="en-US" sz="1992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서비스 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665200" y="5321300"/>
            <a:ext cx="1638300" cy="5461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3881100" y="5410200"/>
            <a:ext cx="1193800" cy="381000"/>
          </a:xfrm>
          <a:prstGeom prst="rect">
            <a:avLst/>
          </a:prstGeom>
        </p:spPr>
        <p:txBody>
          <a:bodyPr lIns="0" tIns="25311" rIns="0" bIns="25311" rtlCol="0" anchor="ctr"/>
          <a:lstStyle/>
          <a:p>
            <a:pPr lvl="0" algn="ctr">
              <a:lnSpc>
                <a:spcPct val="99600"/>
              </a:lnSpc>
            </a:pPr>
            <a:r>
              <a:rPr lang="en-US" sz="1992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채용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838700" y="4495800"/>
            <a:ext cx="8623300" cy="50165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124700" y="7467600"/>
            <a:ext cx="4025900" cy="20447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712200" y="7785100"/>
            <a:ext cx="863600" cy="8636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7696200" y="8699500"/>
            <a:ext cx="2895600" cy="457200"/>
          </a:xfrm>
          <a:prstGeom prst="rect">
            <a:avLst/>
          </a:prstGeom>
        </p:spPr>
        <p:txBody>
          <a:bodyPr lIns="0" tIns="30641" rIns="0" bIns="30641" rtlCol="0" anchor="ctr"/>
          <a:lstStyle/>
          <a:p>
            <a:pPr lvl="0" algn="ctr">
              <a:lnSpc>
                <a:spcPct val="99600"/>
              </a:lnSpc>
            </a:pPr>
            <a:r>
              <a:rPr lang="en-US" sz="2412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 웹사이트 메뉴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940300" y="5778500"/>
            <a:ext cx="1473200" cy="14732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175500" y="4610100"/>
            <a:ext cx="1473200" cy="14732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652000" y="4610100"/>
            <a:ext cx="1473200" cy="14732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874500" y="5778500"/>
            <a:ext cx="1473200" cy="14732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230100" y="6121400"/>
            <a:ext cx="774700" cy="7747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295900" y="6121400"/>
            <a:ext cx="774700" cy="7747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518400" y="4953000"/>
            <a:ext cx="774700" cy="7747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994900" y="4953000"/>
            <a:ext cx="774700" cy="7747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762500" y="4178300"/>
            <a:ext cx="2070100" cy="546100"/>
          </a:xfrm>
          <a:prstGeom prst="rect">
            <a:avLst/>
          </a:prstGeom>
        </p:spPr>
      </p:pic>
      <p:sp>
        <p:nvSpPr>
          <p:cNvPr id="37" name="TextBox 37"/>
          <p:cNvSpPr txBox="1"/>
          <p:nvPr/>
        </p:nvSpPr>
        <p:spPr>
          <a:xfrm>
            <a:off x="5003800" y="4267200"/>
            <a:ext cx="1587500" cy="381000"/>
          </a:xfrm>
          <a:prstGeom prst="rect">
            <a:avLst/>
          </a:prstGeom>
        </p:spPr>
        <p:txBody>
          <a:bodyPr lIns="0" tIns="25311" rIns="0" bIns="25311" rtlCol="0" anchor="ctr"/>
          <a:lstStyle/>
          <a:p>
            <a:pPr lvl="0" algn="ctr">
              <a:lnSpc>
                <a:spcPct val="99600"/>
              </a:lnSpc>
            </a:pPr>
            <a:r>
              <a:rPr lang="en-US" sz="1992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포트폴리오</a:t>
            </a: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468100" y="4178300"/>
            <a:ext cx="1638300" cy="546100"/>
          </a:xfrm>
          <a:prstGeom prst="rect">
            <a:avLst/>
          </a:prstGeom>
        </p:spPr>
      </p:pic>
      <p:sp>
        <p:nvSpPr>
          <p:cNvPr id="39" name="TextBox 39"/>
          <p:cNvSpPr txBox="1"/>
          <p:nvPr/>
        </p:nvSpPr>
        <p:spPr>
          <a:xfrm>
            <a:off x="11696700" y="4267200"/>
            <a:ext cx="1193800" cy="381000"/>
          </a:xfrm>
          <a:prstGeom prst="rect">
            <a:avLst/>
          </a:prstGeom>
        </p:spPr>
        <p:txBody>
          <a:bodyPr lIns="0" tIns="25311" rIns="0" bIns="25311" rtlCol="0" anchor="ctr"/>
          <a:lstStyle/>
          <a:p>
            <a:pPr lvl="0" algn="ctr">
              <a:lnSpc>
                <a:spcPct val="99600"/>
              </a:lnSpc>
            </a:pPr>
            <a:r>
              <a:rPr lang="en-US" sz="1992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뉴스</a:t>
            </a: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590800" y="6451600"/>
            <a:ext cx="1638300" cy="546100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2806700" y="6540500"/>
            <a:ext cx="1193800" cy="381000"/>
          </a:xfrm>
          <a:prstGeom prst="rect">
            <a:avLst/>
          </a:prstGeom>
        </p:spPr>
        <p:txBody>
          <a:bodyPr lIns="0" tIns="25311" rIns="0" bIns="25311" rtlCol="0" anchor="ctr"/>
          <a:lstStyle/>
          <a:p>
            <a:pPr lvl="0" algn="ctr">
              <a:lnSpc>
                <a:spcPct val="99600"/>
              </a:lnSpc>
            </a:pPr>
            <a:r>
              <a:rPr lang="en-US" sz="1992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 회사 소개</a:t>
            </a: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4058900" y="6451600"/>
            <a:ext cx="1930400" cy="546100"/>
          </a:xfrm>
          <a:prstGeom prst="rect">
            <a:avLst/>
          </a:prstGeom>
        </p:spPr>
      </p:pic>
      <p:sp>
        <p:nvSpPr>
          <p:cNvPr id="43" name="TextBox 43"/>
          <p:cNvSpPr txBox="1"/>
          <p:nvPr/>
        </p:nvSpPr>
        <p:spPr>
          <a:xfrm>
            <a:off x="14427200" y="6540500"/>
            <a:ext cx="1193800" cy="381000"/>
          </a:xfrm>
          <a:prstGeom prst="rect">
            <a:avLst/>
          </a:prstGeom>
        </p:spPr>
        <p:txBody>
          <a:bodyPr lIns="0" tIns="25311" rIns="0" bIns="25311" rtlCol="0" anchor="ctr"/>
          <a:lstStyle/>
          <a:p>
            <a:pPr lvl="0" algn="ctr">
              <a:lnSpc>
                <a:spcPct val="99600"/>
              </a:lnSpc>
            </a:pPr>
            <a:r>
              <a:rPr lang="en-US" sz="1992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문의하기</a:t>
            </a:r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715000" y="9347200"/>
            <a:ext cx="6845300" cy="215900"/>
          </a:xfrm>
          <a:prstGeom prst="rect">
            <a:avLst/>
          </a:prstGeom>
        </p:spPr>
      </p:pic>
      <p:sp>
        <p:nvSpPr>
          <p:cNvPr id="45" name="TextBox 45"/>
          <p:cNvSpPr txBox="1"/>
          <p:nvPr/>
        </p:nvSpPr>
        <p:spPr>
          <a:xfrm>
            <a:off x="5346700" y="1739900"/>
            <a:ext cx="7594600" cy="1003300"/>
          </a:xfrm>
          <a:prstGeom prst="rect">
            <a:avLst/>
          </a:prstGeom>
        </p:spPr>
        <p:txBody>
          <a:bodyPr lIns="0" tIns="69848" rIns="0" bIns="69848" rtlCol="0" anchor="ctr"/>
          <a:lstStyle/>
          <a:p>
            <a:pPr lvl="0" algn="ctr">
              <a:lnSpc>
                <a:spcPct val="99600"/>
              </a:lnSpc>
            </a:pPr>
            <a:r>
              <a:rPr lang="en-US" sz="5499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브레인스토밍 마인드맵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Chapter</a:t>
            </a:r>
          </a:p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15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27200" y="8242300"/>
            <a:ext cx="14833600" cy="977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08200" y="8521700"/>
            <a:ext cx="1308100" cy="4191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3670300" y="8547100"/>
            <a:ext cx="124079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서로 다른 요소가 만나 창출하는 시너지 효과를 설명해 보세요. 단순히 항목을 나열하는 것을 넘어 새로운 가치 탄생을 보여요.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73300" y="8572500"/>
            <a:ext cx="9525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Insight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16200" y="3213100"/>
            <a:ext cx="13055600" cy="4216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700000">
            <a:off x="6807200" y="5181600"/>
            <a:ext cx="279400" cy="279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700000">
            <a:off x="11201400" y="5181600"/>
            <a:ext cx="279400" cy="279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37500" y="7505700"/>
            <a:ext cx="2413000" cy="609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21000" y="3492500"/>
            <a:ext cx="3657600" cy="36576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3378200" y="4927600"/>
            <a:ext cx="2730500" cy="419100"/>
          </a:xfrm>
          <a:prstGeom prst="rect">
            <a:avLst/>
          </a:prstGeom>
        </p:spPr>
        <p:txBody>
          <a:bodyPr lIns="0" tIns="27940" rIns="0" bIns="27940" rtlCol="0" anchor="ctr"/>
          <a:lstStyle/>
          <a:p>
            <a:pPr lvl="0" algn="ctr">
              <a:lnSpc>
                <a:spcPct val="99600"/>
              </a:lnSpc>
            </a:pPr>
            <a:r>
              <a:rPr lang="en-US" sz="2199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 콘텐츠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213100" y="5562600"/>
            <a:ext cx="30607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개별 요소가 모여</a:t>
            </a:r>
          </a:p>
          <a:p>
            <a:pPr lvl="0" algn="ctr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더 큰 힘을 발휘하게 돼요.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76700" y="4140200"/>
            <a:ext cx="1358900" cy="4445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4229100" y="4216400"/>
            <a:ext cx="1028700" cy="317500"/>
          </a:xfrm>
          <a:prstGeom prst="rect">
            <a:avLst/>
          </a:prstGeom>
        </p:spPr>
        <p:txBody>
          <a:bodyPr lIns="0" tIns="20629" rIns="0" bIns="20629" rtlCol="0" anchor="ctr"/>
          <a:lstStyle/>
          <a:p>
            <a:pPr lvl="0" algn="ctr">
              <a:lnSpc>
                <a:spcPct val="99600"/>
              </a:lnSpc>
            </a:pPr>
            <a:r>
              <a:rPr lang="en-US" sz="1624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Point 1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15200" y="3492500"/>
            <a:ext cx="3657600" cy="36576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7975600" y="4927600"/>
            <a:ext cx="2349500" cy="419100"/>
          </a:xfrm>
          <a:prstGeom prst="rect">
            <a:avLst/>
          </a:prstGeom>
        </p:spPr>
        <p:txBody>
          <a:bodyPr lIns="0" tIns="27940" rIns="0" bIns="27940" rtlCol="0" anchor="ctr"/>
          <a:lstStyle/>
          <a:p>
            <a:pPr lvl="0" algn="ctr">
              <a:lnSpc>
                <a:spcPct val="99600"/>
              </a:lnSpc>
            </a:pPr>
            <a:r>
              <a:rPr lang="en-US" sz="2199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플랫폼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20000" y="5562600"/>
            <a:ext cx="30607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최적의 결과를 내기 위한</a:t>
            </a:r>
          </a:p>
          <a:p>
            <a:pPr lvl="0" algn="ctr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전략적 선택을 보여주세요.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470900" y="4140200"/>
            <a:ext cx="1358900" cy="4445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8636000" y="4216400"/>
            <a:ext cx="1028700" cy="317500"/>
          </a:xfrm>
          <a:prstGeom prst="rect">
            <a:avLst/>
          </a:prstGeom>
        </p:spPr>
        <p:txBody>
          <a:bodyPr lIns="0" tIns="20629" rIns="0" bIns="20629" rtlCol="0" anchor="ctr"/>
          <a:lstStyle/>
          <a:p>
            <a:pPr lvl="0" algn="ctr">
              <a:lnSpc>
                <a:spcPct val="99600"/>
              </a:lnSpc>
            </a:pPr>
            <a:r>
              <a:rPr lang="en-US" sz="1624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Point 2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709400" y="3492500"/>
            <a:ext cx="3657600" cy="36576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2065000" y="4927600"/>
            <a:ext cx="2946400" cy="419100"/>
          </a:xfrm>
          <a:prstGeom prst="rect">
            <a:avLst/>
          </a:prstGeom>
        </p:spPr>
        <p:txBody>
          <a:bodyPr lIns="0" tIns="27940" rIns="0" bIns="27940" rtlCol="0" anchor="ctr"/>
          <a:lstStyle/>
          <a:p>
            <a:pPr lvl="0" algn="ctr">
              <a:lnSpc>
                <a:spcPct val="99600"/>
              </a:lnSpc>
            </a:pPr>
            <a:r>
              <a:rPr lang="en-US" sz="2199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네트워크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014200" y="5575300"/>
            <a:ext cx="30607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서로 부족한 점을 보완하며</a:t>
            </a:r>
          </a:p>
          <a:p>
            <a:pPr lvl="0" algn="ctr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완벽한 합을 이룹니다.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865100" y="4140200"/>
            <a:ext cx="1358900" cy="4445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13030200" y="4216400"/>
            <a:ext cx="1028700" cy="317500"/>
          </a:xfrm>
          <a:prstGeom prst="rect">
            <a:avLst/>
          </a:prstGeom>
        </p:spPr>
        <p:txBody>
          <a:bodyPr lIns="0" tIns="20629" rIns="0" bIns="20629" rtlCol="0" anchor="ctr"/>
          <a:lstStyle/>
          <a:p>
            <a:pPr lvl="0" algn="ctr">
              <a:lnSpc>
                <a:spcPct val="99600"/>
              </a:lnSpc>
            </a:pPr>
            <a:r>
              <a:rPr lang="en-US" sz="1624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Point 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346700" y="1739900"/>
            <a:ext cx="7594600" cy="1003300"/>
          </a:xfrm>
          <a:prstGeom prst="rect">
            <a:avLst/>
          </a:prstGeom>
        </p:spPr>
        <p:txBody>
          <a:bodyPr lIns="0" tIns="69848" rIns="0" bIns="69848" rtlCol="0" anchor="ctr"/>
          <a:lstStyle/>
          <a:p>
            <a:pPr lvl="0" algn="ctr">
              <a:lnSpc>
                <a:spcPct val="99600"/>
              </a:lnSpc>
            </a:pPr>
            <a:r>
              <a:rPr lang="en-US" sz="5499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핵심 성공 방정식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35100" y="406400"/>
            <a:ext cx="2641600" cy="1333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44018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Chapter</a:t>
            </a:r>
          </a:p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16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8775700"/>
            <a:ext cx="16014700" cy="609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3000" y="4991100"/>
            <a:ext cx="5270500" cy="382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88100" y="4394200"/>
            <a:ext cx="5283200" cy="4406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67300" y="7594600"/>
            <a:ext cx="977900" cy="977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95400" y="8928100"/>
            <a:ext cx="13716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57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20XX.00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633200" y="3810000"/>
            <a:ext cx="5270500" cy="50038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5372100" y="8928100"/>
            <a:ext cx="19812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757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20XX.00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22000" y="8928100"/>
            <a:ext cx="20701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757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20XX.00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100300" y="8928100"/>
            <a:ext cx="18034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757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20XX.00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18300" y="5359400"/>
            <a:ext cx="47244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구체적인 과업을 짧게 요약해 적어주세요.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25100" y="7594600"/>
            <a:ext cx="977900" cy="977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392400" y="7594600"/>
            <a:ext cx="977900" cy="977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557500" y="7759700"/>
            <a:ext cx="635000" cy="635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32400" y="7759700"/>
            <a:ext cx="635000" cy="635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490200" y="7747000"/>
            <a:ext cx="635000" cy="6477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2052300" y="4800600"/>
            <a:ext cx="45466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최종적으로 얻게 될 기대 효과를 적어보세요.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73200" y="6057900"/>
            <a:ext cx="45212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달성해야 할 핵심 목표를 배치해 보세요.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473200" y="5295900"/>
            <a:ext cx="1422400" cy="4826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638300" y="5384800"/>
            <a:ext cx="1079500" cy="330200"/>
          </a:xfrm>
          <a:prstGeom prst="rect">
            <a:avLst/>
          </a:prstGeom>
        </p:spPr>
        <p:txBody>
          <a:bodyPr lIns="0" tIns="21701" rIns="0" bIns="21701" rtlCol="0" anchor="ctr"/>
          <a:lstStyle/>
          <a:p>
            <a:pPr lvl="0" algn="ctr">
              <a:lnSpc>
                <a:spcPct val="99600"/>
              </a:lnSpc>
            </a:pPr>
            <a:r>
              <a:rPr lang="en-US" sz="1708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팀구성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18300" y="4711700"/>
            <a:ext cx="1422400" cy="4826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6883400" y="4787900"/>
            <a:ext cx="1079500" cy="330200"/>
          </a:xfrm>
          <a:prstGeom prst="rect">
            <a:avLst/>
          </a:prstGeom>
        </p:spPr>
        <p:txBody>
          <a:bodyPr lIns="0" tIns="21701" rIns="0" bIns="21701" rtlCol="0" anchor="ctr"/>
          <a:lstStyle/>
          <a:p>
            <a:pPr lvl="0" algn="ctr">
              <a:lnSpc>
                <a:spcPct val="99600"/>
              </a:lnSpc>
            </a:pPr>
            <a:r>
              <a:rPr lang="en-US" sz="1708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기술개발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963400" y="4114800"/>
            <a:ext cx="1422400" cy="4826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12128500" y="4191000"/>
            <a:ext cx="1079500" cy="330200"/>
          </a:xfrm>
          <a:prstGeom prst="rect">
            <a:avLst/>
          </a:prstGeom>
        </p:spPr>
        <p:txBody>
          <a:bodyPr lIns="0" tIns="21701" rIns="0" bIns="21701" rtlCol="0" anchor="ctr"/>
          <a:lstStyle/>
          <a:p>
            <a:pPr lvl="0" algn="ctr">
              <a:lnSpc>
                <a:spcPct val="99600"/>
              </a:lnSpc>
            </a:pPr>
            <a:r>
              <a:rPr lang="en-US" sz="1708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회원유치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35100" y="6578600"/>
            <a:ext cx="38481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프로젝트의 전체 과정을 선으로 연결하여 시각화하세요. 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718300" y="5943600"/>
            <a:ext cx="45085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각 단계의 핵심을 아이콘으로 표현하면 전달력이</a:t>
            </a:r>
          </a:p>
          <a:p>
            <a:pPr lvl="0" algn="l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좋아집니다.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052300" y="5524500"/>
            <a:ext cx="4648200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시작과 끝을 자연스럽게 연결하여 전체 흐름을</a:t>
            </a:r>
          </a:p>
          <a:p>
            <a:pPr lvl="0" algn="l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한눈에 보여주면 체계적인 일정 관리가</a:t>
            </a:r>
          </a:p>
          <a:p>
            <a:pPr lvl="0" algn="l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가능해집니다.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85900" y="2895600"/>
            <a:ext cx="8318500" cy="723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8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프로젝트의 전체적인 흐름과 주요 마일스톤을 한눈에 보여주는 타임라인 페이지입니다. </a:t>
            </a:r>
          </a:p>
          <a:p>
            <a:pPr lvl="0" algn="l">
              <a:lnSpc>
                <a:spcPct val="124499"/>
              </a:lnSpc>
            </a:pPr>
            <a:r>
              <a:rPr lang="en-US" sz="18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체계적인 일정 관리는 성공적인 프로젝트의 시작입니다.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85900" y="1739900"/>
            <a:ext cx="7594600" cy="1003300"/>
          </a:xfrm>
          <a:prstGeom prst="rect">
            <a:avLst/>
          </a:prstGeom>
        </p:spPr>
        <p:txBody>
          <a:bodyPr lIns="0" tIns="69848" rIns="0" bIns="69848" rtlCol="0" anchor="ctr"/>
          <a:lstStyle/>
          <a:p>
            <a:pPr lvl="0" algn="l">
              <a:lnSpc>
                <a:spcPct val="99600"/>
              </a:lnSpc>
            </a:pPr>
            <a:r>
              <a:rPr lang="en-US" sz="5499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프로젝트 타임라인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35100" y="406400"/>
            <a:ext cx="2641600" cy="1333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44018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Chapter</a:t>
            </a:r>
          </a:p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17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30400" y="3048000"/>
            <a:ext cx="7162800" cy="3086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94800" y="3048000"/>
            <a:ext cx="7162800" cy="3086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30400" y="6223000"/>
            <a:ext cx="7162800" cy="3086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94800" y="6223000"/>
            <a:ext cx="7162800" cy="3086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32800" y="5473700"/>
            <a:ext cx="1397000" cy="1397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67600" y="4495800"/>
            <a:ext cx="3340100" cy="33401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8089900" y="5054600"/>
            <a:ext cx="749300" cy="825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500" b="0" i="0" u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98000" y="5054600"/>
            <a:ext cx="787400" cy="825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500" b="0" i="0" u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W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89900" y="6464300"/>
            <a:ext cx="749300" cy="825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500" b="0" i="0" u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10700" y="6464300"/>
            <a:ext cx="749300" cy="825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500" b="0" i="0" u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T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86000" y="3492500"/>
            <a:ext cx="1981200" cy="4953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2451100" y="3556000"/>
            <a:ext cx="1663700" cy="368300"/>
          </a:xfrm>
          <a:prstGeom prst="rect">
            <a:avLst/>
          </a:prstGeom>
        </p:spPr>
        <p:txBody>
          <a:bodyPr lIns="0" tIns="24130" rIns="0" bIns="24130" rtlCol="0" anchor="ctr"/>
          <a:lstStyle/>
          <a:p>
            <a:pPr lvl="0" algn="ctr">
              <a:lnSpc>
                <a:spcPct val="99600"/>
              </a:lnSpc>
            </a:pPr>
            <a:r>
              <a:rPr lang="en-US" sz="1899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Strengths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36800" y="4394200"/>
            <a:ext cx="45339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100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목표 달성을 돕는 내부적 강점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36800" y="4991100"/>
            <a:ext cx="51689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목표 달성에 도움이 되는 내부적 요소인 강점을 명확히</a:t>
            </a:r>
          </a:p>
          <a:p>
            <a:pPr lvl="0" algn="l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적으세요. 기업의 내부 역량을 객관적으로 진단합니다.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020800" y="3492500"/>
            <a:ext cx="1981200" cy="4953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4173200" y="3556000"/>
            <a:ext cx="1663700" cy="368300"/>
          </a:xfrm>
          <a:prstGeom prst="rect">
            <a:avLst/>
          </a:prstGeom>
        </p:spPr>
        <p:txBody>
          <a:bodyPr lIns="0" tIns="24130" rIns="0" bIns="24130" rtlCol="0" anchor="ctr"/>
          <a:lstStyle/>
          <a:p>
            <a:pPr lvl="0" algn="ctr">
              <a:lnSpc>
                <a:spcPct val="99600"/>
              </a:lnSpc>
            </a:pPr>
            <a:r>
              <a:rPr lang="en-US" sz="1899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Weakness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430000" y="4394200"/>
            <a:ext cx="45339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100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목표 달성의 방해 내부 요인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680700" y="4991100"/>
            <a:ext cx="53848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목표 달성에 방해가 되는 내부적 요소인 약점을 냉정하게 분석하세요. 부족한 점을 알아야 보완할 수 있습니다.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286000" y="6667500"/>
            <a:ext cx="1981200" cy="4953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2451100" y="6731000"/>
            <a:ext cx="1663700" cy="368300"/>
          </a:xfrm>
          <a:prstGeom prst="rect">
            <a:avLst/>
          </a:prstGeom>
        </p:spPr>
        <p:txBody>
          <a:bodyPr lIns="0" tIns="24130" rIns="0" bIns="24130" rtlCol="0" anchor="ctr"/>
          <a:lstStyle/>
          <a:p>
            <a:pPr lvl="0" algn="ctr">
              <a:lnSpc>
                <a:spcPct val="99600"/>
              </a:lnSpc>
            </a:pPr>
            <a:r>
              <a:rPr lang="en-US" sz="1899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Opportunity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336800" y="7569200"/>
            <a:ext cx="45339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100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성장을 돕는 외부 환경 요인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336800" y="8166100"/>
            <a:ext cx="54356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목표 달성에 도움이 되는 외부적 요소인 기회를</a:t>
            </a:r>
          </a:p>
          <a:p>
            <a:pPr lvl="0" algn="l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포착하여 작성하세요. 성장을 가속화할 수 있는 환경입니다.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008100" y="6667500"/>
            <a:ext cx="1981200" cy="4953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14173200" y="6731000"/>
            <a:ext cx="1663700" cy="368300"/>
          </a:xfrm>
          <a:prstGeom prst="rect">
            <a:avLst/>
          </a:prstGeom>
        </p:spPr>
        <p:txBody>
          <a:bodyPr lIns="0" tIns="24130" rIns="0" bIns="24130" rtlCol="0" anchor="ctr"/>
          <a:lstStyle/>
          <a:p>
            <a:pPr lvl="0" algn="ctr">
              <a:lnSpc>
                <a:spcPct val="99600"/>
              </a:lnSpc>
            </a:pPr>
            <a:r>
              <a:rPr lang="en-US" sz="1899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Threat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30000" y="7569200"/>
            <a:ext cx="45339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100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성장을 막는 외부의 위협들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782300" y="8166100"/>
            <a:ext cx="51689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목표 달성에 방해가 되는 외부적 요소인 위협을</a:t>
            </a:r>
          </a:p>
          <a:p>
            <a:pPr lvl="0" algn="r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식별하여 적으세요. 미리 대비하지 않으면 위기가 됩니다.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346700" y="1739900"/>
            <a:ext cx="7594600" cy="1003300"/>
          </a:xfrm>
          <a:prstGeom prst="rect">
            <a:avLst/>
          </a:prstGeom>
        </p:spPr>
        <p:txBody>
          <a:bodyPr lIns="0" tIns="69848" rIns="0" bIns="69848" rtlCol="0" anchor="ctr"/>
          <a:lstStyle/>
          <a:p>
            <a:pPr lvl="0" algn="ctr">
              <a:lnSpc>
                <a:spcPct val="99600"/>
              </a:lnSpc>
            </a:pPr>
            <a:r>
              <a:rPr lang="en-US" sz="5499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SWOT 분석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35100" y="406400"/>
            <a:ext cx="2641600" cy="1333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44018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Chapter</a:t>
            </a:r>
          </a:p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18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2200" y="3187700"/>
            <a:ext cx="5930900" cy="5930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83400" y="3886200"/>
            <a:ext cx="4533900" cy="4533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77100" y="4279900"/>
            <a:ext cx="3733800" cy="37338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7620000" y="5626100"/>
            <a:ext cx="30480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199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단계별 순환 과정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02300" y="3810000"/>
            <a:ext cx="1447800" cy="1460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02300" y="7226300"/>
            <a:ext cx="1447800" cy="146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37900" y="3810000"/>
            <a:ext cx="1447800" cy="146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137900" y="7226300"/>
            <a:ext cx="1447800" cy="1460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055100" y="3048000"/>
            <a:ext cx="177800" cy="304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055100" y="8953500"/>
            <a:ext cx="177800" cy="304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5400000">
            <a:off x="12014200" y="5994400"/>
            <a:ext cx="177800" cy="304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-5400000">
            <a:off x="6096000" y="5994400"/>
            <a:ext cx="177800" cy="3048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057900" y="7594600"/>
            <a:ext cx="736600" cy="7366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057900" y="4165600"/>
            <a:ext cx="736600" cy="736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493500" y="4165600"/>
            <a:ext cx="736600" cy="7366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493500" y="7581900"/>
            <a:ext cx="736600" cy="7366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7531100" y="6134100"/>
            <a:ext cx="31877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3255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 매끄럽게 돌아가는 시스템이에요.</a:t>
            </a:r>
          </a:p>
          <a:p>
            <a:pPr lvl="0" algn="ctr">
              <a:lnSpc>
                <a:spcPct val="123255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 유기적인 상호작용을 보여줘요.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276600" y="3924300"/>
            <a:ext cx="2209800" cy="406400"/>
          </a:xfrm>
          <a:prstGeom prst="rect">
            <a:avLst/>
          </a:prstGeom>
        </p:spPr>
        <p:txBody>
          <a:bodyPr lIns="0" tIns="25336" rIns="0" bIns="25336" rtlCol="0" anchor="ctr"/>
          <a:lstStyle/>
          <a:p>
            <a:pPr lvl="0" algn="r">
              <a:lnSpc>
                <a:spcPct val="100429"/>
              </a:lnSpc>
            </a:pPr>
            <a:r>
              <a:rPr lang="en-US" sz="2100" b="0" i="0" u="none" strike="noStrike">
                <a:solidFill>
                  <a:srgbClr val="00074E">
                    <a:alpha val="80000"/>
                  </a:srgbClr>
                </a:solidFill>
                <a:latin typeface="Pretendard SemiBold"/>
                <a:ea typeface="Pretendard SemiBold"/>
                <a:cs typeface="Pretendard SemiBold"/>
              </a:rPr>
              <a:t>인지과정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03400" y="4457700"/>
            <a:ext cx="36576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연결되어 끊임없이 반복되는 구조를</a:t>
            </a:r>
          </a:p>
          <a:p>
            <a:pPr lvl="0" algn="r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통해 지속적인 발전 과정을 보여주세요.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289300" y="7353300"/>
            <a:ext cx="2209800" cy="406400"/>
          </a:xfrm>
          <a:prstGeom prst="rect">
            <a:avLst/>
          </a:prstGeom>
        </p:spPr>
        <p:txBody>
          <a:bodyPr lIns="0" tIns="25336" rIns="0" bIns="25336" rtlCol="0" anchor="ctr"/>
          <a:lstStyle/>
          <a:p>
            <a:pPr lvl="0" algn="r">
              <a:lnSpc>
                <a:spcPct val="100429"/>
              </a:lnSpc>
            </a:pPr>
            <a:r>
              <a:rPr lang="en-US" sz="2100" b="0" i="0" u="none" strike="noStrike">
                <a:solidFill>
                  <a:srgbClr val="00074E">
                    <a:alpha val="80000"/>
                  </a:srgbClr>
                </a:solidFill>
                <a:latin typeface="Pretendard SemiBold"/>
                <a:ea typeface="Pretendard SemiBold"/>
                <a:cs typeface="Pretendard SemiBold"/>
              </a:rPr>
              <a:t>추천과정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89100" y="7874000"/>
            <a:ext cx="38735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단계가 다음에 미치는 영향을 설명하고 상호 의존적인 관계임을 명확히 해요.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738100" y="3924300"/>
            <a:ext cx="2133600" cy="406400"/>
          </a:xfrm>
          <a:prstGeom prst="rect">
            <a:avLst/>
          </a:prstGeom>
        </p:spPr>
        <p:txBody>
          <a:bodyPr lIns="0" tIns="25336" rIns="0" bIns="25336" rtlCol="0" anchor="ctr"/>
          <a:lstStyle/>
          <a:p>
            <a:pPr lvl="0" algn="l">
              <a:lnSpc>
                <a:spcPct val="100429"/>
              </a:lnSpc>
            </a:pPr>
            <a:r>
              <a:rPr lang="en-US" sz="2100" b="0" i="0" u="none" strike="noStrike">
                <a:solidFill>
                  <a:srgbClr val="00074E">
                    <a:alpha val="80000"/>
                  </a:srgbClr>
                </a:solidFill>
                <a:latin typeface="Pretendard SemiBold"/>
                <a:ea typeface="Pretendard SemiBold"/>
                <a:cs typeface="Pretendard SemiBold"/>
              </a:rPr>
              <a:t>고려과정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738100" y="4457700"/>
            <a:ext cx="36576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시계 방향으로 흐르는 순서를 배치하여 업무가 매끄럽게 진행됨을 강조하세요.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827000" y="7353300"/>
            <a:ext cx="2133600" cy="406400"/>
          </a:xfrm>
          <a:prstGeom prst="rect">
            <a:avLst/>
          </a:prstGeom>
        </p:spPr>
        <p:txBody>
          <a:bodyPr lIns="0" tIns="25336" rIns="0" bIns="25336" rtlCol="0" anchor="ctr"/>
          <a:lstStyle/>
          <a:p>
            <a:pPr lvl="0" algn="l">
              <a:lnSpc>
                <a:spcPct val="100429"/>
              </a:lnSpc>
            </a:pPr>
            <a:r>
              <a:rPr lang="en-US" sz="2100" b="0" i="0" u="none" strike="noStrike">
                <a:solidFill>
                  <a:srgbClr val="00074E">
                    <a:alpha val="80000"/>
                  </a:srgbClr>
                </a:solidFill>
                <a:latin typeface="Pretendard SemiBold"/>
                <a:ea typeface="Pretendard SemiBold"/>
                <a:cs typeface="Pretendard SemiBold"/>
              </a:rPr>
              <a:t>구매과정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827000" y="7874000"/>
            <a:ext cx="36576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멈춰있는 시스템이 아니라 움직이며</a:t>
            </a:r>
          </a:p>
          <a:p>
            <a:pPr lvl="0" algn="l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성장하는 생태계임을 보여주세요.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346700" y="1714500"/>
            <a:ext cx="7594600" cy="1003300"/>
          </a:xfrm>
          <a:prstGeom prst="rect">
            <a:avLst/>
          </a:prstGeom>
        </p:spPr>
        <p:txBody>
          <a:bodyPr lIns="0" tIns="69848" rIns="0" bIns="69848" rtlCol="0" anchor="ctr"/>
          <a:lstStyle/>
          <a:p>
            <a:pPr lvl="0" algn="ctr">
              <a:lnSpc>
                <a:spcPct val="99600"/>
              </a:lnSpc>
            </a:pPr>
            <a:r>
              <a:rPr lang="en-US" sz="5499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 비즈니스 사이클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Chapter</a:t>
            </a:r>
          </a:p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19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8200" y="2146300"/>
            <a:ext cx="4775200" cy="7366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9700" y="2882900"/>
            <a:ext cx="3949700" cy="59690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8242300" y="9144000"/>
            <a:ext cx="2997200" cy="330200"/>
          </a:xfrm>
          <a:prstGeom prst="rect">
            <a:avLst/>
          </a:prstGeom>
        </p:spPr>
        <p:txBody>
          <a:bodyPr lIns="0" tIns="21590" rIns="0" bIns="21590" rtlCol="0" anchor="ctr"/>
          <a:lstStyle/>
          <a:p>
            <a:pPr lvl="0" algn="ct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2C2C2C"/>
                </a:solidFill>
                <a:latin typeface="Pretendard SemiBold"/>
                <a:ea typeface="Pretendard SemiBold"/>
                <a:cs typeface="Pretendard SemiBold"/>
              </a:rPr>
              <a:t>[ 사용예시 1 ]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79300" y="2146300"/>
            <a:ext cx="4775200" cy="73660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3246100" y="9144000"/>
            <a:ext cx="2997200" cy="330200"/>
          </a:xfrm>
          <a:prstGeom prst="rect">
            <a:avLst/>
          </a:prstGeom>
        </p:spPr>
        <p:txBody>
          <a:bodyPr lIns="0" tIns="21590" rIns="0" bIns="21590" rtlCol="0" anchor="ctr"/>
          <a:lstStyle/>
          <a:p>
            <a:pPr lvl="0" algn="ct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2C2C2C"/>
                </a:solidFill>
                <a:latin typeface="Pretendard SemiBold"/>
                <a:ea typeface="Pretendard SemiBold"/>
                <a:cs typeface="Pretendard SemiBold"/>
              </a:rPr>
              <a:t>[ 사용예시 2 ]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63500" y="2882900"/>
            <a:ext cx="3949700" cy="59690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549400" y="4965700"/>
            <a:ext cx="4953000" cy="1447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8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디자인 시안을 목업에 적용해 보여주세요. 평면적인 이미지가 입체적인 실물처럼 보입니다. 포트폴리오나 제안서에서 전문성을 드러내기에 가장 좋은 레이아웃입니다.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49400" y="6794500"/>
            <a:ext cx="5245100" cy="1257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00" lvl="1" indent="-228600" algn="l">
              <a:lnSpc>
                <a:spcPct val="166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스마트폰 프레임에 앱 구동 화면을 합성해 보세요.</a:t>
            </a:r>
          </a:p>
          <a:p>
            <a:pPr marL="228600" lvl="1" indent="-228600" algn="l">
              <a:lnSpc>
                <a:spcPct val="166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막연한 상상을 구체적인 현실로 만들 수 있어요.</a:t>
            </a:r>
          </a:p>
          <a:p>
            <a:pPr marL="228600" lvl="1" indent="-228600" algn="l">
              <a:lnSpc>
                <a:spcPct val="166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기능 설명이 필요할 땐 선을 연결해 안내하세요.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49400" y="3467100"/>
            <a:ext cx="5384800" cy="1003300"/>
          </a:xfrm>
          <a:prstGeom prst="rect">
            <a:avLst/>
          </a:prstGeom>
        </p:spPr>
        <p:txBody>
          <a:bodyPr lIns="0" tIns="69848" rIns="0" bIns="69848" rtlCol="0" anchor="ctr"/>
          <a:lstStyle/>
          <a:p>
            <a:pPr lvl="0" algn="l">
              <a:lnSpc>
                <a:spcPct val="99600"/>
              </a:lnSpc>
            </a:pPr>
            <a:r>
              <a:rPr lang="en-US" sz="5499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서비스 사용 예시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Chapter</a:t>
            </a:r>
          </a:p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20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10922000" y="-38100"/>
            <a:ext cx="1549400" cy="8432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341600" y="3251200"/>
            <a:ext cx="1854200" cy="1854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-5400000">
            <a:off x="12204700" y="-1968500"/>
            <a:ext cx="1549400" cy="8432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80300" y="1320800"/>
            <a:ext cx="1854200" cy="1854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12100" y="1676400"/>
            <a:ext cx="977900" cy="1155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773400" y="3581400"/>
            <a:ext cx="977900" cy="1206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9525000" y="1892300"/>
            <a:ext cx="7315200" cy="723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1899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Q</a:t>
            </a:r>
            <a:r>
              <a:rPr lang="en-US" sz="1899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: 이곳은 QnA 레이아웃을 작성하는 공간입니다. 짧은 호흡의 문장을</a:t>
            </a:r>
          </a:p>
          <a:p>
            <a:pPr lvl="0" algn="l">
              <a:lnSpc>
                <a:spcPct val="124499"/>
              </a:lnSpc>
            </a:pPr>
            <a:r>
              <a:rPr lang="en-US" sz="1899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      사용하여 실제 메신저로 대화하듯 자연스럽게 내용을 구성해보세요.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94700" y="3835400"/>
            <a:ext cx="6705600" cy="723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1899" b="0" i="0" u="none" strike="noStrike">
                <a:solidFill>
                  <a:srgbClr val="2C2C2C"/>
                </a:solidFill>
                <a:latin typeface="Pretendard SemiBold"/>
                <a:ea typeface="Pretendard SemiBold"/>
                <a:cs typeface="Pretendard SemiBold"/>
              </a:rPr>
              <a:t>A</a:t>
            </a:r>
            <a:r>
              <a:rPr lang="en-US" sz="1899" b="0" i="0" u="none" strike="noStrike">
                <a:solidFill>
                  <a:srgbClr val="2C2C2C"/>
                </a:solidFill>
                <a:latin typeface="Pretendard Regular"/>
                <a:ea typeface="Pretendard Regular"/>
                <a:cs typeface="Pretendard Regular"/>
              </a:rPr>
              <a:t> : 딱딱한 설명 대신 말풍선을 활용해 내용을 구성해 보세요. </a:t>
            </a:r>
          </a:p>
          <a:p>
            <a:pPr lvl="0" algn="l">
              <a:lnSpc>
                <a:spcPct val="124499"/>
              </a:lnSpc>
            </a:pPr>
            <a:r>
              <a:rPr lang="en-US" sz="1899" b="0" i="0" u="none" strike="noStrike">
                <a:solidFill>
                  <a:srgbClr val="2C2C2C"/>
                </a:solidFill>
                <a:latin typeface="Pretendard Regular"/>
                <a:ea typeface="Pretendard Regular"/>
                <a:cs typeface="Pretendard Regular"/>
              </a:rPr>
              <a:t>      핵심 내용을 짧게 끊어 적으면 전달력이 훨씬 좋아집니다. 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00000">
            <a:off x="10922000" y="4089400"/>
            <a:ext cx="1549400" cy="8432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341600" y="7378700"/>
            <a:ext cx="1854200" cy="1854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-5400000">
            <a:off x="12204700" y="2159000"/>
            <a:ext cx="1549400" cy="8432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80300" y="5435600"/>
            <a:ext cx="1854200" cy="1854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912100" y="5791200"/>
            <a:ext cx="977900" cy="11557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5773400" y="7696200"/>
            <a:ext cx="977900" cy="12065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9525000" y="6019800"/>
            <a:ext cx="7315200" cy="723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1899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Q</a:t>
            </a:r>
            <a:r>
              <a:rPr lang="en-US" sz="1899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: 질문과 답변이 오가는 구조로 내용을 전개해 보세요. 궁금한 점을 묻고</a:t>
            </a:r>
          </a:p>
          <a:p>
            <a:pPr lvl="0" algn="l">
              <a:lnSpc>
                <a:spcPct val="124499"/>
              </a:lnSpc>
            </a:pPr>
            <a:r>
              <a:rPr lang="en-US" sz="1899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      그에 대해 명쾌하게 대답하는 형식은 논리적인 흐름을 만듭니다. 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94700" y="7962900"/>
            <a:ext cx="6705600" cy="723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1899" b="0" i="0" u="none" strike="noStrike">
                <a:solidFill>
                  <a:srgbClr val="2C2C2C"/>
                </a:solidFill>
                <a:latin typeface="Pretendard SemiBold"/>
                <a:ea typeface="Pretendard SemiBold"/>
                <a:cs typeface="Pretendard SemiBold"/>
              </a:rPr>
              <a:t>A</a:t>
            </a:r>
            <a:r>
              <a:rPr lang="en-US" sz="1899" b="0" i="0" u="none" strike="noStrike">
                <a:solidFill>
                  <a:srgbClr val="2C2C2C"/>
                </a:solidFill>
                <a:latin typeface="Pretendard Regular"/>
                <a:ea typeface="Pretendard Regular"/>
                <a:cs typeface="Pretendard Regular"/>
              </a:rPr>
              <a:t> : 줄글 대신 대화 형식을 빌려 생동감을 불어넣어 보세요.  </a:t>
            </a:r>
          </a:p>
          <a:p>
            <a:pPr lvl="0" algn="l">
              <a:lnSpc>
                <a:spcPct val="124499"/>
              </a:lnSpc>
            </a:pPr>
            <a:r>
              <a:rPr lang="en-US" sz="1899" b="0" i="0" u="none" strike="noStrike">
                <a:solidFill>
                  <a:srgbClr val="2C2C2C"/>
                </a:solidFill>
                <a:latin typeface="Pretendard Regular"/>
                <a:ea typeface="Pretendard Regular"/>
                <a:cs typeface="Pretendard Regular"/>
              </a:rPr>
              <a:t>      메신저 화면처럼 구성하면 읽는 사람이 훨씬 친근하게 느낍니다.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09700" y="5397500"/>
            <a:ext cx="5740400" cy="723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8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실제 대화를 주고받는 듯한 연출로 현장감을 전달해보세요.</a:t>
            </a:r>
          </a:p>
          <a:p>
            <a:pPr lvl="0" algn="l">
              <a:lnSpc>
                <a:spcPct val="124499"/>
              </a:lnSpc>
            </a:pPr>
            <a:r>
              <a:rPr lang="en-US" sz="18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말풍선을 활용해 핵심 내용을 간결하게 보여줍니다.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22400" y="4140200"/>
            <a:ext cx="5295900" cy="1003300"/>
          </a:xfrm>
          <a:prstGeom prst="rect">
            <a:avLst/>
          </a:prstGeom>
        </p:spPr>
        <p:txBody>
          <a:bodyPr lIns="0" tIns="69848" rIns="0" bIns="69848" rtlCol="0" anchor="ctr"/>
          <a:lstStyle/>
          <a:p>
            <a:pPr lvl="0" algn="l">
              <a:lnSpc>
                <a:spcPct val="99600"/>
              </a:lnSpc>
            </a:pPr>
            <a:r>
              <a:rPr lang="en-US" sz="5499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질의응답 페이지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Chapter</a:t>
            </a:r>
          </a:p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21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20800" y="6019800"/>
            <a:ext cx="7124700" cy="130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0100" y="6019800"/>
            <a:ext cx="4711700" cy="130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06400" y="6019800"/>
            <a:ext cx="3873500" cy="130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129000" y="6540500"/>
            <a:ext cx="635000" cy="635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16800" y="6540500"/>
            <a:ext cx="635000" cy="635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192000" y="6540500"/>
            <a:ext cx="635000" cy="635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75900" y="2260600"/>
            <a:ext cx="6591300" cy="32131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651000" y="6210300"/>
            <a:ext cx="2336800" cy="1092200"/>
          </a:xfrm>
          <a:prstGeom prst="rect">
            <a:avLst/>
          </a:prstGeom>
        </p:spPr>
        <p:txBody>
          <a:bodyPr lIns="0" tIns="76198" rIns="0" bIns="76198" rtlCol="0" anchor="ctr"/>
          <a:lstStyle/>
          <a:p>
            <a:pPr lvl="0" algn="l">
              <a:lnSpc>
                <a:spcPct val="99600"/>
              </a:lnSpc>
            </a:pPr>
            <a:r>
              <a:rPr lang="en-US" sz="5999" b="0" i="0" u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45</a:t>
            </a:r>
            <a:r>
              <a:rPr lang="en-US" sz="3999" b="0" i="0" u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24900" y="6388100"/>
            <a:ext cx="2273300" cy="825500"/>
          </a:xfrm>
          <a:prstGeom prst="rect">
            <a:avLst/>
          </a:prstGeom>
        </p:spPr>
        <p:txBody>
          <a:bodyPr lIns="0" tIns="57149" rIns="0" bIns="57149" rtlCol="0" anchor="ctr"/>
          <a:lstStyle/>
          <a:p>
            <a:pPr lvl="0" algn="l">
              <a:lnSpc>
                <a:spcPct val="99600"/>
              </a:lnSpc>
            </a:pPr>
            <a:r>
              <a:rPr lang="en-US" sz="4499" b="0" i="0" u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30</a:t>
            </a:r>
            <a:r>
              <a:rPr lang="en-US" sz="2499" b="0" i="0" u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322300" y="6388100"/>
            <a:ext cx="1193800" cy="825500"/>
          </a:xfrm>
          <a:prstGeom prst="rect">
            <a:avLst/>
          </a:prstGeom>
        </p:spPr>
        <p:txBody>
          <a:bodyPr lIns="0" tIns="57149" rIns="0" bIns="57149" rtlCol="0" anchor="ctr"/>
          <a:lstStyle/>
          <a:p>
            <a:pPr lvl="0" algn="l">
              <a:lnSpc>
                <a:spcPct val="99600"/>
              </a:lnSpc>
            </a:pPr>
            <a:r>
              <a:rPr lang="en-US" sz="4499" b="0" i="0" u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25</a:t>
            </a:r>
            <a:r>
              <a:rPr lang="en-US" sz="2499" b="0" i="0" u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09700" y="7683500"/>
            <a:ext cx="41783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54000" lvl="1" indent="-2540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>
                <a:solidFill>
                  <a:srgbClr val="4A5BA3"/>
                </a:solidFill>
                <a:latin typeface="Pretendard SemiBold"/>
                <a:ea typeface="Pretendard SemiBold"/>
                <a:cs typeface="Pretendard SemiBold"/>
              </a:rPr>
              <a:t>키워드 A에 대해 입력해주세요.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01800" y="8267700"/>
            <a:ext cx="48260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7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직관적인 면적 비교 도구입니다. 가장 큰 면적을</a:t>
            </a:r>
          </a:p>
          <a:p>
            <a:pPr lvl="0" algn="l">
              <a:lnSpc>
                <a:spcPct val="124499"/>
              </a:lnSpc>
            </a:pPr>
            <a:r>
              <a:rPr lang="en-US" sz="17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강조하여 주류 의견임을 증명해 보세요.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093700" y="7683500"/>
            <a:ext cx="37211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54000" lvl="1" indent="-2540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>
                <a:solidFill>
                  <a:srgbClr val="2C2C2C">
                    <a:alpha val="50196"/>
                  </a:srgbClr>
                </a:solidFill>
                <a:latin typeface="Pretendard SemiBold"/>
                <a:ea typeface="Pretendard SemiBold"/>
                <a:cs typeface="Pretendard SemiBold"/>
              </a:rPr>
              <a:t>키워드C에 대해 입력해주세요.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423900" y="8267700"/>
            <a:ext cx="34798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7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전체 데이터에서 각 항목의 비중을</a:t>
            </a:r>
          </a:p>
          <a:p>
            <a:pPr lvl="0" algn="l">
              <a:lnSpc>
                <a:spcPct val="124499"/>
              </a:lnSpc>
            </a:pPr>
            <a:r>
              <a:rPr lang="en-US" sz="17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한눈에 파악하세요.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521700" y="7683500"/>
            <a:ext cx="41783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54000" lvl="1" indent="-2540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>
                <a:solidFill>
                  <a:srgbClr val="A6B2E2"/>
                </a:solidFill>
                <a:latin typeface="Pretendard SemiBold"/>
                <a:ea typeface="Pretendard SemiBold"/>
                <a:cs typeface="Pretendard SemiBold"/>
              </a:rPr>
              <a:t>키워드B에 대해 입력해주세요.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64600" y="8267700"/>
            <a:ext cx="41656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7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데이터 크기보다는 비율을 강조하고</a:t>
            </a:r>
          </a:p>
          <a:p>
            <a:pPr lvl="0" algn="l">
              <a:lnSpc>
                <a:spcPct val="124499"/>
              </a:lnSpc>
            </a:pPr>
            <a:r>
              <a:rPr lang="en-US" sz="17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싶을 때 사용해요.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263900" y="6667500"/>
            <a:ext cx="14224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199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키워드 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931400" y="6667500"/>
            <a:ext cx="14224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199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키워드 B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503400" y="6667500"/>
            <a:ext cx="11811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199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키워드 C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20800" y="4025900"/>
            <a:ext cx="72009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899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주요 키워드에 대한 수치를 함께 나타내야할때 사용하면 좋은 페이지입니다. 가독성의 핵심은 얼마나 내용을 간결하게 전달하는가 입니다. 쉽게 읽을 수 있고, 눈에 잘띄는 것이 중요해요.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20800" y="2590800"/>
            <a:ext cx="7175500" cy="1003300"/>
          </a:xfrm>
          <a:prstGeom prst="rect">
            <a:avLst/>
          </a:prstGeom>
        </p:spPr>
        <p:txBody>
          <a:bodyPr lIns="0" tIns="69848" rIns="0" bIns="69848" rtlCol="0" anchor="ctr"/>
          <a:lstStyle/>
          <a:p>
            <a:pPr lvl="0" algn="l">
              <a:lnSpc>
                <a:spcPct val="99600"/>
              </a:lnSpc>
            </a:pPr>
            <a:r>
              <a:rPr lang="en-US" sz="5499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수치로 설명하는 페이지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Chapter</a:t>
            </a:r>
          </a:p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22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7200" y="3327400"/>
            <a:ext cx="12407900" cy="5930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760000">
            <a:off x="10629900" y="4622800"/>
            <a:ext cx="4406900" cy="1054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316200" y="2641600"/>
            <a:ext cx="1587500" cy="1587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38900" y="9232900"/>
            <a:ext cx="10769600" cy="381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5392400" y="3073400"/>
            <a:ext cx="1422400" cy="787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4311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0배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84900" y="9359900"/>
            <a:ext cx="8255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400" b="0" i="0" u="none" strike="noStrike">
                <a:solidFill>
                  <a:srgbClr val="2C2C2C"/>
                </a:solidFill>
                <a:latin typeface="Pretendard Regular"/>
                <a:ea typeface="Pretendard Regular"/>
                <a:cs typeface="Pretendard Regular"/>
              </a:rPr>
              <a:t>Week 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45400" y="9359900"/>
            <a:ext cx="8255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400" b="0" i="0" u="none" strike="noStrike">
                <a:solidFill>
                  <a:srgbClr val="2C2C2C"/>
                </a:solidFill>
                <a:latin typeface="Pretendard Regular"/>
                <a:ea typeface="Pretendard Regular"/>
                <a:cs typeface="Pretendard Regular"/>
              </a:rPr>
              <a:t>Week 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093200" y="9359900"/>
            <a:ext cx="8255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400" b="0" i="0" u="none" strike="noStrike">
                <a:solidFill>
                  <a:srgbClr val="2C2C2C"/>
                </a:solidFill>
                <a:latin typeface="Pretendard Regular"/>
                <a:ea typeface="Pretendard Regular"/>
                <a:cs typeface="Pretendard Regular"/>
              </a:rPr>
              <a:t>Week 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553700" y="9359900"/>
            <a:ext cx="8255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400" b="0" i="0" u="none" strike="noStrike">
                <a:solidFill>
                  <a:srgbClr val="2C2C2C"/>
                </a:solidFill>
                <a:latin typeface="Pretendard Regular"/>
                <a:ea typeface="Pretendard Regular"/>
                <a:cs typeface="Pretendard Regular"/>
              </a:rPr>
              <a:t>Week 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001500" y="9359900"/>
            <a:ext cx="8255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400" b="0" i="0" u="none" strike="noStrike">
                <a:solidFill>
                  <a:srgbClr val="2C2C2C"/>
                </a:solidFill>
                <a:latin typeface="Pretendard Regular"/>
                <a:ea typeface="Pretendard Regular"/>
                <a:cs typeface="Pretendard Regular"/>
              </a:rPr>
              <a:t>Week 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462000" y="9359900"/>
            <a:ext cx="8255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400" b="0" i="0" u="none" strike="noStrike">
                <a:solidFill>
                  <a:srgbClr val="2C2C2C"/>
                </a:solidFill>
                <a:latin typeface="Pretendard Regular"/>
                <a:ea typeface="Pretendard Regular"/>
                <a:cs typeface="Pretendard Regular"/>
              </a:rPr>
              <a:t>Week 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909800" y="9359900"/>
            <a:ext cx="8255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400" b="0" i="0" u="none" strike="noStrike">
                <a:solidFill>
                  <a:srgbClr val="2C2C2C"/>
                </a:solidFill>
                <a:latin typeface="Pretendard Regular"/>
                <a:ea typeface="Pretendard Regular"/>
                <a:cs typeface="Pretendard Regular"/>
              </a:rPr>
              <a:t>Week 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370300" y="9359900"/>
            <a:ext cx="8255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400" b="0" i="0" u="none" strike="noStrike">
                <a:solidFill>
                  <a:srgbClr val="2C2C2C"/>
                </a:solidFill>
                <a:latin typeface="Pretendard Regular"/>
                <a:ea typeface="Pretendard Regular"/>
                <a:cs typeface="Pretendard Regular"/>
              </a:rPr>
              <a:t>Week 8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211300" y="8636000"/>
            <a:ext cx="27432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2C2C2C"/>
                </a:solidFill>
                <a:latin typeface="Pretendard SemiBold"/>
                <a:ea typeface="Pretendard SemiBold"/>
                <a:cs typeface="Pretendard SemiBold"/>
              </a:rPr>
              <a:t>[ 주간 방문자 흐름 추이 ]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-5400000">
            <a:off x="4559300" y="482600"/>
            <a:ext cx="1968500" cy="80899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790700" y="3987800"/>
            <a:ext cx="45339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66700" lvl="1" indent="-2667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100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시간 흐름에 따른 변화입니다.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90700" y="4521200"/>
            <a:ext cx="51689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데이터를 점으로 찍고 연결하여 윤곽을 드러냅니다.</a:t>
            </a:r>
          </a:p>
          <a:p>
            <a:pPr lvl="0" algn="l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시간 경과에 따른 수치 변화를 파악하기 좋습니다.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921500" y="4343400"/>
            <a:ext cx="21209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24499"/>
              </a:lnSpc>
            </a:pPr>
            <a:r>
              <a:rPr lang="en-US" sz="5169" b="0" i="0" u="none" strike="noStrike">
                <a:solidFill>
                  <a:srgbClr val="4A5BA3"/>
                </a:solidFill>
                <a:latin typeface="Pretendard SemiBold"/>
                <a:ea typeface="Pretendard SemiBold"/>
                <a:cs typeface="Pretendard SemiBold"/>
              </a:rPr>
              <a:t>0,000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-5400000">
            <a:off x="4559300" y="2616200"/>
            <a:ext cx="1968500" cy="80899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00000">
            <a:off x="8699500" y="6807200"/>
            <a:ext cx="495300" cy="1778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1790700" y="6121400"/>
            <a:ext cx="45339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66700" lvl="1" indent="-2667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100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미래를 예측하기 좋아요.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90700" y="6654800"/>
            <a:ext cx="51689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매월 변동하는 실적이나 매출 추이를 보고할 때 유용해요.</a:t>
            </a:r>
          </a:p>
          <a:p>
            <a:pPr lvl="0" algn="l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변화의 흐름을 한눈에 봐요.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54800" y="6464300"/>
            <a:ext cx="21209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24499"/>
              </a:lnSpc>
            </a:pPr>
            <a:r>
              <a:rPr lang="en-US" sz="5169" b="0" i="0" u="none" strike="noStrike">
                <a:solidFill>
                  <a:srgbClr val="4A5BA3"/>
                </a:solidFill>
                <a:latin typeface="Pretendard SemiBold"/>
                <a:ea typeface="Pretendard SemiBold"/>
                <a:cs typeface="Pretendard SemiBold"/>
              </a:rPr>
              <a:t>00%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11300" y="2286000"/>
            <a:ext cx="7594600" cy="1003300"/>
          </a:xfrm>
          <a:prstGeom prst="rect">
            <a:avLst/>
          </a:prstGeom>
        </p:spPr>
        <p:txBody>
          <a:bodyPr lIns="0" tIns="69848" rIns="0" bIns="69848" rtlCol="0" anchor="ctr"/>
          <a:lstStyle/>
          <a:p>
            <a:pPr lvl="0" algn="l">
              <a:lnSpc>
                <a:spcPct val="99600"/>
              </a:lnSpc>
            </a:pPr>
            <a:r>
              <a:rPr lang="en-US" sz="5499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연속 데이터 그래프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Chapter</a:t>
            </a:r>
          </a:p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23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41300" y="3556000"/>
            <a:ext cx="4419600" cy="5740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21100" y="3708400"/>
            <a:ext cx="1981200" cy="495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81700" y="3708400"/>
            <a:ext cx="1981200" cy="495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42300" y="3708400"/>
            <a:ext cx="1981200" cy="495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02900" y="3708400"/>
            <a:ext cx="1981200" cy="495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09700" y="4495800"/>
            <a:ext cx="1981200" cy="495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09700" y="5295900"/>
            <a:ext cx="1981200" cy="495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09700" y="6096000"/>
            <a:ext cx="1981200" cy="495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09700" y="6896100"/>
            <a:ext cx="1981200" cy="495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35100" y="8077200"/>
            <a:ext cx="1981200" cy="495300"/>
          </a:xfrm>
          <a:prstGeom prst="rect">
            <a:avLst/>
          </a:prstGeom>
        </p:spPr>
      </p:pic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1282700" y="3517900"/>
          <a:ext cx="11363240" cy="5609429"/>
        </p:xfrm>
        <a:graphic>
          <a:graphicData uri="http://schemas.openxmlformats.org/drawingml/2006/table">
            <a:tbl>
              <a:tblPr/>
              <a:tblGrid>
                <a:gridCol w="2272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2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26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726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01347"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799" b="0" i="0" u="none" strike="noStrike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Model A</a:t>
                      </a:r>
                      <a:endParaRPr lang="en-US" sz="1100"/>
                    </a:p>
                  </a:txBody>
                  <a:tcPr marL="19050" marR="19050" marT="52767" marB="52767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B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799" b="0" i="0" u="none" strike="noStrike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Model B</a:t>
                      </a:r>
                      <a:endParaRPr lang="en-US" sz="1100"/>
                    </a:p>
                  </a:txBody>
                  <a:tcPr marL="19050" marR="19050" marT="52767" marB="52767" anchor="ctr">
                    <a:lnL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B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799" b="0" i="0" u="none" strike="noStrike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Model C</a:t>
                      </a:r>
                      <a:endParaRPr lang="en-US" sz="1100"/>
                    </a:p>
                  </a:txBody>
                  <a:tcPr marL="19050" marR="19050" marT="52767" marB="52767" anchor="ctr">
                    <a:lnL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B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799" b="0" i="0" u="none" strike="noStrike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Model D</a:t>
                      </a:r>
                      <a:endParaRPr lang="en-US" sz="1100"/>
                    </a:p>
                  </a:txBody>
                  <a:tcPr marL="19050" marR="19050" marT="52767" marB="52767" anchor="ctr">
                    <a:lnL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B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1347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799" b="0" i="0" u="none" strike="noStrike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화면 크기</a:t>
                      </a:r>
                      <a:endParaRPr lang="en-US" sz="1100"/>
                    </a:p>
                  </a:txBody>
                  <a:tcPr marL="19050" marR="19050" marT="52767" marB="52767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99" b="0" i="0" u="none" strike="noStrike">
                          <a:solidFill>
                            <a:srgbClr val="2C2C2C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6.1인치</a:t>
                      </a:r>
                      <a:endParaRPr lang="en-US" sz="1100"/>
                    </a:p>
                  </a:txBody>
                  <a:tcPr marL="19050" marR="19050" marT="50894" marB="50894" anchor="ctr">
                    <a:lnL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99" b="0" i="0" u="none" strike="noStrike">
                          <a:solidFill>
                            <a:srgbClr val="2C2C2C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6.5인치</a:t>
                      </a:r>
                      <a:endParaRPr lang="en-US" sz="1100"/>
                    </a:p>
                  </a:txBody>
                  <a:tcPr marL="19050" marR="19050" marT="50894" marB="50894" anchor="ctr">
                    <a:lnL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99" b="0" i="0" u="none" strike="noStrike">
                          <a:solidFill>
                            <a:srgbClr val="2C2C2C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6.7인치</a:t>
                      </a:r>
                      <a:endParaRPr lang="en-US" sz="1100"/>
                    </a:p>
                  </a:txBody>
                  <a:tcPr marL="19050" marR="19050" marT="50894" marB="50894" anchor="ctr">
                    <a:lnL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99" b="0" i="0" u="none" strike="noStrike">
                          <a:solidFill>
                            <a:srgbClr val="2C2C2C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7.0인치</a:t>
                      </a:r>
                      <a:endParaRPr lang="en-US" sz="1100"/>
                    </a:p>
                  </a:txBody>
                  <a:tcPr marL="19050" marR="19050" marT="50894" marB="50894" anchor="ctr">
                    <a:lnL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1347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799" b="0" i="0" u="none" strike="noStrike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배터리 용량</a:t>
                      </a:r>
                      <a:endParaRPr lang="en-US" sz="1100"/>
                    </a:p>
                  </a:txBody>
                  <a:tcPr marL="19050" marR="19050" marT="52767" marB="52767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99" b="0" i="0" u="none" strike="noStrike">
                          <a:solidFill>
                            <a:srgbClr val="2C2C2C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3,000mAh</a:t>
                      </a:r>
                      <a:endParaRPr lang="en-US" sz="1100"/>
                    </a:p>
                  </a:txBody>
                  <a:tcPr marL="19050" marR="19050" marT="50894" marB="50894" anchor="ctr">
                    <a:lnL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99" b="0" i="0" u="none" strike="noStrike">
                          <a:solidFill>
                            <a:srgbClr val="2C2C2C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4,000mAh</a:t>
                      </a:r>
                      <a:endParaRPr lang="en-US" sz="1100"/>
                    </a:p>
                  </a:txBody>
                  <a:tcPr marL="19050" marR="19050" marT="50894" marB="50894" anchor="ctr">
                    <a:lnL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99" b="0" i="0" u="none" strike="noStrike">
                          <a:solidFill>
                            <a:srgbClr val="2C2C2C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4,500mAh</a:t>
                      </a:r>
                      <a:endParaRPr lang="en-US" sz="1100"/>
                    </a:p>
                  </a:txBody>
                  <a:tcPr marL="19050" marR="19050" marT="50894" marB="50894" anchor="ctr">
                    <a:lnL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99" b="0" i="0" u="none" strike="noStrike">
                          <a:solidFill>
                            <a:srgbClr val="2C2C2C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5,000mAh</a:t>
                      </a:r>
                      <a:endParaRPr lang="en-US" sz="1100"/>
                    </a:p>
                  </a:txBody>
                  <a:tcPr marL="19050" marR="19050" marT="50894" marB="50894" anchor="ctr">
                    <a:lnL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1347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52" b="0" i="0" u="none" strike="noStrike">
                          <a:solidFill>
                            <a:srgbClr val="FFFFF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저장 공간</a:t>
                      </a:r>
                      <a:endParaRPr lang="en-US" sz="1100"/>
                    </a:p>
                  </a:txBody>
                  <a:tcPr marL="19050" marR="19050" marT="49999" marB="49999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99" b="0" i="0" u="none" strike="noStrike">
                          <a:solidFill>
                            <a:srgbClr val="2C2C2C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128GB</a:t>
                      </a:r>
                      <a:endParaRPr lang="en-US" sz="1100"/>
                    </a:p>
                  </a:txBody>
                  <a:tcPr marL="19050" marR="19050" marT="50894" marB="50894" anchor="ctr">
                    <a:lnL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99" b="0" i="0" u="none" strike="noStrike">
                          <a:solidFill>
                            <a:srgbClr val="2C2C2C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256GB</a:t>
                      </a:r>
                      <a:endParaRPr lang="en-US" sz="1100"/>
                    </a:p>
                  </a:txBody>
                  <a:tcPr marL="19050" marR="19050" marT="50894" marB="50894" anchor="ctr">
                    <a:lnL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99" b="0" i="0" u="none" strike="noStrike">
                          <a:solidFill>
                            <a:srgbClr val="2C2C2C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512GB</a:t>
                      </a:r>
                      <a:endParaRPr lang="en-US" sz="1100"/>
                    </a:p>
                  </a:txBody>
                  <a:tcPr marL="19050" marR="19050" marT="50894" marB="50894" anchor="ctr">
                    <a:lnL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99" b="0" i="0" u="none" strike="noStrike">
                          <a:solidFill>
                            <a:srgbClr val="2C2C2C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1TB</a:t>
                      </a:r>
                      <a:endParaRPr lang="en-US" sz="1100"/>
                    </a:p>
                  </a:txBody>
                  <a:tcPr marL="19050" marR="19050" marT="50894" marB="50894" anchor="ctr">
                    <a:lnL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1347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52" b="0" i="0" u="none" strike="noStrike">
                          <a:solidFill>
                            <a:srgbClr val="FFFFF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판매가</a:t>
                      </a:r>
                      <a:endParaRPr lang="en-US" sz="1100"/>
                    </a:p>
                  </a:txBody>
                  <a:tcPr marL="19050" marR="19050" marT="49999" marB="49999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52" b="0" i="0" u="none" strike="noStrike">
                          <a:solidFill>
                            <a:srgbClr val="2C2C2C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90만원</a:t>
                      </a:r>
                      <a:endParaRPr lang="en-US" sz="1100"/>
                    </a:p>
                  </a:txBody>
                  <a:tcPr marL="19050" marR="19050" marT="49999" marB="49999" anchor="ctr">
                    <a:lnL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52" b="0" i="0" u="none" strike="noStrike">
                          <a:solidFill>
                            <a:srgbClr val="2C2C2C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110만원</a:t>
                      </a:r>
                      <a:endParaRPr lang="en-US" sz="1100"/>
                    </a:p>
                  </a:txBody>
                  <a:tcPr marL="19050" marR="19050" marT="49999" marB="49999" anchor="ctr">
                    <a:lnL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52" b="0" i="0" u="none" strike="noStrike">
                          <a:solidFill>
                            <a:srgbClr val="2C2C2C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130만원</a:t>
                      </a:r>
                      <a:endParaRPr lang="en-US" sz="1100"/>
                    </a:p>
                  </a:txBody>
                  <a:tcPr marL="19050" marR="19050" marT="49999" marB="49999" anchor="ctr">
                    <a:lnL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52" b="0" i="0" u="none" strike="noStrike">
                          <a:solidFill>
                            <a:srgbClr val="2C2C2C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150만원</a:t>
                      </a:r>
                      <a:endParaRPr lang="en-US" sz="1100"/>
                    </a:p>
                  </a:txBody>
                  <a:tcPr marL="19050" marR="19050" marT="49999" marB="49999" anchor="ctr">
                    <a:lnL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1347"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52" b="0" i="0" u="none" strike="noStrike">
                          <a:solidFill>
                            <a:srgbClr val="FFFFF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비고</a:t>
                      </a:r>
                      <a:endParaRPr lang="en-US" sz="1100"/>
                    </a:p>
                  </a:txBody>
                  <a:tcPr marL="19050" marR="19050" marT="49999" marB="49999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1347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TextBox 17"/>
          <p:cNvSpPr txBox="1"/>
          <p:nvPr/>
        </p:nvSpPr>
        <p:spPr>
          <a:xfrm>
            <a:off x="3975100" y="7848600"/>
            <a:ext cx="8331200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00" lvl="1" indent="-2286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표를 통해 전달하고자 하는 핵심 결론을 요약 행에 담아 주제를 명확히 해요.</a:t>
            </a:r>
          </a:p>
          <a:p>
            <a:pPr marL="228600" lvl="1" indent="-2286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각 셀의 텍스트 분량을 비슷하게 맞추면 표가 훨씬 정돈되어 보이고 깔끔해요.</a:t>
            </a:r>
          </a:p>
          <a:p>
            <a:pPr marL="228600" lvl="1" indent="-2286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동일한 기준에 따른 데이터를 입력해 칸별로 쉽게 비교할 수 있는 페이지입니다.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46700" y="1739900"/>
            <a:ext cx="7594600" cy="1003300"/>
          </a:xfrm>
          <a:prstGeom prst="rect">
            <a:avLst/>
          </a:prstGeom>
        </p:spPr>
        <p:txBody>
          <a:bodyPr lIns="0" tIns="69848" rIns="0" bIns="69848" rtlCol="0" anchor="ctr"/>
          <a:lstStyle/>
          <a:p>
            <a:pPr lvl="0" algn="ctr">
              <a:lnSpc>
                <a:spcPct val="99600"/>
              </a:lnSpc>
            </a:pPr>
            <a:r>
              <a:rPr lang="en-US" sz="5499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 데이터 정리 테이블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35100" y="406400"/>
            <a:ext cx="2641600" cy="1333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44018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Chapter</a:t>
            </a:r>
          </a:p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24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06600" y="5435600"/>
            <a:ext cx="6858000" cy="3759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-5400000">
            <a:off x="3632200" y="1727200"/>
            <a:ext cx="3594100" cy="68580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336800" y="7518400"/>
            <a:ext cx="5397500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00" lvl="1" indent="-2286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전체 데이터에서 각 항목의 비중을 한눈에 파악하세요.</a:t>
            </a:r>
          </a:p>
          <a:p>
            <a:pPr marL="228600" lvl="1" indent="-2286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데이터 크기보다는 비율을 강조하고 싶을 때 사용해요.</a:t>
            </a:r>
          </a:p>
          <a:p>
            <a:pPr marL="228600" lvl="1" indent="-2286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전체를 백으로 볼 때 구성 요소의 균형을 보여줍니다.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36800" y="3695700"/>
            <a:ext cx="1981200" cy="4953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489200" y="3759200"/>
            <a:ext cx="1663700" cy="368300"/>
          </a:xfrm>
          <a:prstGeom prst="rect">
            <a:avLst/>
          </a:prstGeom>
        </p:spPr>
        <p:txBody>
          <a:bodyPr lIns="0" tIns="24130" rIns="0" bIns="24130" rtlCol="0" anchor="ctr"/>
          <a:lstStyle/>
          <a:p>
            <a:pPr lvl="0" algn="ctr">
              <a:lnSpc>
                <a:spcPct val="99600"/>
              </a:lnSpc>
            </a:pPr>
            <a:r>
              <a:rPr lang="en-US" sz="1899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시장 점유율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0200" y="3302000"/>
            <a:ext cx="3276600" cy="3721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18300" y="4826000"/>
            <a:ext cx="647700" cy="6477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588000" y="4914900"/>
            <a:ext cx="71120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50%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40600" y="4064000"/>
            <a:ext cx="71120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7381BF"/>
                </a:solidFill>
                <a:latin typeface="Pretendard SemiBold"/>
                <a:ea typeface="Pretendard SemiBold"/>
                <a:cs typeface="Pretendard SemiBold"/>
              </a:rPr>
              <a:t>20%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93000" y="5715000"/>
            <a:ext cx="71120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30%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32100" y="5549900"/>
            <a:ext cx="1651000" cy="292100"/>
          </a:xfrm>
          <a:prstGeom prst="rect">
            <a:avLst/>
          </a:prstGeom>
        </p:spPr>
        <p:txBody>
          <a:bodyPr lIns="0" tIns="19050" rIns="0" bIns="1905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MIRI COMPANY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36800" y="5562600"/>
            <a:ext cx="406400" cy="2413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2832100" y="5905500"/>
            <a:ext cx="1651000" cy="292100"/>
          </a:xfrm>
          <a:prstGeom prst="rect">
            <a:avLst/>
          </a:prstGeom>
        </p:spPr>
        <p:txBody>
          <a:bodyPr lIns="0" tIns="19050" rIns="0" bIns="1905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B COMPANY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36800" y="5930900"/>
            <a:ext cx="406400" cy="2413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2832100" y="6261100"/>
            <a:ext cx="1651000" cy="292100"/>
          </a:xfrm>
          <a:prstGeom prst="rect">
            <a:avLst/>
          </a:prstGeom>
        </p:spPr>
        <p:txBody>
          <a:bodyPr lIns="0" tIns="19050" rIns="0" bIns="1905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A COMPANY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36800" y="6286500"/>
            <a:ext cx="406400" cy="2413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423400" y="5435600"/>
            <a:ext cx="6858000" cy="37592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-5400000">
            <a:off x="11061700" y="1727200"/>
            <a:ext cx="3594100" cy="68580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9753600" y="7518400"/>
            <a:ext cx="5397500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00" lvl="1" indent="-2286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전체 데이터에서 각 항목의 비중을 한눈에 파악하세요.</a:t>
            </a:r>
          </a:p>
          <a:p>
            <a:pPr marL="228600" lvl="1" indent="-2286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데이터 크기보다는 비율을 강조하고 싶을 때 사용해요.</a:t>
            </a:r>
          </a:p>
          <a:p>
            <a:pPr marL="228600" lvl="1" indent="-2286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전체를 백으로 볼 때 구성 요소의 균형을 보여줍니다.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753600" y="3695700"/>
            <a:ext cx="1981200" cy="4953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9918700" y="3759200"/>
            <a:ext cx="1663700" cy="368300"/>
          </a:xfrm>
          <a:prstGeom prst="rect">
            <a:avLst/>
          </a:prstGeom>
        </p:spPr>
        <p:txBody>
          <a:bodyPr lIns="0" tIns="24130" rIns="0" bIns="24130" rtlCol="0" anchor="ctr"/>
          <a:lstStyle/>
          <a:p>
            <a:pPr lvl="0" algn="ctr">
              <a:lnSpc>
                <a:spcPct val="99600"/>
              </a:lnSpc>
            </a:pPr>
            <a:r>
              <a:rPr lang="en-US" sz="1899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고객 연령대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48900" y="5537200"/>
            <a:ext cx="1651000" cy="292100"/>
          </a:xfrm>
          <a:prstGeom prst="rect">
            <a:avLst/>
          </a:prstGeom>
        </p:spPr>
        <p:txBody>
          <a:bodyPr lIns="0" tIns="19050" rIns="0" bIns="1905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20대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53600" y="5562600"/>
            <a:ext cx="406400" cy="2413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10248900" y="5892800"/>
            <a:ext cx="1651000" cy="292100"/>
          </a:xfrm>
          <a:prstGeom prst="rect">
            <a:avLst/>
          </a:prstGeom>
        </p:spPr>
        <p:txBody>
          <a:bodyPr lIns="0" tIns="19050" rIns="0" bIns="1905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30대</a:t>
            </a: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753600" y="5918200"/>
            <a:ext cx="406400" cy="2413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10248900" y="6261100"/>
            <a:ext cx="1651000" cy="292100"/>
          </a:xfrm>
          <a:prstGeom prst="rect">
            <a:avLst/>
          </a:prstGeom>
        </p:spPr>
        <p:txBody>
          <a:bodyPr lIns="0" tIns="19050" rIns="0" bIns="1905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40대 이상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753600" y="6286500"/>
            <a:ext cx="406400" cy="241300"/>
          </a:xfrm>
          <a:prstGeom prst="rect">
            <a:avLst/>
          </a:prstGeom>
        </p:spPr>
      </p:pic>
      <p:sp>
        <p:nvSpPr>
          <p:cNvPr id="33" name="TextBox 33"/>
          <p:cNvSpPr txBox="1"/>
          <p:nvPr/>
        </p:nvSpPr>
        <p:spPr>
          <a:xfrm>
            <a:off x="10248900" y="5168900"/>
            <a:ext cx="1651000" cy="292100"/>
          </a:xfrm>
          <a:prstGeom prst="rect">
            <a:avLst/>
          </a:prstGeom>
        </p:spPr>
        <p:txBody>
          <a:bodyPr lIns="0" tIns="19050" rIns="0" bIns="19050" rtlCol="0" anchor="ctr"/>
          <a:lstStyle/>
          <a:p>
            <a:pPr lvl="0" algn="l">
              <a:lnSpc>
                <a:spcPct val="99600"/>
              </a:lnSpc>
            </a:pPr>
            <a:r>
              <a:rPr lang="en-US" sz="1500" b="0" i="0" u="none" strike="noStrike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10대</a:t>
            </a: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753600" y="5194300"/>
            <a:ext cx="406400" cy="2413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827000" y="3302000"/>
            <a:ext cx="3276600" cy="372110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13004800" y="4902200"/>
            <a:ext cx="71120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25%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820900" y="4127500"/>
            <a:ext cx="71120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20%</a:t>
            </a: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4147800" y="4826000"/>
            <a:ext cx="647700" cy="647700"/>
          </a:xfrm>
          <a:prstGeom prst="rect">
            <a:avLst/>
          </a:prstGeom>
        </p:spPr>
      </p:pic>
      <p:sp>
        <p:nvSpPr>
          <p:cNvPr id="39" name="TextBox 39"/>
          <p:cNvSpPr txBox="1"/>
          <p:nvPr/>
        </p:nvSpPr>
        <p:spPr>
          <a:xfrm>
            <a:off x="14363700" y="6070600"/>
            <a:ext cx="71120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45%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754100" y="3937000"/>
            <a:ext cx="71120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1800" b="0" i="0" u="none" strike="noStrike">
                <a:solidFill>
                  <a:srgbClr val="7381BF"/>
                </a:solidFill>
                <a:latin typeface="Pretendard SemiBold"/>
                <a:ea typeface="Pretendard SemiBold"/>
                <a:cs typeface="Pretendard SemiBold"/>
              </a:rPr>
              <a:t>10%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346700" y="1739900"/>
            <a:ext cx="7594600" cy="1003300"/>
          </a:xfrm>
          <a:prstGeom prst="rect">
            <a:avLst/>
          </a:prstGeom>
        </p:spPr>
        <p:txBody>
          <a:bodyPr lIns="0" tIns="69848" rIns="0" bIns="69848" rtlCol="0" anchor="ctr"/>
          <a:lstStyle/>
          <a:p>
            <a:pPr lvl="0" algn="ctr">
              <a:lnSpc>
                <a:spcPct val="99600"/>
              </a:lnSpc>
            </a:pPr>
            <a:r>
              <a:rPr lang="en-US" sz="5499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비중 그래프 페이지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35100" y="406400"/>
            <a:ext cx="2641600" cy="1333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44018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Chapter</a:t>
            </a:r>
          </a:p>
          <a:p>
            <a:pPr lvl="0" algn="ctr">
              <a:lnSpc>
                <a:spcPct val="107899"/>
              </a:lnSpc>
            </a:pPr>
            <a:r>
              <a:rPr lang="en-US" sz="1800" b="0" i="0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25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1714500" y="3670300"/>
            <a:ext cx="901700" cy="1041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1714500" y="4546600"/>
            <a:ext cx="901700" cy="1041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1714500" y="5422900"/>
            <a:ext cx="901700" cy="1041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1714500" y="6299200"/>
            <a:ext cx="901700" cy="1041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1714500" y="7188200"/>
            <a:ext cx="901700" cy="1041400"/>
          </a:xfrm>
          <a:prstGeom prst="rect">
            <a:avLst/>
          </a:prstGeom>
        </p:spPr>
      </p:pic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2044700" y="3200400"/>
          <a:ext cx="14581853" cy="4925139"/>
        </p:xfrm>
        <a:graphic>
          <a:graphicData uri="http://schemas.openxmlformats.org/drawingml/2006/table">
            <a:tbl>
              <a:tblPr/>
              <a:tblGrid>
                <a:gridCol w="1121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16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16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16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16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16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216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2168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2168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2168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2168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12168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12168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545134"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57" b="0" i="0" u="none" strike="noStrike">
                          <a:solidFill>
                            <a:srgbClr val="FFFFF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Jan</a:t>
                      </a:r>
                      <a:endParaRPr lang="en-US" sz="1100"/>
                    </a:p>
                  </a:txBody>
                  <a:tcPr marL="19050" marR="19050" marT="50100" marB="50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74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57" b="0" i="0" u="none" strike="noStrike">
                          <a:solidFill>
                            <a:srgbClr val="FFFFF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Feb</a:t>
                      </a:r>
                      <a:endParaRPr lang="en-US" sz="1100"/>
                    </a:p>
                  </a:txBody>
                  <a:tcPr marL="19050" marR="19050" marT="50100" marB="50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74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57" b="0" i="0" u="none" strike="noStrike">
                          <a:solidFill>
                            <a:srgbClr val="FFFFF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Mar</a:t>
                      </a:r>
                      <a:endParaRPr lang="en-US" sz="1100"/>
                    </a:p>
                  </a:txBody>
                  <a:tcPr marL="19050" marR="19050" marT="50100" marB="50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74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57" b="0" i="0" u="none" strike="noStrike">
                          <a:solidFill>
                            <a:srgbClr val="FFFFF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Apr</a:t>
                      </a:r>
                      <a:endParaRPr lang="en-US" sz="1100"/>
                    </a:p>
                  </a:txBody>
                  <a:tcPr marL="19050" marR="19050" marT="50100" marB="50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74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57" b="0" i="0" u="none" strike="noStrike">
                          <a:solidFill>
                            <a:srgbClr val="FFFFF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May</a:t>
                      </a:r>
                      <a:endParaRPr lang="en-US" sz="1100"/>
                    </a:p>
                  </a:txBody>
                  <a:tcPr marL="19050" marR="19050" marT="50100" marB="50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74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57" b="0" i="0" u="none" strike="noStrike">
                          <a:solidFill>
                            <a:srgbClr val="FFFFF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Jun</a:t>
                      </a:r>
                      <a:endParaRPr lang="en-US" sz="1100"/>
                    </a:p>
                  </a:txBody>
                  <a:tcPr marL="19050" marR="19050" marT="50100" marB="50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74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57" b="0" i="0" u="none" strike="noStrike">
                          <a:solidFill>
                            <a:srgbClr val="FFFFF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Jul</a:t>
                      </a:r>
                      <a:endParaRPr lang="en-US" sz="1100"/>
                    </a:p>
                  </a:txBody>
                  <a:tcPr marL="19050" marR="19050" marT="50100" marB="50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74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57" b="0" i="0" u="none" strike="noStrike">
                          <a:solidFill>
                            <a:srgbClr val="FFFFF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Aug</a:t>
                      </a:r>
                      <a:endParaRPr lang="en-US" sz="1100"/>
                    </a:p>
                  </a:txBody>
                  <a:tcPr marL="19050" marR="19050" marT="50100" marB="50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74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57" b="0" i="0" u="none" strike="noStrike">
                          <a:solidFill>
                            <a:srgbClr val="FFFFF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Sep</a:t>
                      </a:r>
                      <a:endParaRPr lang="en-US" sz="1100"/>
                    </a:p>
                  </a:txBody>
                  <a:tcPr marL="19050" marR="19050" marT="50100" marB="50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74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57" b="0" i="0" u="none" strike="noStrike">
                          <a:solidFill>
                            <a:srgbClr val="FFFFF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Oct</a:t>
                      </a:r>
                      <a:endParaRPr lang="en-US" sz="1100"/>
                    </a:p>
                  </a:txBody>
                  <a:tcPr marL="19050" marR="19050" marT="50100" marB="50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74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57" b="0" i="0" u="none" strike="noStrike">
                          <a:solidFill>
                            <a:srgbClr val="FFFFF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Nov</a:t>
                      </a:r>
                      <a:endParaRPr lang="en-US" sz="1100"/>
                    </a:p>
                  </a:txBody>
                  <a:tcPr marL="19050" marR="19050" marT="50100" marB="50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74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57" b="0" i="0" u="none" strike="noStrike">
                          <a:solidFill>
                            <a:srgbClr val="FFFFF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Dec</a:t>
                      </a:r>
                      <a:endParaRPr lang="en-US" sz="1100"/>
                    </a:p>
                  </a:txBody>
                  <a:tcPr marL="19050" marR="19050" marT="50100" marB="50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7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6001">
                <a:tc>
                  <a:txBody>
                    <a:bodyPr/>
                    <a:lstStyle/>
                    <a:p>
                      <a:pPr lvl="0" algn="ctr">
                        <a:lnSpc>
                          <a:spcPct val="107899"/>
                        </a:lnSpc>
                        <a:defRPr/>
                      </a:pPr>
                      <a:r>
                        <a:rPr lang="en-US" sz="1599" b="0" i="0" u="none" strike="noStrike">
                          <a:solidFill>
                            <a:srgbClr val="2C2C2C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시장 조사</a:t>
                      </a:r>
                      <a:endParaRPr lang="en-US" sz="1100"/>
                    </a:p>
                  </a:txBody>
                  <a:tcPr marL="19050" marR="19050" marT="29209" marB="29209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6001">
                <a:tc>
                  <a:txBody>
                    <a:bodyPr/>
                    <a:lstStyle/>
                    <a:p>
                      <a:pPr lvl="0" algn="ctr">
                        <a:lnSpc>
                          <a:spcPct val="107899"/>
                        </a:lnSpc>
                        <a:defRPr/>
                      </a:pPr>
                      <a:r>
                        <a:rPr lang="en-US" sz="1599" b="0" i="0" u="none" strike="noStrike">
                          <a:solidFill>
                            <a:srgbClr val="2C2C2C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사업 기획</a:t>
                      </a:r>
                      <a:endParaRPr lang="en-US" sz="1100"/>
                    </a:p>
                  </a:txBody>
                  <a:tcPr marL="19050" marR="19050" marT="29209" marB="29209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6001">
                <a:tc>
                  <a:txBody>
                    <a:bodyPr/>
                    <a:lstStyle/>
                    <a:p>
                      <a:pPr lvl="0" algn="ctr">
                        <a:lnSpc>
                          <a:spcPct val="107899"/>
                        </a:lnSpc>
                        <a:defRPr/>
                      </a:pPr>
                      <a:r>
                        <a:rPr lang="en-US" sz="1599" b="0" i="0" u="none" strike="noStrike">
                          <a:solidFill>
                            <a:srgbClr val="2C2C2C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 디자인</a:t>
                      </a:r>
                      <a:endParaRPr lang="en-US" sz="1100"/>
                    </a:p>
                    <a:p>
                      <a:pPr lvl="0" algn="ctr">
                        <a:lnSpc>
                          <a:spcPct val="107899"/>
                        </a:lnSpc>
                      </a:pPr>
                      <a:r>
                        <a:rPr lang="en-US" sz="1599" b="0" i="0" u="none" strike="noStrike">
                          <a:solidFill>
                            <a:srgbClr val="2C2C2C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설계</a:t>
                      </a:r>
                    </a:p>
                  </a:txBody>
                  <a:tcPr marL="19050" marR="19050" marT="29209" marB="29209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6001">
                <a:tc>
                  <a:txBody>
                    <a:bodyPr/>
                    <a:lstStyle/>
                    <a:p>
                      <a:pPr lvl="0" algn="ctr">
                        <a:lnSpc>
                          <a:spcPct val="107899"/>
                        </a:lnSpc>
                        <a:defRPr/>
                      </a:pPr>
                      <a:r>
                        <a:rPr lang="en-US" sz="1599" b="0" i="0" u="none" strike="noStrike">
                          <a:solidFill>
                            <a:srgbClr val="2C2C2C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마케팅</a:t>
                      </a:r>
                      <a:endParaRPr lang="en-US" sz="1100"/>
                    </a:p>
                    <a:p>
                      <a:pPr lvl="0" algn="ctr">
                        <a:lnSpc>
                          <a:spcPct val="107899"/>
                        </a:lnSpc>
                      </a:pPr>
                      <a:r>
                        <a:rPr lang="en-US" sz="1599" b="0" i="0" u="none" strike="noStrike">
                          <a:solidFill>
                            <a:srgbClr val="2C2C2C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홍보</a:t>
                      </a:r>
                    </a:p>
                  </a:txBody>
                  <a:tcPr marL="19050" marR="19050" marT="29209" marB="29209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6001">
                <a:tc>
                  <a:txBody>
                    <a:bodyPr/>
                    <a:lstStyle/>
                    <a:p>
                      <a:pPr lvl="0" algn="ctr">
                        <a:lnSpc>
                          <a:spcPct val="107899"/>
                        </a:lnSpc>
                        <a:defRPr/>
                      </a:pPr>
                      <a:r>
                        <a:rPr lang="en-US" sz="1599" b="0" i="0" u="none" strike="noStrike">
                          <a:solidFill>
                            <a:srgbClr val="2C2C2C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운영</a:t>
                      </a:r>
                      <a:endParaRPr lang="en-US" sz="1100"/>
                    </a:p>
                    <a:p>
                      <a:pPr lvl="0" algn="ctr">
                        <a:lnSpc>
                          <a:spcPct val="107899"/>
                        </a:lnSpc>
                      </a:pPr>
                      <a:r>
                        <a:rPr lang="en-US" sz="1599" b="0" i="0" u="none" strike="noStrike">
                          <a:solidFill>
                            <a:srgbClr val="2C2C2C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유지보수</a:t>
                      </a:r>
                    </a:p>
                  </a:txBody>
                  <a:tcPr marL="19050" marR="19050" marT="29209" marB="29209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13100" y="3962400"/>
            <a:ext cx="3314700" cy="444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43400" y="4838700"/>
            <a:ext cx="3340100" cy="444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02400" y="5727700"/>
            <a:ext cx="4521200" cy="444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58100" y="6604000"/>
            <a:ext cx="5613400" cy="444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246100" y="7480300"/>
            <a:ext cx="3340100" cy="444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38300" y="8445500"/>
            <a:ext cx="14998700" cy="977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108200" y="8724900"/>
            <a:ext cx="1308100" cy="4191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3670300" y="8750300"/>
            <a:ext cx="124079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프로젝트는 월 단위, 단기는 주 단위로 쪼개어 관리하면 효율적인 일정 관리가 가능합니다. 막대 길이로 흐름을 파악하세요.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73300" y="8788400"/>
            <a:ext cx="9525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Insight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94100" y="4038600"/>
            <a:ext cx="2616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9400"/>
              </a:lnSpc>
            </a:pPr>
            <a:r>
              <a:rPr lang="en-US" sz="1599" b="0" i="0" u="none" strike="noStrike">
                <a:solidFill>
                  <a:srgbClr val="2C2C2C"/>
                </a:solidFill>
                <a:latin typeface="Pretendard Regular"/>
                <a:ea typeface="Pretendard Regular"/>
                <a:cs typeface="Pretendard Regular"/>
              </a:rPr>
              <a:t>주요 업무리스트를 작성하세요.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99000" y="4914900"/>
            <a:ext cx="2616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9400"/>
              </a:lnSpc>
            </a:pPr>
            <a:r>
              <a:rPr lang="en-US" sz="1599" b="0" i="0" u="none" strike="noStrike">
                <a:solidFill>
                  <a:srgbClr val="2C2C2C"/>
                </a:solidFill>
                <a:latin typeface="Pretendard Regular"/>
                <a:ea typeface="Pretendard Regular"/>
                <a:cs typeface="Pretendard Regular"/>
              </a:rPr>
              <a:t>주요 업무리스트를 작성하세요.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05700" y="5791200"/>
            <a:ext cx="2616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9400"/>
              </a:lnSpc>
            </a:pPr>
            <a:r>
              <a:rPr lang="en-US" sz="1599" b="0" i="0" u="none" strike="noStrike">
                <a:solidFill>
                  <a:srgbClr val="2C2C2C"/>
                </a:solidFill>
                <a:latin typeface="Pretendard Regular"/>
                <a:ea typeface="Pretendard Regular"/>
                <a:cs typeface="Pretendard Regular"/>
              </a:rPr>
              <a:t>주요 업무리스트를 작성하세요.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156700" y="6667500"/>
            <a:ext cx="2616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9400"/>
              </a:lnSpc>
            </a:pPr>
            <a:r>
              <a:rPr lang="en-US" sz="1599" b="0" i="0" u="none" strike="noStrike">
                <a:solidFill>
                  <a:srgbClr val="2C2C2C"/>
                </a:solidFill>
                <a:latin typeface="Pretendard Regular"/>
                <a:ea typeface="Pretendard Regular"/>
                <a:cs typeface="Pretendard Regular"/>
              </a:rPr>
              <a:t>주요 업무리스트를 작성하세요.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65200" y="7543800"/>
            <a:ext cx="2616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9400"/>
              </a:lnSpc>
            </a:pPr>
            <a:r>
              <a:rPr lang="en-US" sz="1599" b="0" i="0" u="none" strike="noStrike">
                <a:solidFill>
                  <a:srgbClr val="2C2C2C"/>
                </a:solidFill>
                <a:latin typeface="Pretendard Regular"/>
                <a:ea typeface="Pretendard Regular"/>
                <a:cs typeface="Pretendard Regular"/>
              </a:rPr>
              <a:t>주요 업무리스트를 작성하세요.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210300" y="1739900"/>
            <a:ext cx="5854700" cy="1003300"/>
          </a:xfrm>
          <a:prstGeom prst="rect">
            <a:avLst/>
          </a:prstGeom>
        </p:spPr>
        <p:txBody>
          <a:bodyPr lIns="0" tIns="69848" rIns="0" bIns="69848" rtlCol="0" anchor="ctr"/>
          <a:lstStyle/>
          <a:p>
            <a:pPr lvl="0" algn="ctr">
              <a:lnSpc>
                <a:spcPct val="99600"/>
              </a:lnSpc>
            </a:pPr>
            <a:r>
              <a:rPr lang="en-US" sz="5499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Pretendard SemiBold"/>
              </a:rPr>
              <a:t>단계별 추진 일정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5130800"/>
            <a:ext cx="18326100" cy="520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68800" cy="9169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31900" y="406400"/>
            <a:ext cx="2844800" cy="1524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4312900" y="787400"/>
            <a:ext cx="2095500" cy="673100"/>
          </a:xfrm>
          <a:prstGeom prst="rect">
            <a:avLst/>
          </a:prstGeom>
        </p:spPr>
        <p:txBody>
          <a:bodyPr lIns="0" tIns="12065" rIns="0" bIns="12065" rtlCol="0" anchor="ctr"/>
          <a:lstStyle/>
          <a:p>
            <a:pPr lvl="0" algn="ctr">
              <a:lnSpc>
                <a:spcPct val="107899"/>
              </a:lnSpc>
            </a:pPr>
            <a:r>
              <a:rPr lang="en-US" sz="1899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BUSINESS</a:t>
            </a:r>
          </a:p>
          <a:p>
            <a:pPr lvl="0" algn="ctr">
              <a:lnSpc>
                <a:spcPct val="107899"/>
              </a:lnSpc>
            </a:pPr>
            <a:r>
              <a:rPr lang="en-US" sz="1899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PLAN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989300" y="9474200"/>
            <a:ext cx="1714500" cy="292100"/>
          </a:xfrm>
          <a:prstGeom prst="rect">
            <a:avLst/>
          </a:prstGeom>
        </p:spPr>
        <p:txBody>
          <a:bodyPr lIns="0" tIns="9525" rIns="0" bIns="9525" rtlCol="0" anchor="ctr"/>
          <a:lstStyle/>
          <a:p>
            <a:pPr lvl="0" algn="r">
              <a:lnSpc>
                <a:spcPct val="107899"/>
              </a:lnSpc>
            </a:pPr>
            <a:r>
              <a:rPr lang="en-US" sz="1499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MIRI COMPANY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764000" y="8826500"/>
            <a:ext cx="469900" cy="431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07400" y="7200900"/>
            <a:ext cx="1689100" cy="4953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8585200" y="7289800"/>
            <a:ext cx="1320800" cy="304800"/>
          </a:xfrm>
          <a:prstGeom prst="rect">
            <a:avLst/>
          </a:prstGeom>
        </p:spPr>
        <p:txBody>
          <a:bodyPr lIns="0" tIns="20372" rIns="0" bIns="20372" rtlCol="0" anchor="ctr"/>
          <a:lstStyle/>
          <a:p>
            <a:pPr lvl="0" algn="ctr">
              <a:lnSpc>
                <a:spcPct val="99600"/>
              </a:lnSpc>
            </a:pPr>
            <a:r>
              <a:rPr lang="en-US" sz="1604" b="0" i="0" u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</a:rPr>
              <a:t>Manager.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63200" y="7264400"/>
            <a:ext cx="2146300" cy="3683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l">
              <a:lnSpc>
                <a:spcPct val="99600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oppins Regular"/>
                <a:ea typeface="Poppins Regular"/>
                <a:cs typeface="Poppins Regular"/>
              </a:rPr>
              <a:t>Kim Miri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7400" y="7835900"/>
            <a:ext cx="1689100" cy="4953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8585200" y="7937500"/>
            <a:ext cx="1320800" cy="304800"/>
          </a:xfrm>
          <a:prstGeom prst="rect">
            <a:avLst/>
          </a:prstGeom>
        </p:spPr>
        <p:txBody>
          <a:bodyPr lIns="0" tIns="20372" rIns="0" bIns="20372" rtlCol="0" anchor="ctr"/>
          <a:lstStyle/>
          <a:p>
            <a:pPr lvl="0" algn="ctr">
              <a:lnSpc>
                <a:spcPct val="99600"/>
              </a:lnSpc>
            </a:pPr>
            <a:r>
              <a:rPr lang="en-US" sz="1604" b="0" i="0" u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</a:rPr>
              <a:t>Tel.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363200" y="7899400"/>
            <a:ext cx="3479800" cy="3683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l">
              <a:lnSpc>
                <a:spcPct val="99600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oppins Regular"/>
                <a:ea typeface="Poppins Regular"/>
                <a:cs typeface="Poppins Regular"/>
              </a:rPr>
              <a:t>000.0000.0000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07400" y="8483600"/>
            <a:ext cx="1689100" cy="495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8100" y="2044700"/>
            <a:ext cx="6197600" cy="61976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8585200" y="8572500"/>
            <a:ext cx="1320800" cy="304800"/>
          </a:xfrm>
          <a:prstGeom prst="rect">
            <a:avLst/>
          </a:prstGeom>
        </p:spPr>
        <p:txBody>
          <a:bodyPr lIns="0" tIns="20372" rIns="0" bIns="20372" rtlCol="0" anchor="ctr"/>
          <a:lstStyle/>
          <a:p>
            <a:pPr lvl="0" algn="ctr">
              <a:lnSpc>
                <a:spcPct val="99600"/>
              </a:lnSpc>
            </a:pPr>
            <a:r>
              <a:rPr lang="en-US" sz="1604" b="0" i="0" u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</a:rPr>
              <a:t>E-Mail.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363200" y="8547100"/>
            <a:ext cx="3149600" cy="368300"/>
          </a:xfrm>
          <a:prstGeom prst="rect">
            <a:avLst/>
          </a:prstGeom>
        </p:spPr>
        <p:txBody>
          <a:bodyPr lIns="0" tIns="22860" rIns="0" bIns="22860" rtlCol="0" anchor="ctr"/>
          <a:lstStyle/>
          <a:p>
            <a:pPr lvl="0" algn="l">
              <a:lnSpc>
                <a:spcPct val="99600"/>
              </a:lnSpc>
            </a:pPr>
            <a:r>
              <a:rPr lang="en-US" sz="1800" b="0" i="0" u="none" strike="noStrike">
                <a:solidFill>
                  <a:srgbClr val="2C2C2C"/>
                </a:solidFill>
                <a:latin typeface="Poppins Regular"/>
                <a:ea typeface="Poppins Regular"/>
                <a:cs typeface="Poppins Regular"/>
              </a:rPr>
              <a:t>miri@miricompany.com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45500" y="5334000"/>
            <a:ext cx="66167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2000" b="0" i="0" u="none" strike="noStrike">
                <a:solidFill>
                  <a:srgbClr val="2C2C2C"/>
                </a:solidFill>
                <a:latin typeface="Pretendard Light"/>
                <a:ea typeface="Pretendard Light"/>
                <a:cs typeface="Pretendard Light"/>
              </a:rPr>
              <a:t>이상으로 설명을 마치며, 끝까지 검토해 주셔서 감사드립니다.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07400" y="3467100"/>
            <a:ext cx="7581900" cy="182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0134" b="0" i="0" u="none" strike="noStrike">
                <a:solidFill>
                  <a:srgbClr val="00074E"/>
                </a:solidFill>
                <a:latin typeface="Poppins Medium"/>
                <a:ea typeface="Poppins Medium"/>
                <a:cs typeface="Poppins Medium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70E2626-4947-4B62-AD07-F2726DC096F7}">
  <we:reference id="wa200010001" version="1.0.0.1" store="ko-KR" storeType="OMEX"/>
  <we:alternateReferences>
    <we:reference id="wa200010001" version="1.0.0.1" store="WA200010001" storeType="OMEX"/>
  </we:alternateReferences>
  <we:properties>
    <we:property name="claude.fileId" value="&quot;fe3ef49d-be3b-42e1-84b0-6c11be4e599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2700</Words>
  <Application>Microsoft Office PowerPoint</Application>
  <PresentationFormat>사용자 지정</PresentationFormat>
  <Paragraphs>683</Paragraphs>
  <Slides>51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51</vt:i4>
      </vt:variant>
    </vt:vector>
  </HeadingPairs>
  <TitlesOfParts>
    <vt:vector size="62" baseType="lpstr">
      <vt:lpstr>Pretendard SemiBold</vt:lpstr>
      <vt:lpstr>Arial</vt:lpstr>
      <vt:lpstr>Pretendard Medium</vt:lpstr>
      <vt:lpstr>Pretendard Regular</vt:lpstr>
      <vt:lpstr>Poppins Medium</vt:lpstr>
      <vt:lpstr>Pretendard Light</vt:lpstr>
      <vt:lpstr>Poppins Regular</vt:lpstr>
      <vt:lpstr>Poppins SemiBold</vt:lpstr>
      <vt:lpstr>Poppins Light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LG</cp:lastModifiedBy>
  <cp:revision>24</cp:revision>
  <dcterms:created xsi:type="dcterms:W3CDTF">2006-08-16T00:00:00Z</dcterms:created>
  <dcterms:modified xsi:type="dcterms:W3CDTF">2026-10-10T06:42:18Z</dcterms:modified>
</cp:coreProperties>
</file>